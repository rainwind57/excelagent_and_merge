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8412480" cy="6858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3400" b="1">
                <a:solidFill>
                  <a:srgbClr val="1A1A1B"/>
                </a:solidFill>
                <a:latin typeface="Microsoft YaHei"/>
              </a:rPr>
              <a:t>AI 配表助手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029968"/>
            <a:ext cx="877824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0">
                <a:solidFill>
                  <a:srgbClr val="404040"/>
                </a:solidFill>
                <a:latin typeface="Microsoft YaHei"/>
              </a:rPr>
              <a:t>自然语言驱动配表 + SVN 目录分支三方合并 Merge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971800"/>
            <a:ext cx="3578352" cy="914400"/>
          </a:xfrm>
          <a:prstGeom prst="roundRect">
            <a:avLst/>
          </a:prstGeom>
          <a:solidFill>
            <a:srgbClr val="F5F6F8"/>
          </a:solidFill>
          <a:ln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3072384"/>
            <a:ext cx="3358896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747474"/>
                </a:solidFill>
                <a:latin typeface="Microsoft YaHei"/>
              </a:rPr>
              <a:t>Agent LLM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3291840"/>
            <a:ext cx="3358896" cy="3017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C00000"/>
                </a:solidFill>
                <a:latin typeface="Microsoft YaHei"/>
              </a:rPr>
              <a:t>23+→3-5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3648456"/>
            <a:ext cx="3358896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700" b="0">
                <a:solidFill>
                  <a:srgbClr val="404040"/>
                </a:solidFill>
                <a:latin typeface="Microsoft YaHei"/>
              </a:rPr>
              <a:t>-80%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9872" y="2971800"/>
            <a:ext cx="3578352" cy="914400"/>
          </a:xfrm>
          <a:prstGeom prst="roundRect">
            <a:avLst/>
          </a:prstGeom>
          <a:solidFill>
            <a:srgbClr val="F5F6F8"/>
          </a:solidFill>
          <a:ln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19600" y="3072384"/>
            <a:ext cx="3358896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747474"/>
                </a:solidFill>
                <a:latin typeface="Microsoft YaHei"/>
              </a:rPr>
              <a:t>Merge compare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9600" y="3291840"/>
            <a:ext cx="3358896" cy="3017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2D61A0"/>
                </a:solidFill>
                <a:latin typeface="Microsoft YaHei"/>
              </a:rPr>
              <a:t>48s→6.4s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9600" y="3648456"/>
            <a:ext cx="3358896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700" b="0">
                <a:solidFill>
                  <a:srgbClr val="404040"/>
                </a:solidFill>
                <a:latin typeface="Microsoft YaHei"/>
              </a:rPr>
              <a:t>7.5x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2816" y="2971800"/>
            <a:ext cx="3578352" cy="914400"/>
          </a:xfrm>
          <a:prstGeom prst="roundRect">
            <a:avLst/>
          </a:prstGeom>
          <a:solidFill>
            <a:srgbClr val="F5F6F8"/>
          </a:solidFill>
          <a:ln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2544" y="3072384"/>
            <a:ext cx="3358896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747474"/>
                </a:solidFill>
                <a:latin typeface="Microsoft YaHei"/>
              </a:rPr>
              <a:t>apply payload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2544" y="3291840"/>
            <a:ext cx="3358896" cy="3017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14845A"/>
                </a:solidFill>
                <a:latin typeface="Microsoft YaHei"/>
              </a:rPr>
              <a:t>46.4MB→0.1MB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62544" y="3648456"/>
            <a:ext cx="3358896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700" b="0">
                <a:solidFill>
                  <a:srgbClr val="404040"/>
                </a:solidFill>
                <a:latin typeface="Microsoft YaHei"/>
              </a:rPr>
              <a:t>-99.8%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5440680"/>
            <a:ext cx="5486400" cy="32918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Microsoft YaHei"/>
              </a:rPr>
              <a:t>转正实习答辩 | 面向技术、HR、策划混合评审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5806440"/>
            <a:ext cx="301752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47474"/>
                </a:solidFill>
                <a:latin typeface="Microsoft YaHei"/>
              </a:rPr>
              <a:t>吴植贤 | 2026年9月4日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3657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C00000"/>
                </a:solidFill>
                <a:latin typeface="Microsoft YaHei"/>
              </a:rPr>
              <a:t>00 总览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A1A1B"/>
                </a:solidFill>
                <a:latin typeface="Microsoft YaHei"/>
              </a:rPr>
              <a:t>45 分钟答辩结构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14984"/>
            <a:ext cx="658368" cy="411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02412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47474"/>
                </a:solidFill>
                <a:latin typeface="Microsoft YaHei"/>
              </a:rPr>
              <a:t>主线：业务问题 → 双引擎架构 → 关键技术 → 性能数据 → 可靠性与成长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8229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700" b="0">
                <a:solidFill>
                  <a:srgbClr val="747474"/>
                </a:solidFill>
                <a:latin typeface="Microsoft YaHei"/>
              </a:rPr>
              <a:t>ExcelAgent_And_Merge 转正答辩 | 吴植贤 | 2026.09.04 | 内部资料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364224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C00000"/>
                </a:solidFill>
                <a:latin typeface="Microsoft YaHei"/>
              </a:rPr>
              <a:t>02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49808" y="1600200"/>
          <a:ext cx="1069848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7592"/>
                <a:gridCol w="2139696"/>
                <a:gridCol w="5349240"/>
                <a:gridCol w="1901952"/>
              </a:tblGrid>
              <a:tr h="5410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时间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章节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重点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主要受众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0-5min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业务背景与目标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为什么 Excel 配表不是简单 CRUD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HR / 策划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5-24min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Excel-Agent 4-Step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Parse/Validate/Execute/Conclude 技术闭环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技术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24-38min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Merge 三方合并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SVN LCA、稀疏 diff、fast_apply、AI 建议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技术 / 策划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38-43min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成果与可靠性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性能提升、回归、创新点、边界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全场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43-45min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个人贡献与 Q&amp;A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实习转正价值与后续规划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全场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9808" y="5120640"/>
            <a:ext cx="106984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5120640"/>
            <a:ext cx="73152" cy="8229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230368"/>
            <a:ext cx="10442448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A1A1B"/>
                </a:solidFill>
                <a:latin typeface="Microsoft YaHei"/>
              </a:rPr>
              <a:t>答辩定位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5559552"/>
            <a:ext cx="10442448" cy="31089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00" b="0">
                <a:solidFill>
                  <a:srgbClr val="404040"/>
                </a:solidFill>
                <a:latin typeface="Microsoft YaHei"/>
              </a:defRPr>
            </a:pPr>
            <a:r>
              <a:t>不是展示一个 demo，而是证明：我把自然语言理解、确定性校验、Excel 写盘、多人合并和工程回归串成了可落地闭环。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3657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C00000"/>
                </a:solidFill>
                <a:latin typeface="Microsoft YaHei"/>
              </a:rPr>
              <a:t>00 总览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A1A1B"/>
                </a:solidFill>
                <a:latin typeface="Microsoft YaHei"/>
              </a:rPr>
              <a:t>一页讲清：双引擎配表工程系统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14984"/>
            <a:ext cx="658368" cy="411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02412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47474"/>
                </a:solidFill>
                <a:latin typeface="Microsoft YaHei"/>
              </a:rPr>
              <a:t>Excel-Agent 负责“改表”，Merge 负责“合表”，二者共享同一套工程哲学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8229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700" b="0">
                <a:solidFill>
                  <a:srgbClr val="747474"/>
                </a:solidFill>
                <a:latin typeface="Microsoft YaHei"/>
              </a:rPr>
              <a:t>ExcelAgent_And_Merge 转正答辩 | 吴植贤 | 2026.09.04 | 内部资料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364224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C00000"/>
                </a:solidFill>
                <a:latin typeface="Microsoft YaHei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2011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自然语言需求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1600200"/>
            <a:ext cx="2011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4-Step Agent</a:t>
            </a:r>
          </a:p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结构化改表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34056" y="1929384"/>
            <a:ext cx="100584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074920" y="1600200"/>
            <a:ext cx="2011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Excel 资源变更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928616" y="1929384"/>
            <a:ext cx="100584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269480" y="1600200"/>
            <a:ext cx="2011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Merge 三方合并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123176" y="1929384"/>
            <a:ext cx="100584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464040" y="1600200"/>
            <a:ext cx="2011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安全回主干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317736" y="1929384"/>
            <a:ext cx="100584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66928" y="2743200"/>
            <a:ext cx="2642615" cy="914400"/>
          </a:xfrm>
          <a:prstGeom prst="roundRect">
            <a:avLst/>
          </a:prstGeom>
          <a:solidFill>
            <a:srgbClr val="F5F6F8"/>
          </a:solidFill>
          <a:ln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" y="2843784"/>
            <a:ext cx="2423159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747474"/>
                </a:solidFill>
                <a:latin typeface="Microsoft YaHei"/>
              </a:rPr>
              <a:t>Agent 调用成本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" y="3063240"/>
            <a:ext cx="2423159" cy="3017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C00000"/>
                </a:solidFill>
                <a:latin typeface="Microsoft YaHei"/>
              </a:rPr>
              <a:t>23+→3-5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" y="3419856"/>
            <a:ext cx="2423159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700" b="0">
                <a:solidFill>
                  <a:srgbClr val="404040"/>
                </a:solidFill>
                <a:latin typeface="Microsoft YaHei"/>
              </a:rPr>
              <a:t>LLM -80%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74136" y="2743200"/>
            <a:ext cx="2642615" cy="914400"/>
          </a:xfrm>
          <a:prstGeom prst="roundRect">
            <a:avLst/>
          </a:prstGeom>
          <a:solidFill>
            <a:srgbClr val="F5F6F8"/>
          </a:solidFill>
          <a:ln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83864" y="2843784"/>
            <a:ext cx="2423159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747474"/>
                </a:solidFill>
                <a:latin typeface="Microsoft YaHei"/>
              </a:rPr>
              <a:t>定位 10w 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83864" y="3063240"/>
            <a:ext cx="2423159" cy="3017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2D61A0"/>
                </a:solidFill>
                <a:latin typeface="Microsoft YaHei"/>
              </a:rPr>
              <a:t>6.8s→0.58s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83864" y="3419856"/>
            <a:ext cx="2423159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700" b="0">
                <a:solidFill>
                  <a:srgbClr val="404040"/>
                </a:solidFill>
                <a:latin typeface="Microsoft YaHei"/>
              </a:rPr>
              <a:t>11.7x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1344" y="2743200"/>
            <a:ext cx="2642615" cy="914400"/>
          </a:xfrm>
          <a:prstGeom prst="roundRect">
            <a:avLst/>
          </a:prstGeom>
          <a:solidFill>
            <a:srgbClr val="F5F6F8"/>
          </a:solidFill>
          <a:ln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91072" y="2843784"/>
            <a:ext cx="2423159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747474"/>
                </a:solidFill>
                <a:latin typeface="Microsoft YaHei"/>
              </a:rPr>
              <a:t>复杂样例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91072" y="3063240"/>
            <a:ext cx="2423159" cy="3017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14845A"/>
                </a:solidFill>
                <a:latin typeface="Microsoft YaHei"/>
              </a:rPr>
              <a:t>6/6 通过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91072" y="3419856"/>
            <a:ext cx="2423159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700" b="0">
                <a:solidFill>
                  <a:srgbClr val="404040"/>
                </a:solidFill>
                <a:latin typeface="Microsoft YaHei"/>
              </a:rPr>
              <a:t>parallel=1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88552" y="2743200"/>
            <a:ext cx="2642615" cy="914400"/>
          </a:xfrm>
          <a:prstGeom prst="roundRect">
            <a:avLst/>
          </a:prstGeom>
          <a:solidFill>
            <a:srgbClr val="F5F6F8"/>
          </a:solidFill>
          <a:ln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98280" y="2843784"/>
            <a:ext cx="2423159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747474"/>
                </a:solidFill>
                <a:latin typeface="Microsoft YaHei"/>
              </a:rPr>
              <a:t>Merge 大表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3063240"/>
            <a:ext cx="2423159" cy="3017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CC7023"/>
                </a:solidFill>
                <a:latin typeface="Microsoft YaHei"/>
              </a:rPr>
              <a:t>48s→6.4s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80" y="3419856"/>
            <a:ext cx="2423159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700" b="0">
                <a:solidFill>
                  <a:srgbClr val="404040"/>
                </a:solidFill>
                <a:latin typeface="Microsoft YaHei"/>
              </a:rPr>
              <a:t>7.5x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9808" y="3977639"/>
            <a:ext cx="33832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49808" y="3977639"/>
            <a:ext cx="73152" cy="1005840"/>
          </a:xfrm>
          <a:prstGeom prst="rect">
            <a:avLst/>
          </a:prstGeom>
          <a:solidFill>
            <a:srgbClr val="2D6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087368"/>
            <a:ext cx="3127248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A1A1B"/>
                </a:solidFill>
                <a:latin typeface="Microsoft YaHei"/>
              </a:rPr>
              <a:t>给技术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" y="4416552"/>
            <a:ext cx="3127248" cy="49377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00" b="0">
                <a:solidFill>
                  <a:srgbClr val="404040"/>
                </a:solidFill>
                <a:latin typeface="Microsoft YaHei"/>
              </a:defRPr>
            </a:pPr>
            <a:r>
              <a:t>模型只做语义理解；规则、拓扑、事务、回滚承接确定性。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434840" y="3977639"/>
            <a:ext cx="33832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434840" y="3977639"/>
            <a:ext cx="73152" cy="1005840"/>
          </a:xfrm>
          <a:prstGeom prst="rect">
            <a:avLst/>
          </a:prstGeom>
          <a:solidFill>
            <a:srgbClr val="148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99431" y="4087368"/>
            <a:ext cx="3127248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A1A1B"/>
                </a:solidFill>
                <a:latin typeface="Microsoft YaHei"/>
              </a:rPr>
              <a:t>给策划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81144" y="4416552"/>
            <a:ext cx="3127248" cy="49377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00" b="0">
                <a:solidFill>
                  <a:srgbClr val="404040"/>
                </a:solidFill>
                <a:latin typeface="Microsoft YaHei"/>
              </a:defRPr>
            </a:pPr>
            <a:r>
              <a:t>能用自然语言表达改表需求；冲突由系统定位，AI 给建议，人做最终确认。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19872" y="3977639"/>
            <a:ext cx="33832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119872" y="3977639"/>
            <a:ext cx="73152" cy="10058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84464" y="4087368"/>
            <a:ext cx="3127248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A1A1B"/>
                </a:solidFill>
                <a:latin typeface="Microsoft YaHei"/>
              </a:rPr>
              <a:t>给 HR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66176" y="4416552"/>
            <a:ext cx="3127248" cy="49377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00" b="0">
                <a:solidFill>
                  <a:srgbClr val="404040"/>
                </a:solidFill>
                <a:latin typeface="Microsoft YaHei"/>
              </a:defRPr>
            </a:pPr>
            <a:r>
              <a:t>从单点功能走向可维护系统：性能、可靠性、可观测、边界都能交代。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3657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C00000"/>
                </a:solidFill>
                <a:latin typeface="Microsoft YaHei"/>
              </a:rPr>
              <a:t>01 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A1A1B"/>
                </a:solidFill>
                <a:latin typeface="Microsoft YaHei"/>
              </a:rPr>
              <a:t>业务背景：真实配表的复杂性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14984"/>
            <a:ext cx="658368" cy="411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02412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47474"/>
                </a:solidFill>
                <a:latin typeface="Microsoft YaHei"/>
              </a:rPr>
              <a:t>痛点不是写单元格，而是理解表结构、依赖、版本和风险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8229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700" b="0">
                <a:solidFill>
                  <a:srgbClr val="747474"/>
                </a:solidFill>
                <a:latin typeface="Microsoft YaHei"/>
              </a:rPr>
              <a:t>ExcelAgent_And_Merge 转正答辩 | 吴植贤 | 2026.09.04 | 内部资料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364224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C00000"/>
                </a:solidFill>
                <a:latin typeface="Microsoft YaHei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3337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508760"/>
            <a:ext cx="73152" cy="12344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1618488"/>
            <a:ext cx="3081528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A1A1B"/>
                </a:solidFill>
                <a:latin typeface="Microsoft YaHei"/>
              </a:rPr>
              <a:t>规模复杂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" y="1947672"/>
            <a:ext cx="3081528" cy="72237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00" b="0">
                <a:solidFill>
                  <a:srgbClr val="404040"/>
                </a:solidFill>
                <a:latin typeface="Microsoft YaHei"/>
              </a:defRPr>
            </a:pPr>
            <a:r>
              <a:t>表多、字段多、跨表引用密集；活动、奖励、技能、NPC、刷新点常跨多表。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08760"/>
            <a:ext cx="3337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508760"/>
            <a:ext cx="73152" cy="1234440"/>
          </a:xfrm>
          <a:prstGeom prst="rect">
            <a:avLst/>
          </a:prstGeom>
          <a:solidFill>
            <a:srgbClr val="2D6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618488"/>
            <a:ext cx="3081528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A1A1B"/>
                </a:solidFill>
                <a:latin typeface="Microsoft YaHei"/>
              </a:rPr>
              <a:t>表达复杂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1947672"/>
            <a:ext cx="3081528" cy="72237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00" b="0">
                <a:solidFill>
                  <a:srgbClr val="404040"/>
                </a:solidFill>
                <a:latin typeface="Microsoft YaHei"/>
              </a:defRPr>
            </a:pPr>
            <a:r>
              <a:t>策划用自然语言描述目标，不会精确写表名、列名、枚举值和外键链。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508760"/>
            <a:ext cx="3337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508760"/>
            <a:ext cx="73152" cy="1234440"/>
          </a:xfrm>
          <a:prstGeom prst="rect">
            <a:avLst/>
          </a:prstGeom>
          <a:solidFill>
            <a:srgbClr val="CC7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1" y="1618488"/>
            <a:ext cx="3081528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A1A1B"/>
                </a:solidFill>
                <a:latin typeface="Microsoft YaHei"/>
              </a:rPr>
              <a:t>协作复杂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1947672"/>
            <a:ext cx="3081528" cy="72237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00" b="0">
                <a:solidFill>
                  <a:srgbClr val="404040"/>
                </a:solidFill>
                <a:latin typeface="Microsoft YaHei"/>
              </a:defRPr>
            </a:pPr>
            <a:r>
              <a:t>SVN 目录分支和外链并存；多人并行改 Excel，人工合并容易漏行、丢公式。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777240" y="3246120"/>
          <a:ext cx="10561318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8766"/>
                <a:gridCol w="3272521"/>
                <a:gridCol w="4760031"/>
              </a:tblGrid>
              <a:tr h="466344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典型风险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后果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系统解法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幻觉表/幻觉列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写错位置或 column_not_found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schema 注入 + L0 校验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跨表依赖乱序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引用未生成 ID 的孤儿行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produces/consumes + 拓扑排序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多人新增 ID 冲突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外键断链或覆盖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ID 重映射 + 引用同步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公式缓存丢失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数值看似正确但公式坏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zip 快扫 + LibreOffice 重算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3657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C00000"/>
                </a:solidFill>
                <a:latin typeface="Microsoft YaHei"/>
              </a:rPr>
              <a:t>01 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A1A1B"/>
                </a:solidFill>
                <a:latin typeface="Microsoft YaHei"/>
              </a:rPr>
              <a:t>任务目标：把 AI 能力工程化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14984"/>
            <a:ext cx="658368" cy="411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02412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47474"/>
                </a:solidFill>
                <a:latin typeface="Microsoft YaHei"/>
              </a:rPr>
              <a:t>模型负责理解，规则负责约束，代码负责确定性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8229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700" b="0">
                <a:solidFill>
                  <a:srgbClr val="747474"/>
                </a:solidFill>
                <a:latin typeface="Microsoft YaHei"/>
              </a:rPr>
              <a:t>ExcelAgent_And_Merge 转正答辩 | 吴植贤 | 2026.09.04 | 内部资料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364224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C00000"/>
                </a:solidFill>
                <a:latin typeface="Microsoft YaHei"/>
              </a:rPr>
              <a:t>05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1600200"/>
          <a:ext cx="10561318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0192"/>
                <a:gridCol w="2860357"/>
                <a:gridCol w="3410426"/>
                <a:gridCol w="2750343"/>
              </a:tblGrid>
              <a:tr h="53721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模块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目标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关键约束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产出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Excel-Agent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自然语言 → 多表配表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可校验、可执行、可追踪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结构化 intents + 执行结果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Merge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目录分支 Excel 三方合并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可信 base、公式保护、冲突可解释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diff / resolve / apply 闭环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共同工程目标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可落地、可回归、可观测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失败可恢复、边界说清楚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答辩可展示数据和证据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66928" y="4251960"/>
            <a:ext cx="3578352" cy="914400"/>
          </a:xfrm>
          <a:prstGeom prst="roundRect">
            <a:avLst/>
          </a:prstGeom>
          <a:solidFill>
            <a:srgbClr val="F5F6F8"/>
          </a:solidFill>
          <a:ln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4352544"/>
            <a:ext cx="3358896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747474"/>
                </a:solidFill>
                <a:latin typeface="Microsoft YaHei"/>
              </a:rPr>
              <a:t>质量门禁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4572000"/>
            <a:ext cx="3358896" cy="3017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C00000"/>
                </a:solidFill>
                <a:latin typeface="Microsoft YaHei"/>
              </a:rPr>
              <a:t>写前校验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4928616"/>
            <a:ext cx="3358896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700" b="0">
                <a:solidFill>
                  <a:srgbClr val="404040"/>
                </a:solidFill>
                <a:latin typeface="Microsoft YaHei"/>
              </a:rPr>
              <a:t>先拦错再动手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09872" y="4251960"/>
            <a:ext cx="3578352" cy="914400"/>
          </a:xfrm>
          <a:prstGeom prst="roundRect">
            <a:avLst/>
          </a:prstGeom>
          <a:solidFill>
            <a:srgbClr val="F5F6F8"/>
          </a:solidFill>
          <a:ln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19600" y="4352544"/>
            <a:ext cx="3358896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747474"/>
                </a:solidFill>
                <a:latin typeface="Microsoft YaHei"/>
              </a:rPr>
              <a:t>性能策略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9600" y="4572000"/>
            <a:ext cx="3358896" cy="3017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2D61A0"/>
                </a:solidFill>
                <a:latin typeface="Microsoft YaHei"/>
              </a:rPr>
              <a:t>零 LLM/缓存/向量化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9600" y="4928616"/>
            <a:ext cx="3358896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700" b="0">
                <a:solidFill>
                  <a:srgbClr val="404040"/>
                </a:solidFill>
                <a:latin typeface="Microsoft YaHei"/>
              </a:rPr>
              <a:t>能省则省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52816" y="4251960"/>
            <a:ext cx="3578352" cy="914400"/>
          </a:xfrm>
          <a:prstGeom prst="roundRect">
            <a:avLst/>
          </a:prstGeom>
          <a:solidFill>
            <a:srgbClr val="F5F6F8"/>
          </a:solidFill>
          <a:ln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62544" y="4352544"/>
            <a:ext cx="3358896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747474"/>
                </a:solidFill>
                <a:latin typeface="Microsoft YaHei"/>
              </a:rPr>
              <a:t>可靠性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2544" y="4572000"/>
            <a:ext cx="3358896" cy="3017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14845A"/>
                </a:solidFill>
                <a:latin typeface="Microsoft YaHei"/>
              </a:rPr>
              <a:t>180+ 回归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62544" y="4928616"/>
            <a:ext cx="3358896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700" b="0">
                <a:solidFill>
                  <a:srgbClr val="404040"/>
                </a:solidFill>
                <a:latin typeface="Microsoft YaHei"/>
              </a:rPr>
              <a:t>核心链路全过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3657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C00000"/>
                </a:solidFill>
                <a:latin typeface="Microsoft YaHei"/>
              </a:rPr>
              <a:t>01 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A1A1B"/>
                </a:solidFill>
                <a:latin typeface="Microsoft YaHei"/>
              </a:rPr>
              <a:t>时间线：从单 Agent 到双引擎闭环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14984"/>
            <a:ext cx="658368" cy="411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02412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47474"/>
                </a:solidFill>
                <a:latin typeface="Microsoft YaHei"/>
              </a:rPr>
              <a:t>用迭代证据说明项目不是一次性 demo，而是持续工程优化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8229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700" b="0">
                <a:solidFill>
                  <a:srgbClr val="747474"/>
                </a:solidFill>
                <a:latin typeface="Microsoft YaHei"/>
              </a:rPr>
              <a:t>ExcelAgent_And_Merge 转正答辩 | 吴植贤 | 2026.09.04 | 内部资料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364224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C00000"/>
                </a:solidFill>
                <a:latin typeface="Microsoft YaHei"/>
              </a:rPr>
              <a:t>06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417320"/>
          <a:ext cx="11018519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2222"/>
                <a:gridCol w="2424074"/>
                <a:gridCol w="2313889"/>
                <a:gridCol w="4958334"/>
              </a:tblGrid>
              <a:tr h="6477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时间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Agent 形态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Merge 形态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标志性成果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07-23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扁平单 agent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功能分类基线；级联删除 0% 暴露缺口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07-28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单 agent + 索引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快照版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index_locate 11.7x；merge 自动合并率基线 0%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08-03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orchestrator 初版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真 SVN LCA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引入 svn copyfrom 反查共同祖先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08-10/11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6 步线性 + R1-R9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路由/引擎优化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定位 +20.8%；subdir 2.33x；假冲突归零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08-17/18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4-Step 多 Agent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AI 建议联通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LLM 23+→3-5；复杂样例 6/6 通过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1520" y="5486400"/>
            <a:ext cx="106984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5486400"/>
            <a:ext cx="73152" cy="502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5596128"/>
            <a:ext cx="10442448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A1A1B"/>
                </a:solidFill>
                <a:latin typeface="Microsoft YaHei"/>
              </a:rPr>
              <a:t>演进主线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5925312"/>
            <a:ext cx="10442448" cy="-914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000" b="0">
                <a:solidFill>
                  <a:srgbClr val="404040"/>
                </a:solidFill>
                <a:latin typeface="Microsoft YaHei"/>
              </a:defRPr>
            </a:pPr>
            <a:r>
              <a:t>Agent 从“会做”到“可控地做”；Merge 从“文件差异”到“有共同祖先、有语义归一、有安全写回”的三方合并。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31720"/>
            <a:ext cx="8961120" cy="7315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Excel-Agent：4-Step 多 Agent 配表流水线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3127248"/>
            <a:ext cx="914400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0">
                <a:solidFill>
                  <a:srgbClr val="E0E0E0"/>
                </a:solidFill>
                <a:latin typeface="Microsoft YaHei"/>
              </a:rPr>
              <a:t>从自然语言到可执行改表计划，再到确定性写盘和自学习闭环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6263640"/>
            <a:ext cx="73152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1500" b="1">
                <a:solidFill>
                  <a:srgbClr val="FFFFFF"/>
                </a:solidFill>
                <a:latin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3657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C00000"/>
                </a:solidFill>
                <a:latin typeface="Microsoft YaHei"/>
              </a:rPr>
              <a:t>02 Excel-Agent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A1A1B"/>
                </a:solidFill>
                <a:latin typeface="Microsoft YaHei"/>
              </a:rPr>
              <a:t>4-Step 架构总览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14984"/>
            <a:ext cx="658368" cy="411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02412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47474"/>
                </a:solidFill>
                <a:latin typeface="Microsoft YaHei"/>
              </a:rPr>
              <a:t>职责隔离后，每一步都能解释、校验、计量和回归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8229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700" b="0">
                <a:solidFill>
                  <a:srgbClr val="747474"/>
                </a:solidFill>
                <a:latin typeface="Microsoft YaHei"/>
              </a:rPr>
              <a:t>ExcelAgent_And_Merge 转正答辩 | 吴植贤 | 2026.09.04 | 内部资料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364224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C00000"/>
                </a:solidFill>
                <a:latin typeface="Microsoft YaHei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2011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Step1 Parse</a:t>
            </a:r>
          </a:p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按需 LLM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600200"/>
            <a:ext cx="2011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Step2 Validate</a:t>
            </a:r>
          </a:p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L0 零 LLM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34056" y="1929384"/>
            <a:ext cx="832104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537960" y="1600200"/>
            <a:ext cx="2011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Step3 Execute</a:t>
            </a:r>
          </a:p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零 LLM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60136" y="1929384"/>
            <a:ext cx="832104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464040" y="1600200"/>
            <a:ext cx="2011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Step4 Conclude</a:t>
            </a:r>
          </a:p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按需 LLM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586216" y="1929384"/>
            <a:ext cx="832104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85800" y="2743200"/>
          <a:ext cx="1083564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3960"/>
                <a:gridCol w="3852672"/>
                <a:gridCol w="4213860"/>
                <a:gridCol w="1565148"/>
              </a:tblGrid>
              <a:tr h="49377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Step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核心职责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关键设计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LLM 预算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Parse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分段、定位、schema 注入、拆解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规则/RAG 先召回，LLM 只做语义拆分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按需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Validate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字段、类型、枚举、FK、依赖校验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L0/L1/L2 漏斗，硬/软错误分级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L0 零 LLM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Execute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拓扑排序、ID 分配、写盘、回滚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执行层保持确定性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Conclude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结构化总结、反模式沉淀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失败进错题本，过门控再 active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成功路径 0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3657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C00000"/>
                </a:solidFill>
                <a:latin typeface="Microsoft YaHei"/>
              </a:rPr>
              <a:t>02 Excel-Agent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A1A1B"/>
                </a:solidFill>
                <a:latin typeface="Microsoft YaHei"/>
              </a:rPr>
              <a:t>Step1：LocatorAgent 多通道定位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14984"/>
            <a:ext cx="658368" cy="411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02412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47474"/>
                </a:solidFill>
                <a:latin typeface="Microsoft YaHei"/>
              </a:rPr>
              <a:t>规则、模糊、关系、RAG 都是零 LLM；歧义时才请模型裁决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8229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700" b="0">
                <a:solidFill>
                  <a:srgbClr val="747474"/>
                </a:solidFill>
                <a:latin typeface="Microsoft YaHei"/>
              </a:rPr>
              <a:t>ExcelAgent_And_Merge 转正答辩 | 吴植贤 | 2026.09.04 | 内部资料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364224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C00000"/>
                </a:solidFill>
                <a:latin typeface="Microsoft YaHei"/>
              </a:rPr>
              <a:t>09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417320"/>
          <a:ext cx="10881358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9307"/>
                <a:gridCol w="3903096"/>
                <a:gridCol w="1892410"/>
                <a:gridCol w="3666545"/>
              </a:tblGrid>
              <a:tr h="5105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通道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技术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置信度/策略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作用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L1 规则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表名、中文表头、别名、字段关键词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0.7-1.0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直接命中，成本最低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L2 模糊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rapidfuzz 混合相似度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0.7-1.0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拼写/命名变体兜底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L3 关系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FK 一跳扩展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中置信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命中主表带出绑定表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L4 RAG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Okapi BM25 top-5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0.3-0.5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只补召回，不压过规则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候选打分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动词邻近度加权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+0.06 封顶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动作词附近实体优先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66928" y="4800600"/>
            <a:ext cx="3578352" cy="914400"/>
          </a:xfrm>
          <a:prstGeom prst="roundRect">
            <a:avLst/>
          </a:prstGeom>
          <a:solidFill>
            <a:srgbClr val="F5F6F8"/>
          </a:solidFill>
          <a:ln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4901184"/>
            <a:ext cx="3358896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747474"/>
                </a:solidFill>
                <a:latin typeface="Microsoft YaHei"/>
              </a:rPr>
              <a:t>10w 行定位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5120640"/>
            <a:ext cx="3358896" cy="3017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2D61A0"/>
                </a:solidFill>
                <a:latin typeface="Microsoft YaHei"/>
              </a:rPr>
              <a:t>6.8s→0.58s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5477256"/>
            <a:ext cx="3358896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700" b="0">
                <a:solidFill>
                  <a:srgbClr val="404040"/>
                </a:solidFill>
                <a:latin typeface="Microsoft YaHei"/>
              </a:rPr>
              <a:t>索引化 11.7x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09872" y="4800600"/>
            <a:ext cx="3578352" cy="914400"/>
          </a:xfrm>
          <a:prstGeom prst="roundRect">
            <a:avLst/>
          </a:prstGeom>
          <a:solidFill>
            <a:srgbClr val="F5F6F8"/>
          </a:solidFill>
          <a:ln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19600" y="4901184"/>
            <a:ext cx="3358896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747474"/>
                </a:solidFill>
                <a:latin typeface="Microsoft YaHei"/>
              </a:rPr>
              <a:t>定位准确率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9600" y="5120640"/>
            <a:ext cx="3358896" cy="3017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C00000"/>
                </a:solidFill>
                <a:latin typeface="Microsoft YaHei"/>
              </a:rPr>
              <a:t>66.7%→80.6%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9600" y="5477256"/>
            <a:ext cx="3358896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700" b="0">
                <a:solidFill>
                  <a:srgbClr val="404040"/>
                </a:solidFill>
                <a:latin typeface="Microsoft YaHei"/>
              </a:rPr>
              <a:t>S-A 同集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52816" y="4800600"/>
            <a:ext cx="3578352" cy="914400"/>
          </a:xfrm>
          <a:prstGeom prst="roundRect">
            <a:avLst/>
          </a:prstGeom>
          <a:solidFill>
            <a:srgbClr val="F5F6F8"/>
          </a:solidFill>
          <a:ln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62544" y="4901184"/>
            <a:ext cx="3358896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747474"/>
                </a:solidFill>
                <a:latin typeface="Microsoft YaHei"/>
              </a:rPr>
              <a:t>quest_npc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2544" y="5120640"/>
            <a:ext cx="3358896" cy="3017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14845A"/>
                </a:solidFill>
                <a:latin typeface="Microsoft YaHei"/>
              </a:rPr>
              <a:t>0.64→0.91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62544" y="5477256"/>
            <a:ext cx="3358896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700" b="0">
                <a:solidFill>
                  <a:srgbClr val="404040"/>
                </a:solidFill>
                <a:latin typeface="Microsoft YaHei"/>
              </a:rPr>
              <a:t>column_matcher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3657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C00000"/>
                </a:solidFill>
                <a:latin typeface="Microsoft YaHei"/>
              </a:rPr>
              <a:t>02 Excel-Agent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A1A1B"/>
                </a:solidFill>
                <a:latin typeface="Microsoft YaHei"/>
              </a:rPr>
              <a:t>Step1：DecomposeAgent schema 注入拆解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14984"/>
            <a:ext cx="658368" cy="411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02412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47474"/>
                </a:solidFill>
                <a:latin typeface="Microsoft YaHei"/>
              </a:rPr>
              <a:t>LLM 面对真实表结构输出 SplitIntent，而不是凭记忆编 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8229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700" b="0">
                <a:solidFill>
                  <a:srgbClr val="747474"/>
                </a:solidFill>
                <a:latin typeface="Microsoft YaHei"/>
              </a:rPr>
              <a:t>ExcelAgent_And_Merge 转正答辩 | 吴植贤 | 2026.09.04 | 内部资料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364224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C00000"/>
                </a:solidFill>
                <a:latin typeface="Microsoft YaHei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63040"/>
            <a:ext cx="2011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D6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候选表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1463040"/>
            <a:ext cx="2011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D6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row1/row2 表头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34056" y="1792224"/>
            <a:ext cx="100584" cy="0"/>
          </a:xfrm>
          <a:prstGeom prst="line">
            <a:avLst/>
          </a:prstGeom>
          <a:ln w="19050">
            <a:solidFill>
              <a:srgbClr val="2D61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074920" y="1463040"/>
            <a:ext cx="2011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D6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字段类型/规则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928616" y="1792224"/>
            <a:ext cx="100584" cy="0"/>
          </a:xfrm>
          <a:prstGeom prst="line">
            <a:avLst/>
          </a:prstGeom>
          <a:ln w="19050">
            <a:solidFill>
              <a:srgbClr val="2D61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269480" y="1463040"/>
            <a:ext cx="2011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D6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FK 关系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123176" y="1792224"/>
            <a:ext cx="100584" cy="0"/>
          </a:xfrm>
          <a:prstGeom prst="line">
            <a:avLst/>
          </a:prstGeom>
          <a:ln w="19050">
            <a:solidFill>
              <a:srgbClr val="2D61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464040" y="1463040"/>
            <a:ext cx="2011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D6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SplitIntent JSON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317736" y="1792224"/>
            <a:ext cx="100584" cy="0"/>
          </a:xfrm>
          <a:prstGeom prst="line">
            <a:avLst/>
          </a:prstGeom>
          <a:ln w="19050">
            <a:solidFill>
              <a:srgbClr val="2D61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13232" y="2514600"/>
          <a:ext cx="1074419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1831"/>
                <a:gridCol w="6682368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输入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作用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真实 schema：多级表头、字段类型、填表规则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模型只能从真实列名里选，压 column_not_found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FK 链型上下文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让跨表新增知道谁依赖谁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few-shot 示例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规范 ID、占位符和 add/update/delete 输出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规则安全网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LLM 产出少于 2 条或畸形时，回退 cross_table_splitter 模板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777240" y="5166360"/>
            <a:ext cx="105613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5166360"/>
            <a:ext cx="73152" cy="685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" y="5276088"/>
            <a:ext cx="10305288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A1A1B"/>
                </a:solidFill>
                <a:latin typeface="Microsoft YaHei"/>
              </a:rPr>
              <a:t>技术收益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" y="5605272"/>
            <a:ext cx="10305288" cy="173735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100" b="0">
                <a:solidFill>
                  <a:srgbClr val="404040"/>
                </a:solidFill>
                <a:latin typeface="Microsoft YaHei"/>
              </a:defRPr>
            </a:pPr>
            <a:r>
              <a:t>schema 缓存省 60-70% I/O；候选 ≤3 时 O1 单 prompt 主路径，token 砍 50-70%。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3657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C00000"/>
                </a:solidFill>
                <a:latin typeface="Microsoft YaHei"/>
              </a:rPr>
              <a:t>02 Excel-Agent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A1A1B"/>
                </a:solidFill>
                <a:latin typeface="Microsoft YaHei"/>
              </a:rPr>
              <a:t>Step1：produces/consumes 依赖契约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14984"/>
            <a:ext cx="658368" cy="411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02412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47474"/>
                </a:solidFill>
                <a:latin typeface="Microsoft YaHei"/>
              </a:rPr>
              <a:t>跨表依赖从“模型记忆”搬到“代码可校验的契约”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8229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700" b="0">
                <a:solidFill>
                  <a:srgbClr val="747474"/>
                </a:solidFill>
                <a:latin typeface="Microsoft YaHei"/>
              </a:rPr>
              <a:t>ExcelAgent_And_Merge 转正答辩 | 吴植贤 | 2026.09.04 | 内部资料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364224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C00000"/>
                </a:solidFill>
                <a:latin typeface="Microsoft YaHe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2011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48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新增奖励</a:t>
            </a:r>
          </a:p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produces &lt;奖励ID&gt;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508760"/>
            <a:ext cx="2011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48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新增技能</a:t>
            </a:r>
          </a:p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consumes &lt;奖励ID&gt;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34056" y="1837943"/>
            <a:ext cx="832104" cy="0"/>
          </a:xfrm>
          <a:prstGeom prst="line">
            <a:avLst/>
          </a:prstGeom>
          <a:ln w="19050">
            <a:solidFill>
              <a:srgbClr val="1484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537960" y="1508760"/>
            <a:ext cx="2011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48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Step3 拓扑排序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60136" y="1837943"/>
            <a:ext cx="832104" cy="0"/>
          </a:xfrm>
          <a:prstGeom prst="line">
            <a:avLst/>
          </a:prstGeom>
          <a:ln w="19050">
            <a:solidFill>
              <a:srgbClr val="1484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464040" y="1508760"/>
            <a:ext cx="2011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48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真实 ID 回填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586216" y="1837943"/>
            <a:ext cx="832104" cy="0"/>
          </a:xfrm>
          <a:prstGeom prst="line">
            <a:avLst/>
          </a:prstGeom>
          <a:ln w="19050">
            <a:solidFill>
              <a:srgbClr val="1484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731520" y="2743200"/>
          <a:ext cx="10652759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5778"/>
                <a:gridCol w="4583164"/>
                <a:gridCol w="3963817"/>
              </a:tblGrid>
              <a:tr h="466344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机制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解决问题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produces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本 intent 产出的主键占位符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后续表可引用新增行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consumes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本 intent 消费的占位符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明确执行依赖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entity_key 编译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LLM 只产 entity_key，代码编译稳定 placeholder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禁止伪造 resolved_from_xxx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依赖检查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悬空、自产自消、依赖环、FK 目标错表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写盘前暴露风险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3657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C00000"/>
                </a:solidFill>
                <a:latin typeface="Microsoft YaHei"/>
              </a:rPr>
              <a:t>02 Excel-Agent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A1A1B"/>
                </a:solidFill>
                <a:latin typeface="Microsoft YaHei"/>
              </a:rPr>
              <a:t>Step1 性能与质量收益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14984"/>
            <a:ext cx="658368" cy="411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02412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47474"/>
                </a:solidFill>
                <a:latin typeface="Microsoft YaHei"/>
              </a:rPr>
              <a:t>所有提升按同一证据集 before→after，不做跨集横比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8229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700" b="0">
                <a:solidFill>
                  <a:srgbClr val="747474"/>
                </a:solidFill>
                <a:latin typeface="Microsoft YaHei"/>
              </a:rPr>
              <a:t>ExcelAgent_And_Merge 转正答辩 | 吴植贤 | 2026.09.04 | 内部资料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364224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C00000"/>
                </a:solidFill>
                <a:latin typeface="Microsoft YaHei"/>
              </a:rPr>
              <a:t>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1792" y="1417320"/>
          <a:ext cx="10972798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926079"/>
                <a:gridCol w="2926079"/>
                <a:gridCol w="2438400"/>
              </a:tblGrid>
              <a:tr h="6477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改动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before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after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收益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索引定位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全表扫描 6.8s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0.58s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11.7x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schema 缓存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重复读表头 I/O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命中内存缓存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省 60-70% I/O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O1 单 prompt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每候选表一次 LLM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候选≤3 合并一次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token -50-70%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R1 语义门+级联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定位 0.667 / 精准 0.519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0.806 / 0.692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+20.8% / +33.4%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RAG BM25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无语义补召回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新增 top-5 召回层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已接入，A/B 待评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13232" y="5532120"/>
            <a:ext cx="107442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5532120"/>
            <a:ext cx="73152" cy="502920"/>
          </a:xfrm>
          <a:prstGeom prst="rect">
            <a:avLst/>
          </a:prstGeom>
          <a:solidFill>
            <a:srgbClr val="CC7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5641848"/>
            <a:ext cx="10488168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A1A1B"/>
                </a:solidFill>
                <a:latin typeface="Microsoft YaHei"/>
              </a:rPr>
              <a:t>诚实边界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5971031"/>
            <a:ext cx="10488168" cy="-914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000" b="0">
                <a:solidFill>
                  <a:srgbClr val="404040"/>
                </a:solidFill>
                <a:latin typeface="Microsoft YaHei"/>
              </a:defRPr>
            </a:pPr>
            <a:r>
              <a:t>RAG 层当前口径是能力已上线、A/B 量化在途；已量化的是索引化和 column_matcher。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3657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C00000"/>
                </a:solidFill>
                <a:latin typeface="Microsoft YaHei"/>
              </a:rPr>
              <a:t>02 Excel-Agent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A1A1B"/>
                </a:solidFill>
                <a:latin typeface="Microsoft YaHei"/>
              </a:rPr>
              <a:t>Step2：L0/L1/L2 校验漏斗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14984"/>
            <a:ext cx="658368" cy="411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02412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47474"/>
                </a:solidFill>
                <a:latin typeface="Microsoft YaHei"/>
              </a:rPr>
              <a:t>写盘前质量门禁，约 80% 错误在 L0 规则层零 LLM 拦截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8229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700" b="0">
                <a:solidFill>
                  <a:srgbClr val="747474"/>
                </a:solidFill>
                <a:latin typeface="Microsoft YaHei"/>
              </a:rPr>
              <a:t>ExcelAgent_And_Merge 转正答辩 | 吴植贤 | 2026.09.04 | 内部资料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364224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C00000"/>
                </a:solidFill>
                <a:latin typeface="Microsoft YaHei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63040"/>
            <a:ext cx="2011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全部 intents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463040"/>
            <a:ext cx="2011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L0 规则闸</a:t>
            </a:r>
          </a:p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字段/类型/枚举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34056" y="1792224"/>
            <a:ext cx="832104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537960" y="1463040"/>
            <a:ext cx="2011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L1 模型判官</a:t>
            </a:r>
          </a:p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语义难例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60136" y="1792224"/>
            <a:ext cx="832104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464040" y="1463040"/>
            <a:ext cx="2011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L2 人工确认</a:t>
            </a:r>
          </a:p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全字段编辑卡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586216" y="1792224"/>
            <a:ext cx="832104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804672" y="2697480"/>
          <a:ext cx="1042415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9557"/>
                <a:gridCol w="4905487"/>
                <a:gridCol w="3679115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校验项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检查内容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失败处理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列存在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字段是否在 schema 中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hard error，阻断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类型/范围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coerce、数值范围、分布异常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hard/soft 分级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枚举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*Type/*类型 权威表与白名单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warning 或人工确认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FK/placeholder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producer 是否存在、FK 指向是否正确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阻断孤儿行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822960" y="5257800"/>
            <a:ext cx="103784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5257800"/>
            <a:ext cx="73152" cy="594360"/>
          </a:xfrm>
          <a:prstGeom prst="rect">
            <a:avLst/>
          </a:prstGeom>
          <a:solidFill>
            <a:srgbClr val="2D6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5367528"/>
            <a:ext cx="10122408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A1A1B"/>
                </a:solidFill>
                <a:latin typeface="Microsoft YaHei"/>
              </a:rPr>
              <a:t>关键主张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" y="5696712"/>
            <a:ext cx="10122408" cy="82295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100" b="0">
                <a:solidFill>
                  <a:srgbClr val="404040"/>
                </a:solidFill>
                <a:latin typeface="Microsoft YaHei"/>
              </a:defRPr>
            </a:pPr>
            <a:r>
              <a:t>校验是省钱核心：大部分规则问题不需要问 LLM；LLM 只用于最难的语义裁决。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3657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C00000"/>
                </a:solidFill>
                <a:latin typeface="Microsoft YaHei"/>
              </a:rPr>
              <a:t>02 Excel-Agent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A1A1B"/>
                </a:solidFill>
                <a:latin typeface="Microsoft YaHei"/>
              </a:rPr>
              <a:t>Step2：可编辑确认卡与硬/软错误分级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14984"/>
            <a:ext cx="658368" cy="411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02412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47474"/>
                </a:solidFill>
                <a:latin typeface="Microsoft YaHei"/>
              </a:rPr>
              <a:t>让自动化和人工兜底共存，不绕过质量门禁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8229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700" b="0">
                <a:solidFill>
                  <a:srgbClr val="747474"/>
                </a:solidFill>
                <a:latin typeface="Microsoft YaHei"/>
              </a:rPr>
              <a:t>ExcelAgent_And_Merge 转正答辩 | 吴植贤 | 2026.09.04 | 内部资料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364224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C00000"/>
                </a:solidFill>
                <a:latin typeface="Microsoft YaHei"/>
              </a:rPr>
              <a:t>14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" y="1508760"/>
          <a:ext cx="10744199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8651"/>
                <a:gridCol w="4497572"/>
                <a:gridCol w="3747976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能力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实现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价值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全字段可编辑卡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field_edit_table 汇总同一 intent 的问题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用户一次性补齐，不来回猜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最多 3 轮重校验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用户改完自动回 Step2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确保硬错误不进 Step3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硬错误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unique/type/col_not_found/主键缺失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阻断写盘，避免污染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软错误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enum_invalid 等可恢复问题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提示确认，不拖垮整条流水线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9808" y="4846320"/>
            <a:ext cx="50749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4846320"/>
            <a:ext cx="73152" cy="822960"/>
          </a:xfrm>
          <a:prstGeom prst="rect">
            <a:avLst/>
          </a:prstGeom>
          <a:solidFill>
            <a:srgbClr val="148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956048"/>
            <a:ext cx="4818888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A1A1B"/>
                </a:solidFill>
                <a:latin typeface="Microsoft YaHei"/>
              </a:rPr>
              <a:t>给策划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5285231"/>
            <a:ext cx="4818888" cy="31089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100" b="0">
                <a:solidFill>
                  <a:srgbClr val="404040"/>
                </a:solidFill>
                <a:latin typeface="Microsoft YaHei"/>
              </a:defRPr>
            </a:pPr>
            <a:r>
              <a:t>不是“系统猜错就失败”，而是把疑点展示为可编辑表格，让人确认后继续。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4846320"/>
            <a:ext cx="50749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4846320"/>
            <a:ext cx="73152" cy="822960"/>
          </a:xfrm>
          <a:prstGeom prst="rect">
            <a:avLst/>
          </a:prstGeom>
          <a:solidFill>
            <a:srgbClr val="2D6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4224" y="4956048"/>
            <a:ext cx="4818888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A1A1B"/>
                </a:solidFill>
                <a:latin typeface="Microsoft YaHei"/>
              </a:rPr>
              <a:t>给技术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5936" y="5285231"/>
            <a:ext cx="4818888" cy="31089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100" b="0">
                <a:solidFill>
                  <a:srgbClr val="404040"/>
                </a:solidFill>
                <a:latin typeface="Microsoft YaHei"/>
              </a:defRPr>
            </a:pPr>
            <a:r>
              <a:t>硬/软错误分级让异常路径可测试、可恢复、可追踪。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3657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C00000"/>
                </a:solidFill>
                <a:latin typeface="Microsoft YaHei"/>
              </a:rPr>
              <a:t>02 Excel-Agent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A1A1B"/>
                </a:solidFill>
                <a:latin typeface="Microsoft YaHei"/>
              </a:rPr>
              <a:t>Step2 指标：拒错数据优先于盲目成功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14984"/>
            <a:ext cx="658368" cy="411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02412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47474"/>
                </a:solidFill>
                <a:latin typeface="Microsoft YaHei"/>
              </a:rPr>
              <a:t>ok 率下降不一定是退步，可能是写前拒绝错误数据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8229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700" b="0">
                <a:solidFill>
                  <a:srgbClr val="747474"/>
                </a:solidFill>
                <a:latin typeface="Microsoft YaHei"/>
              </a:rPr>
              <a:t>ExcelAgent_And_Merge 转正答辩 | 吴植贤 | 2026.09.04 | 内部资料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364224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C00000"/>
                </a:solidFill>
                <a:latin typeface="Microsoft YaHei"/>
              </a:rPr>
              <a:t>15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417320"/>
          <a:ext cx="10835639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9503"/>
                <a:gridCol w="2648712"/>
                <a:gridCol w="2648712"/>
                <a:gridCol w="2648712"/>
              </a:tblGrid>
              <a:tr h="585216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改动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before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after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结果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值语义门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精准 0.519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0.692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+33.4%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SET PK 级联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严格通过 0.167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0.333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+100%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类型校验加固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type_mismatch 2 例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1 例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-1 例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L0 规则闸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校验依赖 LLM 往返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字段/类型/枚举代码化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约 80% 零 LLM 拦截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1520" y="466344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4663440"/>
            <a:ext cx="73152" cy="868680"/>
          </a:xfrm>
          <a:prstGeom prst="rect">
            <a:avLst/>
          </a:prstGeom>
          <a:solidFill>
            <a:srgbClr val="CC7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773168"/>
            <a:ext cx="10442448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A1A1B"/>
                </a:solidFill>
                <a:latin typeface="Microsoft YaHei"/>
              </a:rPr>
              <a:t>讲解口径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5102352"/>
            <a:ext cx="10442448" cy="356615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100" b="0">
                <a:solidFill>
                  <a:srgbClr val="404040"/>
                </a:solidFill>
                <a:latin typeface="Microsoft YaHei"/>
              </a:defRPr>
            </a:pPr>
            <a:r>
              <a:t>这页要主动讲清 trade-off：R1 中响应 ok 率下降，是因为系统开始拒绝不合规值；对配表工具而言，“不写错”比“看起来完成”更重要。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3657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C00000"/>
                </a:solidFill>
                <a:latin typeface="Microsoft YaHei"/>
              </a:rPr>
              <a:t>02 Excel-Agent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A1A1B"/>
                </a:solidFill>
                <a:latin typeface="Microsoft YaHei"/>
              </a:rPr>
              <a:t>Step3：确定性执行，零 LLM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14984"/>
            <a:ext cx="658368" cy="411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02412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47474"/>
                </a:solidFill>
                <a:latin typeface="Microsoft YaHei"/>
              </a:rPr>
              <a:t>执行层不依赖概率模型，是 4-Step 相比 6 步线性的核心分界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8229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700" b="0">
                <a:solidFill>
                  <a:srgbClr val="747474"/>
                </a:solidFill>
                <a:latin typeface="Microsoft YaHei"/>
              </a:rPr>
              <a:t>ExcelAgent_And_Merge 转正答辩 | 吴植贤 | 2026.09.04 | 内部资料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364224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C00000"/>
                </a:solidFill>
                <a:latin typeface="Microsoft YaHei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2011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48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validated intents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1417320"/>
            <a:ext cx="2011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48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拓扑排序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34056" y="1746504"/>
            <a:ext cx="100584" cy="0"/>
          </a:xfrm>
          <a:prstGeom prst="line">
            <a:avLst/>
          </a:prstGeom>
          <a:ln w="19050">
            <a:solidFill>
              <a:srgbClr val="1484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074920" y="1417320"/>
            <a:ext cx="2011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48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ID 分配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928616" y="1746504"/>
            <a:ext cx="100584" cy="0"/>
          </a:xfrm>
          <a:prstGeom prst="line">
            <a:avLst/>
          </a:prstGeom>
          <a:ln w="19050">
            <a:solidFill>
              <a:srgbClr val="1484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269480" y="1417320"/>
            <a:ext cx="2011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48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占位符替换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123176" y="1746504"/>
            <a:ext cx="100584" cy="0"/>
          </a:xfrm>
          <a:prstGeom prst="line">
            <a:avLst/>
          </a:prstGeom>
          <a:ln w="19050">
            <a:solidFill>
              <a:srgbClr val="1484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464040" y="1417320"/>
            <a:ext cx="2011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48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原子写盘/回滚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317736" y="1746504"/>
            <a:ext cx="100584" cy="0"/>
          </a:xfrm>
          <a:prstGeom prst="line">
            <a:avLst/>
          </a:prstGeom>
          <a:ln w="19050">
            <a:solidFill>
              <a:srgbClr val="1484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49808" y="2606040"/>
          <a:ext cx="10561319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1118"/>
                <a:gridCol w="7470201"/>
              </a:tblGrid>
              <a:tr h="4343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机制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拓扑排序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producer 先于 consumer，跨表依赖按顺序执行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占位符字面代换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把 &lt;奖励ID&gt; 等 placeholder 替换为真实主键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孤儿行防护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执行前扫描悬空非 &lt;auto&gt; 占位符，跳过风险写入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thread-local no_llm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替代进程级 env 突变，避免并发请求互相污染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二段提交/批量原子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写失败可恢复，不留下半成品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3657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C00000"/>
                </a:solidFill>
                <a:latin typeface="Microsoft YaHei"/>
              </a:rPr>
              <a:t>02 Excel-Agent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A1A1B"/>
                </a:solidFill>
                <a:latin typeface="Microsoft YaHei"/>
              </a:rPr>
              <a:t>Step3 性能：把执行从 LLM 往返里拿出来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14984"/>
            <a:ext cx="658368" cy="411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02412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47474"/>
                </a:solidFill>
                <a:latin typeface="Microsoft YaHei"/>
              </a:rPr>
              <a:t>确定性代码承接写盘，LLM 留在语义理解处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8229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700" b="0">
                <a:solidFill>
                  <a:srgbClr val="747474"/>
                </a:solidFill>
                <a:latin typeface="Microsoft YaHei"/>
              </a:rPr>
              <a:t>ExcelAgent_And_Merge 转正答辩 | 吴植贤 | 2026.09.04 | 内部资料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364224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C00000"/>
                </a:solidFill>
                <a:latin typeface="Microsoft YaHei"/>
              </a:rPr>
              <a:t>17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417320"/>
          <a:ext cx="1088136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9888"/>
                <a:gridCol w="2901696"/>
                <a:gridCol w="3143504"/>
                <a:gridCol w="2176272"/>
              </a:tblGrid>
              <a:tr h="6172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改动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before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after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收益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Step3 零 LLM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执行每步问模型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纯代码派发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全链 5→2-3 次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LLM 三合一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confirm/plan/validate 3 次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合并 1 次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往返减少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R4 跨表模板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用例106 204s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112s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-45%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R4 值容错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覆盖 0.16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峰值 0.39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+143%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大表全链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卡死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compare 3.9s + apply 6.3s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~10.4s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1520" y="5440680"/>
            <a:ext cx="106984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5440680"/>
            <a:ext cx="73152" cy="502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5550408"/>
            <a:ext cx="10442448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A1A1B"/>
                </a:solidFill>
                <a:latin typeface="Microsoft YaHei"/>
              </a:rPr>
              <a:t>技术结论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5879592"/>
            <a:ext cx="10442448" cy="-914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000" b="0">
                <a:solidFill>
                  <a:srgbClr val="404040"/>
                </a:solidFill>
                <a:latin typeface="Microsoft YaHei"/>
              </a:defRPr>
            </a:pPr>
            <a:r>
              <a:t>执行是确定性工程，不该依赖概率模型；这是成本和稳定性的共同收益。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3657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C00000"/>
                </a:solidFill>
                <a:latin typeface="Microsoft YaHei"/>
              </a:rPr>
              <a:t>02 Excel-Agent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A1A1B"/>
                </a:solidFill>
                <a:latin typeface="Microsoft YaHei"/>
              </a:rPr>
              <a:t>Step4：自学习闭环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14984"/>
            <a:ext cx="658368" cy="411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02412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47474"/>
                </a:solidFill>
                <a:latin typeface="Microsoft YaHei"/>
              </a:rPr>
              <a:t>失败不再是黑洞，而是下一轮规则和反模式的来源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8229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700" b="0">
                <a:solidFill>
                  <a:srgbClr val="747474"/>
                </a:solidFill>
                <a:latin typeface="Microsoft YaHei"/>
              </a:rPr>
              <a:t>ExcelAgent_And_Merge 转正答辩 | 吴植贤 | 2026.09.04 | 内部资料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364224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C00000"/>
                </a:solidFill>
                <a:latin typeface="Microsoft YaHei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1645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D6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failures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14600" y="1417320"/>
            <a:ext cx="1645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D6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结构化清单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68296" y="1746504"/>
            <a:ext cx="100584" cy="0"/>
          </a:xfrm>
          <a:prstGeom prst="line">
            <a:avLst/>
          </a:prstGeom>
          <a:ln w="19050">
            <a:solidFill>
              <a:srgbClr val="2D61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343400" y="1417320"/>
            <a:ext cx="1645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D6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LLM 归纳反模式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97096" y="1746504"/>
            <a:ext cx="100584" cy="0"/>
          </a:xfrm>
          <a:prstGeom prst="line">
            <a:avLst/>
          </a:prstGeom>
          <a:ln w="19050">
            <a:solidFill>
              <a:srgbClr val="2D61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172200" y="1417320"/>
            <a:ext cx="1645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D6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pending_review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25896" y="1746504"/>
            <a:ext cx="100584" cy="0"/>
          </a:xfrm>
          <a:prstGeom prst="line">
            <a:avLst/>
          </a:prstGeom>
          <a:ln w="19050">
            <a:solidFill>
              <a:srgbClr val="2D61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001000" y="1417320"/>
            <a:ext cx="1645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D6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mini_regression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854696" y="1746504"/>
            <a:ext cx="100583" cy="0"/>
          </a:xfrm>
          <a:prstGeom prst="line">
            <a:avLst/>
          </a:prstGeom>
          <a:ln w="19050">
            <a:solidFill>
              <a:srgbClr val="2D61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829800" y="1417320"/>
            <a:ext cx="1645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D6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active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683496" y="1746504"/>
            <a:ext cx="100584" cy="0"/>
          </a:xfrm>
          <a:prstGeom prst="line">
            <a:avLst/>
          </a:prstGeom>
          <a:ln w="19050">
            <a:solidFill>
              <a:srgbClr val="2D61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749808" y="2743200"/>
          <a:ext cx="10515598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0409"/>
                <a:gridCol w="5321146"/>
                <a:gridCol w="3294043"/>
              </a:tblGrid>
              <a:tr h="484632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阶段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动作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保护机制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收集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step_id / 错误类型 / 根因 / 建议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可复盘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归纳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8 条失败 trace → 4 条反模式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失败降级模板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门控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pending_review → mini_regression → active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防止学坏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沉淀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写入 rules/examples/retrieval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下次 Step1/2 提前拦截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3657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C00000"/>
                </a:solidFill>
                <a:latin typeface="Microsoft YaHei"/>
              </a:rPr>
              <a:t>02 Excel-Agent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A1A1B"/>
                </a:solidFill>
                <a:latin typeface="Microsoft YaHei"/>
              </a:rPr>
              <a:t>Agent 全链指标汇总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14984"/>
            <a:ext cx="658368" cy="411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02412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47474"/>
                </a:solidFill>
                <a:latin typeface="Microsoft YaHei"/>
              </a:rPr>
              <a:t>从成本、正确性、复杂样例、可靠性四个维度看成果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8229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700" b="0">
                <a:solidFill>
                  <a:srgbClr val="747474"/>
                </a:solidFill>
                <a:latin typeface="Microsoft YaHei"/>
              </a:rPr>
              <a:t>ExcelAgent_And_Merge 转正答辩 | 吴植贤 | 2026.09.04 | 内部资料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364224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C00000"/>
                </a:solidFill>
                <a:latin typeface="Microsoft YaHei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325880"/>
            <a:ext cx="2642615" cy="914400"/>
          </a:xfrm>
          <a:prstGeom prst="roundRect">
            <a:avLst/>
          </a:prstGeom>
          <a:solidFill>
            <a:srgbClr val="F5F6F8"/>
          </a:solidFill>
          <a:ln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1426464"/>
            <a:ext cx="2423159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747474"/>
                </a:solidFill>
                <a:latin typeface="Microsoft YaHei"/>
              </a:rPr>
              <a:t>LLM 调用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1645919"/>
            <a:ext cx="2423159" cy="3017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C00000"/>
                </a:solidFill>
                <a:latin typeface="Microsoft YaHei"/>
              </a:rPr>
              <a:t>23+→3-5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2002536"/>
            <a:ext cx="2423159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700" b="0">
                <a:solidFill>
                  <a:srgbClr val="404040"/>
                </a:solidFill>
                <a:latin typeface="Microsoft YaHei"/>
              </a:rPr>
              <a:t>-80%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74136" y="1325880"/>
            <a:ext cx="2642615" cy="914400"/>
          </a:xfrm>
          <a:prstGeom prst="roundRect">
            <a:avLst/>
          </a:prstGeom>
          <a:solidFill>
            <a:srgbClr val="F5F6F8"/>
          </a:solidFill>
          <a:ln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83864" y="1426464"/>
            <a:ext cx="2423159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747474"/>
                </a:solidFill>
                <a:latin typeface="Microsoft YaHei"/>
              </a:rPr>
              <a:t>定位准确率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3864" y="1645919"/>
            <a:ext cx="2423159" cy="3017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2D61A0"/>
                </a:solidFill>
                <a:latin typeface="Microsoft YaHei"/>
              </a:rPr>
              <a:t>66.7%→80.6%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83864" y="2002536"/>
            <a:ext cx="2423159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700" b="0">
                <a:solidFill>
                  <a:srgbClr val="404040"/>
                </a:solidFill>
                <a:latin typeface="Microsoft YaHei"/>
              </a:rPr>
              <a:t>+13.9pts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1325880"/>
            <a:ext cx="2642615" cy="914400"/>
          </a:xfrm>
          <a:prstGeom prst="roundRect">
            <a:avLst/>
          </a:prstGeom>
          <a:solidFill>
            <a:srgbClr val="F5F6F8"/>
          </a:solidFill>
          <a:ln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1072" y="1426464"/>
            <a:ext cx="2423159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747474"/>
                </a:solidFill>
                <a:latin typeface="Microsoft YaHei"/>
              </a:rPr>
              <a:t>引用一致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1645919"/>
            <a:ext cx="2423159" cy="3017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14845A"/>
                </a:solidFill>
                <a:latin typeface="Microsoft YaHei"/>
              </a:rPr>
              <a:t>6%→100%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2002536"/>
            <a:ext cx="2423159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700" b="0">
                <a:solidFill>
                  <a:srgbClr val="404040"/>
                </a:solidFill>
                <a:latin typeface="Microsoft YaHei"/>
              </a:rPr>
              <a:t>quest_npc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88552" y="1325880"/>
            <a:ext cx="2642615" cy="914400"/>
          </a:xfrm>
          <a:prstGeom prst="roundRect">
            <a:avLst/>
          </a:prstGeom>
          <a:solidFill>
            <a:srgbClr val="F5F6F8"/>
          </a:solidFill>
          <a:ln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98280" y="1426464"/>
            <a:ext cx="2423159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747474"/>
                </a:solidFill>
                <a:latin typeface="Microsoft YaHei"/>
              </a:rPr>
              <a:t>复杂样例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1645919"/>
            <a:ext cx="2423159" cy="3017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CC7023"/>
                </a:solidFill>
                <a:latin typeface="Microsoft YaHei"/>
              </a:rPr>
              <a:t>6/6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002536"/>
            <a:ext cx="2423159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700" b="0">
                <a:solidFill>
                  <a:srgbClr val="404040"/>
                </a:solidFill>
                <a:latin typeface="Microsoft YaHei"/>
              </a:rPr>
              <a:t>全通过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685800" y="2788920"/>
          <a:ext cx="10835639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1088"/>
                <a:gridCol w="3852672"/>
                <a:gridCol w="3611879"/>
              </a:tblGrid>
              <a:tr h="4419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样例/指标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结果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单表新增灵兽朱雀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29.9s OK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bench_v1 实测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复合新增瞭望塔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33.5s OK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bench_v1 实测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QA 问答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9.2s OK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bench_v1 实测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skill 30 样例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0.933→1.000；533ms→321ms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确定性无 LLM 波动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4-Step 复杂样例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6/6 OK；每例 LLM 19 次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parallel=1 稳定性基线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31720"/>
            <a:ext cx="8961120" cy="7315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Merge：面向 SVN 目录分支的三方合并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3127248"/>
            <a:ext cx="914400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0">
                <a:solidFill>
                  <a:srgbClr val="E0E0E0"/>
                </a:solidFill>
                <a:latin typeface="Microsoft YaHei"/>
              </a:rPr>
              <a:t>可信 Base + 稀疏 diff + 引用保护 + 安全写回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6263640"/>
            <a:ext cx="73152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1500" b="1">
                <a:solidFill>
                  <a:srgbClr val="FFFFFF"/>
                </a:solidFill>
                <a:latin typeface="Microsoft YaHe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3657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C00000"/>
                </a:solidFill>
                <a:latin typeface="Microsoft YaHei"/>
              </a:rPr>
              <a:t>03 Merge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A1A1B"/>
                </a:solidFill>
                <a:latin typeface="Microsoft YaHei"/>
              </a:rPr>
              <a:t>Merge 总体流程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14984"/>
            <a:ext cx="658368" cy="411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02412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47474"/>
                </a:solidFill>
                <a:latin typeface="Microsoft YaHei"/>
              </a:rPr>
              <a:t>从 SVN 分支选择到写回主干，核心是 compare → resolve → apply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8229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700" b="0">
                <a:solidFill>
                  <a:srgbClr val="747474"/>
                </a:solidFill>
                <a:latin typeface="Microsoft YaHei"/>
              </a:rPr>
              <a:t>ExcelAgent_And_Merge 转正答辩 | 吴植贤 | 2026.09.04 | 内部资料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364224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C00000"/>
                </a:solidFill>
                <a:latin typeface="Microsoft YaHei"/>
              </a:rP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1645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选择 From/To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09800" y="1325880"/>
            <a:ext cx="1645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定位 merge-base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2164080" y="1655064"/>
            <a:ext cx="204216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733800" y="1325880"/>
            <a:ext cx="1645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提取 Excel 元信息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3688080" y="1655064"/>
            <a:ext cx="204216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257800" y="1325880"/>
            <a:ext cx="1645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Compare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5212080" y="1655064"/>
            <a:ext cx="204216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781800" y="1325880"/>
            <a:ext cx="1645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Resolve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6736080" y="1655064"/>
            <a:ext cx="204216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305800" y="1325880"/>
            <a:ext cx="1645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Apply 写回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8260080" y="1655064"/>
            <a:ext cx="204216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829800" y="1325880"/>
            <a:ext cx="1645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回滚/审计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9784080" y="1655064"/>
            <a:ext cx="204216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749808" y="2514600"/>
          <a:ext cx="1051560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9440"/>
                <a:gridCol w="4206240"/>
                <a:gridCol w="443992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阶段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关键问题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技术抓手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compare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谁改了什么，哪里冲突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SVN LCA、语义归一、稀疏 diff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resolve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能否自动合并，冲突如何解释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6 策略、ID 重映射、AI 建议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apply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如何不丢公式/样式/缓存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fast_apply XML、LibreOffice、备份回滚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precommit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如何避免静默漏行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precommit_hold 漏行预检 + audit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3657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C00000"/>
                </a:solidFill>
                <a:latin typeface="Microsoft YaHei"/>
              </a:rPr>
              <a:t>03 Merge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A1A1B"/>
                </a:solidFill>
                <a:latin typeface="Microsoft YaHei"/>
              </a:rPr>
              <a:t>SVN merge-base：LCA 反查算法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14984"/>
            <a:ext cx="658368" cy="411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02412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47474"/>
                </a:solidFill>
                <a:latin typeface="Microsoft YaHei"/>
              </a:rPr>
              <a:t>SVN 没有 Git 式 merge-base 命令，所以必须从 copyfrom 链反推出共同祖先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8229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700" b="0">
                <a:solidFill>
                  <a:srgbClr val="747474"/>
                </a:solidFill>
                <a:latin typeface="Microsoft YaHei"/>
              </a:rPr>
              <a:t>ExcelAgent_And_Merge 转正答辩 | 吴植贤 | 2026.09.04 | 内部资料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364224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C00000"/>
                </a:solidFill>
                <a:latin typeface="Microsoft YaHei"/>
              </a:rP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2011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D6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svn log</a:t>
            </a:r>
          </a:p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--stop-on-copy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1417320"/>
            <a:ext cx="2011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D6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取 copyfrom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34056" y="1746504"/>
            <a:ext cx="100584" cy="0"/>
          </a:xfrm>
          <a:prstGeom prst="line">
            <a:avLst/>
          </a:prstGeom>
          <a:ln w="19050">
            <a:solidFill>
              <a:srgbClr val="2D61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074920" y="1417320"/>
            <a:ext cx="2011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D6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上溯祖先链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928616" y="1746504"/>
            <a:ext cx="100584" cy="0"/>
          </a:xfrm>
          <a:prstGeom prst="line">
            <a:avLst/>
          </a:prstGeom>
          <a:ln w="19050">
            <a:solidFill>
              <a:srgbClr val="2D61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269480" y="1417320"/>
            <a:ext cx="2011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D6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两链交叉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123176" y="1746504"/>
            <a:ext cx="100584" cy="0"/>
          </a:xfrm>
          <a:prstGeom prst="line">
            <a:avLst/>
          </a:prstGeom>
          <a:ln w="19050">
            <a:solidFill>
              <a:srgbClr val="2D61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464040" y="1417320"/>
            <a:ext cx="2011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D6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最近公共祖先 LCA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317736" y="1746504"/>
            <a:ext cx="100584" cy="0"/>
          </a:xfrm>
          <a:prstGeom prst="line">
            <a:avLst/>
          </a:prstGeom>
          <a:ln w="19050">
            <a:solidFill>
              <a:srgbClr val="2D61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1520" y="2697480"/>
            <a:ext cx="51206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2697480"/>
            <a:ext cx="73152" cy="1143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2807208"/>
            <a:ext cx="4864607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A1A1B"/>
                </a:solidFill>
                <a:latin typeface="Microsoft YaHei"/>
              </a:rPr>
              <a:t>为什么重要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3136392"/>
            <a:ext cx="4864607" cy="63093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00" b="0">
                <a:solidFill>
                  <a:srgbClr val="404040"/>
                </a:solidFill>
                <a:latin typeface="Microsoft YaHei"/>
              </a:defRPr>
            </a:pPr>
            <a:r>
              <a:t>没有可信 base，三方合并会退化成两边互相覆盖；冲突、删除、新增都无法准确归因。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697480"/>
            <a:ext cx="51206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2697480"/>
            <a:ext cx="73152" cy="1143000"/>
          </a:xfrm>
          <a:prstGeom prst="rect">
            <a:avLst/>
          </a:prstGeom>
          <a:solidFill>
            <a:srgbClr val="CC7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807208"/>
            <a:ext cx="4864607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A1A1B"/>
                </a:solidFill>
                <a:latin typeface="Microsoft YaHei"/>
              </a:rPr>
              <a:t>降级策略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18504" y="3136392"/>
            <a:ext cx="4864607" cy="63093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00" b="0">
                <a:solidFill>
                  <a:srgbClr val="404040"/>
                </a:solidFill>
                <a:latin typeface="Microsoft YaHei"/>
              </a:defRPr>
            </a:pPr>
            <a:r>
              <a:t>纯新建无 copyfrom 时，用首次 rev-1 并标记 inferred，保证算法有可解释边界。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777240" y="4297680"/>
          <a:ext cx="10469879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8992"/>
                <a:gridCol w="7660887"/>
              </a:tblGrid>
              <a:tr h="33147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能力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价值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copyfrom 链交叉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还原 SVN 目录分支的真实共同祖先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LCA 作为 compare base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后续冲突判定不靠猜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inferred 标记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异常分支历史可解释、可审计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3657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C00000"/>
                </a:solidFill>
                <a:latin typeface="Microsoft YaHei"/>
              </a:rPr>
              <a:t>03 Merge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A1A1B"/>
                </a:solidFill>
                <a:latin typeface="Microsoft YaHei"/>
              </a:rPr>
              <a:t>Compare 四层：文件到语义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14984"/>
            <a:ext cx="658368" cy="411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02412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47474"/>
                </a:solidFill>
                <a:latin typeface="Microsoft YaHei"/>
              </a:rPr>
              <a:t>由粗到细识别新增、删除、表头变化、行列变更、公式和 ID 冲突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8229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700" b="0">
                <a:solidFill>
                  <a:srgbClr val="747474"/>
                </a:solidFill>
                <a:latin typeface="Microsoft YaHei"/>
              </a:rPr>
              <a:t>ExcelAgent_And_Merge 转正答辩 | 吴植贤 | 2026.09.04 | 内部资料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364224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C00000"/>
                </a:solidFill>
                <a:latin typeface="Microsoft YaHei"/>
              </a:rPr>
              <a:t>23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49808" y="1508760"/>
          <a:ext cx="10561318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9997"/>
                <a:gridCol w="5221326"/>
                <a:gridCol w="3559995"/>
              </a:tblGrid>
              <a:tr h="56692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层级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比较内容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风险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文件层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新增/删除/重命名/移动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误删、漏合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Sheet 层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新增/删除 sheet、表头变化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结构不兼容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行列层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主键匹配、行增删、字段变更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行错配、字段覆盖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语义层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公式、FK 引用、ID 冲突、可合并性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假冲突、断链、公式坏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77240" y="4709160"/>
            <a:ext cx="104698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4709160"/>
            <a:ext cx="73152" cy="777240"/>
          </a:xfrm>
          <a:prstGeom prst="rect">
            <a:avLst/>
          </a:prstGeom>
          <a:solidFill>
            <a:srgbClr val="148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4818888"/>
            <a:ext cx="10213848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A1A1B"/>
                </a:solidFill>
                <a:latin typeface="Microsoft YaHei"/>
              </a:rPr>
              <a:t>关键设计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5148072"/>
            <a:ext cx="10213848" cy="265175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100" b="0">
                <a:solidFill>
                  <a:srgbClr val="404040"/>
                </a:solidFill>
                <a:latin typeface="Microsoft YaHei"/>
              </a:defRPr>
            </a:pPr>
            <a:r>
              <a:t>三方判定与多数表决共用 `_semantic_key`：把 100、100.0、"100" 归一成同值，假冲突率 0.5→0。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3657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C00000"/>
                </a:solidFill>
                <a:latin typeface="Microsoft YaHei"/>
              </a:rPr>
              <a:t>03 Merge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A1A1B"/>
                </a:solidFill>
                <a:latin typeface="Microsoft YaHei"/>
              </a:rPr>
              <a:t>大表性能：稀疏化 + 向量化 + 哈希索引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14984"/>
            <a:ext cx="658368" cy="411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02412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47474"/>
                </a:solidFill>
                <a:latin typeface="Microsoft YaHei"/>
              </a:rPr>
              <a:t>10w 行不能逐格 Python 循环，必须换数据结构和计算方式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8229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700" b="0">
                <a:solidFill>
                  <a:srgbClr val="747474"/>
                </a:solidFill>
                <a:latin typeface="Microsoft YaHei"/>
              </a:rPr>
              <a:t>ExcelAgent_And_Merge 转正答辩 | 吴植贤 | 2026.09.04 | 内部资料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364224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C00000"/>
                </a:solidFill>
                <a:latin typeface="Microsoft YaHei"/>
              </a:rPr>
              <a:t>24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417320"/>
          <a:ext cx="11109958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819"/>
                <a:gridCol w="3020183"/>
                <a:gridCol w="3128046"/>
                <a:gridCol w="3235910"/>
              </a:tblGrid>
              <a:tr h="649224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技术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before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after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效果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稀疏化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全表物化 GB 级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只物化变动行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payload 从 46.4MB 到 0.1MB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向量化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三层 Python 逐格循环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numpy 矩阵 diff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10-50x 快路径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哈希索引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list.index 线性扫描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{id(row): index}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避免 10w×100 列卡死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calamine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openpyxl 0.3-0.5s/文件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Rust 读取 ~0.1ms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222 次打开 17.5s→0.8s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66928" y="4937760"/>
            <a:ext cx="3578352" cy="914400"/>
          </a:xfrm>
          <a:prstGeom prst="roundRect">
            <a:avLst/>
          </a:prstGeom>
          <a:solidFill>
            <a:srgbClr val="F5F6F8"/>
          </a:solidFill>
          <a:ln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5038344"/>
            <a:ext cx="3358896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747474"/>
                </a:solidFill>
                <a:latin typeface="Microsoft YaHei"/>
              </a:rPr>
              <a:t>branch compare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5257800"/>
            <a:ext cx="3358896" cy="3017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C00000"/>
                </a:solidFill>
                <a:latin typeface="Microsoft YaHei"/>
              </a:rPr>
              <a:t>48s→6.4s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5614416"/>
            <a:ext cx="3358896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700" b="0">
                <a:solidFill>
                  <a:srgbClr val="404040"/>
                </a:solidFill>
                <a:latin typeface="Microsoft YaHei"/>
              </a:rPr>
              <a:t>7.5x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09872" y="4937760"/>
            <a:ext cx="3578352" cy="914400"/>
          </a:xfrm>
          <a:prstGeom prst="roundRect">
            <a:avLst/>
          </a:prstGeom>
          <a:solidFill>
            <a:srgbClr val="F5F6F8"/>
          </a:solidFill>
          <a:ln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19600" y="5038344"/>
            <a:ext cx="3358896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747474"/>
                </a:solidFill>
                <a:latin typeface="Microsoft YaHei"/>
              </a:rPr>
              <a:t>序列化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9600" y="5257800"/>
            <a:ext cx="3358896" cy="3017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2D61A0"/>
                </a:solidFill>
                <a:latin typeface="Microsoft YaHei"/>
              </a:rPr>
              <a:t>4.9s→0.3s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9600" y="5614416"/>
            <a:ext cx="3358896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700" b="0">
                <a:solidFill>
                  <a:srgbClr val="404040"/>
                </a:solidFill>
                <a:latin typeface="Microsoft YaHei"/>
              </a:rPr>
              <a:t>16x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52816" y="4937760"/>
            <a:ext cx="3578352" cy="914400"/>
          </a:xfrm>
          <a:prstGeom prst="roundRect">
            <a:avLst/>
          </a:prstGeom>
          <a:solidFill>
            <a:srgbClr val="F5F6F8"/>
          </a:solidFill>
          <a:ln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62544" y="5038344"/>
            <a:ext cx="3358896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747474"/>
                </a:solidFill>
                <a:latin typeface="Microsoft YaHei"/>
              </a:rPr>
              <a:t>阶段复算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2544" y="5257800"/>
            <a:ext cx="3358896" cy="3017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14845A"/>
                </a:solidFill>
                <a:latin typeface="Microsoft YaHei"/>
              </a:rPr>
              <a:t>31.4s→7.3s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62544" y="5614416"/>
            <a:ext cx="3358896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700" b="0">
                <a:solidFill>
                  <a:srgbClr val="404040"/>
                </a:solidFill>
                <a:latin typeface="Microsoft YaHei"/>
              </a:rPr>
              <a:t>4.3x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3657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C00000"/>
                </a:solidFill>
                <a:latin typeface="Microsoft YaHei"/>
              </a:rPr>
              <a:t>03 Merge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A1A1B"/>
                </a:solidFill>
                <a:latin typeface="Microsoft YaHei"/>
              </a:rPr>
              <a:t>安全写回：公式缓存保护 + fast_apply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14984"/>
            <a:ext cx="658368" cy="411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02412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47474"/>
                </a:solidFill>
                <a:latin typeface="Microsoft YaHei"/>
              </a:rPr>
              <a:t>只改差异单元格，避免全量读写破坏公式、样式和缓存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8229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700" b="0">
                <a:solidFill>
                  <a:srgbClr val="747474"/>
                </a:solidFill>
                <a:latin typeface="Microsoft YaHei"/>
              </a:rPr>
              <a:t>ExcelAgent_And_Merge 转正答辩 | 吴植贤 | 2026.09.04 | 内部资料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364224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C00000"/>
                </a:solidFill>
                <a:latin typeface="Microsoft YaHei"/>
              </a:rPr>
              <a:t>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2011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48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zip 扫描 &lt;f&gt;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1417320"/>
            <a:ext cx="2011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48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快照缓存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34056" y="1746504"/>
            <a:ext cx="100584" cy="0"/>
          </a:xfrm>
          <a:prstGeom prst="line">
            <a:avLst/>
          </a:prstGeom>
          <a:ln w="19050">
            <a:solidFill>
              <a:srgbClr val="1484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074920" y="1417320"/>
            <a:ext cx="2011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48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XML 直改差异格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928616" y="1746504"/>
            <a:ext cx="100584" cy="0"/>
          </a:xfrm>
          <a:prstGeom prst="line">
            <a:avLst/>
          </a:prstGeom>
          <a:ln w="19050">
            <a:solidFill>
              <a:srgbClr val="1484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269480" y="1417320"/>
            <a:ext cx="2011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48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LibreOffice 重算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123176" y="1746504"/>
            <a:ext cx="100584" cy="0"/>
          </a:xfrm>
          <a:prstGeom prst="line">
            <a:avLst/>
          </a:prstGeom>
          <a:ln w="19050">
            <a:solidFill>
              <a:srgbClr val="1484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464040" y="1417320"/>
            <a:ext cx="2011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48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二次校验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317736" y="1746504"/>
            <a:ext cx="100584" cy="0"/>
          </a:xfrm>
          <a:prstGeom prst="line">
            <a:avLst/>
          </a:prstGeom>
          <a:ln w="19050">
            <a:solidFill>
              <a:srgbClr val="1484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85800" y="2606040"/>
          <a:ext cx="10835639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237"/>
                <a:gridCol w="5106451"/>
                <a:gridCol w="2490951"/>
              </a:tblGrid>
              <a:tr h="52120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问题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解法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指标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公式与缓存值分离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zip 扫 XML &lt;f&gt; 标签，不整表读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6.1s→0.05s，约120x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openpyxl 全量 load/save 慢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fast_apply XML 直改差异格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19.6s→4.3s，3.8x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写回失败留半成品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写前备份，失败恢复/删除/rmtree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可回滚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用户选择公式版本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formula_resolved 标记写回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公式冲突可解释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3657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C00000"/>
                </a:solidFill>
                <a:latin typeface="Microsoft YaHei"/>
              </a:rPr>
              <a:t>03 Merge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A1A1B"/>
                </a:solidFill>
                <a:latin typeface="Microsoft YaHei"/>
              </a:rPr>
              <a:t>ID 重映射与引用完整性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14984"/>
            <a:ext cx="658368" cy="411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02412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47474"/>
                </a:solidFill>
                <a:latin typeface="Microsoft YaHei"/>
              </a:rPr>
              <a:t>多分支同时新增同 ID 时，不覆盖、不撞号、不留断链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8229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700" b="0">
                <a:solidFill>
                  <a:srgbClr val="747474"/>
                </a:solidFill>
                <a:latin typeface="Microsoft YaHei"/>
              </a:rPr>
              <a:t>ExcelAgent_And_Merge 转正答辩 | 吴植贤 | 2026.09.04 | 内部资料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364224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C00000"/>
                </a:solidFill>
                <a:latin typeface="Microsoft YaHei"/>
              </a:rPr>
              <a:t>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2011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C70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检测同主键新增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1417320"/>
            <a:ext cx="2011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C70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先到先得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34056" y="1746504"/>
            <a:ext cx="100584" cy="0"/>
          </a:xfrm>
          <a:prstGeom prst="line">
            <a:avLst/>
          </a:prstGeom>
          <a:ln w="19050">
            <a:solidFill>
              <a:srgbClr val="CC70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074920" y="1417320"/>
            <a:ext cx="2011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C70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后到 max+1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928616" y="1746504"/>
            <a:ext cx="100584" cy="0"/>
          </a:xfrm>
          <a:prstGeom prst="line">
            <a:avLst/>
          </a:prstGeom>
          <a:ln w="19050">
            <a:solidFill>
              <a:srgbClr val="CC70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269480" y="1417320"/>
            <a:ext cx="2011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C70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记录映射表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123176" y="1746504"/>
            <a:ext cx="100584" cy="0"/>
          </a:xfrm>
          <a:prstGeom prst="line">
            <a:avLst/>
          </a:prstGeom>
          <a:ln w="19050">
            <a:solidFill>
              <a:srgbClr val="CC70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464040" y="1417320"/>
            <a:ext cx="2011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C70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同步外键引用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317736" y="1746504"/>
            <a:ext cx="100584" cy="0"/>
          </a:xfrm>
          <a:prstGeom prst="line">
            <a:avLst/>
          </a:prstGeom>
          <a:ln w="19050">
            <a:solidFill>
              <a:srgbClr val="CC70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85800" y="2743200"/>
          <a:ext cx="10835639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2645"/>
                <a:gridCol w="5171555"/>
                <a:gridCol w="3201439"/>
              </a:tblGrid>
              <a:tr h="466344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机制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指标/价值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id_resolver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按分支标记 `(file, old_pk)` 生成新 ID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主键冲突可自动化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ref_integrity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同步更新外键引用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不留悬空 FK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src_scope_only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子目录没表不等于 trunk 删除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假删除 69→0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precommit_hold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base_ids - mergeset_ids 漏行预检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漏行命中可阻断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3657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C00000"/>
                </a:solidFill>
                <a:latin typeface="Microsoft YaHei"/>
              </a:rPr>
              <a:t>03 Merge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A1A1B"/>
                </a:solidFill>
                <a:latin typeface="Microsoft YaHei"/>
              </a:rPr>
              <a:t>AI 辅助冲突建议：只做建议，不接管核心策略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14984"/>
            <a:ext cx="658368" cy="411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02412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47474"/>
                </a:solidFill>
                <a:latin typeface="Microsoft YaHei"/>
              </a:rPr>
              <a:t>AI 进入生成型建议路径，核心 merge 判定保持纯代码确定性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8229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700" b="0">
                <a:solidFill>
                  <a:srgbClr val="747474"/>
                </a:solidFill>
                <a:latin typeface="Microsoft YaHei"/>
              </a:rPr>
              <a:t>ExcelAgent_And_Merge 转正答辩 | 吴植贤 | 2026.09.04 | 内部资料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364224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C00000"/>
                </a:solidFill>
                <a:latin typeface="Microsoft YaHei"/>
              </a:rPr>
              <a:t>27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463040"/>
          <a:ext cx="10835638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1922"/>
                <a:gridCol w="5159828"/>
                <a:gridCol w="3353888"/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机制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收益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后台预取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compare 返回后预取冲突最多前 5 sheet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用户打开时更快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批量 LLM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全部冲突格拼成一次 prompt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N 次往返 → 1 次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失败回退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批量失败时逐格并行，≤8 worker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稳定性兜底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置信度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LLM 自评 + 修订号领先 + 值域合理性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建议可排序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边界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AI 不参与列策略匹配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规则更可靠，可回归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1520" y="5212080"/>
            <a:ext cx="106984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5212080"/>
            <a:ext cx="73152" cy="502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5321808"/>
            <a:ext cx="10442448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A1A1B"/>
                </a:solidFill>
                <a:latin typeface="Microsoft YaHei"/>
              </a:rPr>
              <a:t>答辩重点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5650992"/>
            <a:ext cx="10442448" cy="-914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000" b="0">
                <a:solidFill>
                  <a:srgbClr val="404040"/>
                </a:solidFill>
                <a:latin typeface="Microsoft YaHei"/>
              </a:defRPr>
            </a:pPr>
            <a:r>
              <a:t>这不是“把合并交给 AI”，而是“机器确定性判断 + AI 给冲突解释和推荐 + 人最终确认”。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3657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C00000"/>
                </a:solidFill>
                <a:latin typeface="Microsoft YaHei"/>
              </a:rPr>
              <a:t>03 Merge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A1A1B"/>
                </a:solidFill>
                <a:latin typeface="Microsoft YaHei"/>
              </a:rPr>
              <a:t>Merge 指标汇总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14984"/>
            <a:ext cx="658368" cy="411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02412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47474"/>
                </a:solidFill>
                <a:latin typeface="Microsoft YaHei"/>
              </a:rPr>
              <a:t>性能、正确性、payload、交互延迟都有明确 before/after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8229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700" b="0">
                <a:solidFill>
                  <a:srgbClr val="747474"/>
                </a:solidFill>
                <a:latin typeface="Microsoft YaHei"/>
              </a:rPr>
              <a:t>ExcelAgent_And_Merge 转正答辩 | 吴植贤 | 2026.09.04 | 内部资料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364224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C00000"/>
                </a:solidFill>
                <a:latin typeface="Microsoft YaHei"/>
              </a:rPr>
              <a:t>28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325880"/>
          <a:ext cx="11018517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7065"/>
                <a:gridCol w="3027065"/>
                <a:gridCol w="3027065"/>
                <a:gridCol w="1937322"/>
              </a:tblGrid>
              <a:tr h="542925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指标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before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after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提升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branch compare 全表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~48s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~6.4s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7.5x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apply 处理 big_data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~19.6s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~4.3s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3.8x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apply 上传 payload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46.4MB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0.1MB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-99.8%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subdir_compare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21.8s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9.3s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2.33x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svn info 批量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N 次 svn log ~190s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一次 svn info ~0.2s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~950x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假冲突率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0.5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归零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ProcessPool 并行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3.69s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1.84s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2.0x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3657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C00000"/>
                </a:solidFill>
                <a:latin typeface="Microsoft YaHei"/>
              </a:rPr>
              <a:t>03 Merge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A1A1B"/>
                </a:solidFill>
                <a:latin typeface="Microsoft YaHei"/>
              </a:rPr>
              <a:t>前端与工作流：让工具可用，而不是只跑脚本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14984"/>
            <a:ext cx="658368" cy="411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02412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47474"/>
                </a:solidFill>
                <a:latin typeface="Microsoft YaHei"/>
              </a:rPr>
              <a:t>技术成果最终要落到策划能操作、工程能追踪的界面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8229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700" b="0">
                <a:solidFill>
                  <a:srgbClr val="747474"/>
                </a:solidFill>
                <a:latin typeface="Microsoft YaHei"/>
              </a:rPr>
              <a:t>ExcelAgent_And_Merge 转正答辩 | 吴植贤 | 2026.09.04 | 内部资料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364224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C00000"/>
                </a:solidFill>
                <a:latin typeface="Microsoft YaHei"/>
              </a:rPr>
              <a:t>29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" y="1463040"/>
          <a:ext cx="10744199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242"/>
                <a:gridCol w="4424082"/>
                <a:gridCol w="4044875"/>
              </a:tblGrid>
              <a:tr h="603504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工作流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用户看到什么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背后技术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Agent 配表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自然语言输入、确认卡、执行结果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SSE thinking 事件、结构化 intents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Merge 比对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差异行、冲突格、候选表切换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稀疏索引、增量计数、diffCandidates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冲突解决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AI 建议 + 用户确认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批量 LLM、置信度、多策略合并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写回提交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apply 进度、失败回滚、审计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fast_apply、precommit_hold、rollback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9808" y="4800600"/>
            <a:ext cx="106527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4800600"/>
            <a:ext cx="73152" cy="777240"/>
          </a:xfrm>
          <a:prstGeom prst="rect">
            <a:avLst/>
          </a:prstGeom>
          <a:solidFill>
            <a:srgbClr val="148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910328"/>
            <a:ext cx="10396728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A1A1B"/>
                </a:solidFill>
                <a:latin typeface="Microsoft YaHei"/>
              </a:rPr>
              <a:t>产品化价值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5239512"/>
            <a:ext cx="10396728" cy="265175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100" b="0">
                <a:solidFill>
                  <a:srgbClr val="404040"/>
                </a:solidFill>
                <a:latin typeface="Microsoft YaHei"/>
              </a:defRPr>
            </a:pPr>
            <a:r>
              <a:t>技术人员能看日志和审计，策划能看确认卡和冲突建议，HR 能看到这是一套能被真实流程使用的系统。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3657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C00000"/>
                </a:solidFill>
                <a:latin typeface="Microsoft YaHei"/>
              </a:rPr>
              <a:t>04 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A1A1B"/>
                </a:solidFill>
                <a:latin typeface="Microsoft YaHei"/>
              </a:rPr>
              <a:t>可靠性：回归体系和可观测性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14984"/>
            <a:ext cx="658368" cy="411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02412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47474"/>
                </a:solidFill>
                <a:latin typeface="Microsoft YaHei"/>
              </a:rPr>
              <a:t>优化得多不等于可以冒进，必须证明没有把核心链路改坏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8229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700" b="0">
                <a:solidFill>
                  <a:srgbClr val="747474"/>
                </a:solidFill>
                <a:latin typeface="Microsoft YaHei"/>
              </a:rPr>
              <a:t>ExcelAgent_And_Merge 转正答辩 | 吴植贤 | 2026.09.04 | 内部资料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364224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C00000"/>
                </a:solidFill>
                <a:latin typeface="Microsoft YaHei"/>
              </a:rPr>
              <a:t>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325880"/>
            <a:ext cx="2642615" cy="914400"/>
          </a:xfrm>
          <a:prstGeom prst="roundRect">
            <a:avLst/>
          </a:prstGeom>
          <a:solidFill>
            <a:srgbClr val="F5F6F8"/>
          </a:solidFill>
          <a:ln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1426464"/>
            <a:ext cx="2423159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747474"/>
                </a:solidFill>
                <a:latin typeface="Microsoft YaHei"/>
              </a:rPr>
              <a:t>核心回归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1645919"/>
            <a:ext cx="2423159" cy="3017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14845A"/>
                </a:solidFill>
                <a:latin typeface="Microsoft YaHei"/>
              </a:rPr>
              <a:t>180 项全过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2002536"/>
            <a:ext cx="2423159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700" b="0">
                <a:solidFill>
                  <a:srgbClr val="404040"/>
                </a:solidFill>
                <a:latin typeface="Microsoft YaHei"/>
              </a:rPr>
              <a:t>Agent109 + Merge71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74136" y="1325880"/>
            <a:ext cx="2642615" cy="914400"/>
          </a:xfrm>
          <a:prstGeom prst="roundRect">
            <a:avLst/>
          </a:prstGeom>
          <a:solidFill>
            <a:srgbClr val="F5F6F8"/>
          </a:solidFill>
          <a:ln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83864" y="1426464"/>
            <a:ext cx="2423159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747474"/>
                </a:solidFill>
                <a:latin typeface="Microsoft YaHei"/>
              </a:rPr>
              <a:t>单测规模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3864" y="1645919"/>
            <a:ext cx="2423159" cy="3017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2D61A0"/>
                </a:solidFill>
                <a:latin typeface="Microsoft YaHei"/>
              </a:rPr>
              <a:t>145→204→323+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83864" y="2002536"/>
            <a:ext cx="2423159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700" b="0">
                <a:solidFill>
                  <a:srgbClr val="404040"/>
                </a:solidFill>
                <a:latin typeface="Microsoft YaHei"/>
              </a:rPr>
              <a:t>零回归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1325880"/>
            <a:ext cx="2642615" cy="914400"/>
          </a:xfrm>
          <a:prstGeom prst="roundRect">
            <a:avLst/>
          </a:prstGeom>
          <a:solidFill>
            <a:srgbClr val="F5F6F8"/>
          </a:solidFill>
          <a:ln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1072" y="1426464"/>
            <a:ext cx="2423159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747474"/>
                </a:solidFill>
                <a:latin typeface="Microsoft YaHei"/>
              </a:rPr>
              <a:t>skill 定位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1645919"/>
            <a:ext cx="2423159" cy="3017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C00000"/>
                </a:solidFill>
                <a:latin typeface="Microsoft YaHei"/>
              </a:rPr>
              <a:t>6 轮 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2002536"/>
            <a:ext cx="2423159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700" b="0">
                <a:solidFill>
                  <a:srgbClr val="404040"/>
                </a:solidFill>
                <a:latin typeface="Microsoft YaHei"/>
              </a:rPr>
              <a:t>确定性集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88552" y="1325880"/>
            <a:ext cx="2642615" cy="914400"/>
          </a:xfrm>
          <a:prstGeom prst="roundRect">
            <a:avLst/>
          </a:prstGeom>
          <a:solidFill>
            <a:srgbClr val="F5F6F8"/>
          </a:solidFill>
          <a:ln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98280" y="1426464"/>
            <a:ext cx="2423159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747474"/>
                </a:solidFill>
                <a:latin typeface="Microsoft YaHei"/>
              </a:rPr>
              <a:t>复杂样例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1645919"/>
            <a:ext cx="2423159" cy="3017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CC7023"/>
                </a:solidFill>
                <a:latin typeface="Microsoft YaHei"/>
              </a:rPr>
              <a:t>6/6 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002536"/>
            <a:ext cx="2423159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700" b="0">
                <a:solidFill>
                  <a:srgbClr val="404040"/>
                </a:solidFill>
                <a:latin typeface="Microsoft YaHei"/>
              </a:rPr>
              <a:t>每例 LLM 19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777240" y="2971800"/>
          <a:ext cx="10469879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1444"/>
                <a:gridCol w="7238435"/>
              </a:tblGrid>
              <a:tr h="42976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可观测点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用途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Step1 audit / thinking 事件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看见候选表、保留/丢弃 intent、字段补漏原因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结构化 failures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失败归因到 step_id、错误类型、根因和建议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merge audit / precommit_hold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写回前发现漏行、写回后可追踪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benchmark reports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性能数据有来源，有日期，有边界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3657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C00000"/>
                </a:solidFill>
                <a:latin typeface="Microsoft YaHei"/>
              </a:rPr>
              <a:t>04 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A1A1B"/>
                </a:solidFill>
                <a:latin typeface="Microsoft YaHei"/>
              </a:rPr>
              <a:t>创新点收束：双引擎共用的工程哲学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14984"/>
            <a:ext cx="658368" cy="411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02412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47474"/>
                </a:solidFill>
                <a:latin typeface="Microsoft YaHei"/>
              </a:rPr>
              <a:t>不是堆 prompt，而是把不确定性圈在边界内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8229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700" b="0">
                <a:solidFill>
                  <a:srgbClr val="747474"/>
                </a:solidFill>
                <a:latin typeface="Microsoft YaHei"/>
              </a:rPr>
              <a:t>ExcelAgent_And_Merge 转正答辩 | 吴植贤 | 2026.09.04 | 内部资料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364224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C00000"/>
                </a:solidFill>
                <a:latin typeface="Microsoft YaHei"/>
              </a:rPr>
              <a:t>31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234440"/>
          <a:ext cx="11064239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1586"/>
                <a:gridCol w="4102471"/>
                <a:gridCol w="6340182"/>
              </a:tblGrid>
              <a:tr h="436418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#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创新点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解决的问题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RAG/BM25 补召回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规则写不全时补语义近邻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schema 注入 + 语义计划编译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杜绝幻觉列，输出可执行计划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produces/consumes + 拓扑排序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跨表依赖不靠模型记忆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L0/L1/L2 校验漏斗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约 80% 错误零 LLM 拦截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反模式自学习 + mini_regression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失败沉淀但防学坏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6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SVN LCA 反查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目录分支也能三方合并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语义归一 + 稀疏化 + 向量化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大表快、假冲突少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8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fast_apply + 公式缓存保护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安全写回不破坏公式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ID 重映射 + 引用完整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新增冲突不留断链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3642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10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AI 批量建议边界化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AI 提效但不接管确定性策略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3657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C00000"/>
                </a:solidFill>
                <a:latin typeface="Microsoft YaHei"/>
              </a:rPr>
              <a:t>04 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A1A1B"/>
                </a:solidFill>
                <a:latin typeface="Microsoft YaHei"/>
              </a:rPr>
              <a:t>不同评审听到的价值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14984"/>
            <a:ext cx="658368" cy="411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02412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47474"/>
                </a:solidFill>
                <a:latin typeface="Microsoft YaHei"/>
              </a:rPr>
              <a:t>主线服务技术答辩，同时让 HR 和策划能建立信任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8229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700" b="0">
                <a:solidFill>
                  <a:srgbClr val="747474"/>
                </a:solidFill>
                <a:latin typeface="Microsoft YaHei"/>
              </a:rPr>
              <a:t>ExcelAgent_And_Merge 转正答辩 | 吴植贤 | 2026.09.04 | 内部资料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364224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C00000"/>
                </a:solidFill>
                <a:latin typeface="Microsoft YaHei"/>
              </a:rPr>
              <a:t>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333756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417320"/>
            <a:ext cx="73152" cy="3291840"/>
          </a:xfrm>
          <a:prstGeom prst="rect">
            <a:avLst/>
          </a:prstGeom>
          <a:solidFill>
            <a:srgbClr val="2D6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1527048"/>
            <a:ext cx="3081528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A1A1B"/>
                </a:solidFill>
                <a:latin typeface="Microsoft YaHei"/>
              </a:rPr>
              <a:t>技术人员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" y="1856232"/>
            <a:ext cx="3081528" cy="277977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100" b="0">
                <a:solidFill>
                  <a:srgbClr val="404040"/>
                </a:solidFill>
                <a:latin typeface="Microsoft YaHei"/>
              </a:defRPr>
            </a:pPr>
            <a:r>
              <a:t>架构职责隔离：4-Step + compare/resolve/apply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100" b="0">
                <a:solidFill>
                  <a:srgbClr val="404040"/>
                </a:solidFill>
                <a:latin typeface="Microsoft YaHei"/>
              </a:defRPr>
            </a:pPr>
            <a:r>
              <a:t>关键算法：LCA、拓扑、语义归一、向量化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100" b="0">
                <a:solidFill>
                  <a:srgbClr val="404040"/>
                </a:solidFill>
                <a:latin typeface="Microsoft YaHei"/>
              </a:defRPr>
            </a:pPr>
            <a:r>
              <a:t>工程质量：回归、审计、回滚、边界清楚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100" b="0">
                <a:solidFill>
                  <a:srgbClr val="404040"/>
                </a:solidFill>
                <a:latin typeface="Microsoft YaHei"/>
              </a:defRPr>
            </a:pPr>
            <a:r>
              <a:t>成本控制：零 LLM 主路径与批量调用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17320"/>
            <a:ext cx="333756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417320"/>
            <a:ext cx="73152" cy="3291840"/>
          </a:xfrm>
          <a:prstGeom prst="rect">
            <a:avLst/>
          </a:prstGeom>
          <a:solidFill>
            <a:srgbClr val="148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527048"/>
            <a:ext cx="3081528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A1A1B"/>
                </a:solidFill>
                <a:latin typeface="Microsoft YaHei"/>
              </a:rPr>
              <a:t>策划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1856232"/>
            <a:ext cx="3081528" cy="277977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100" b="0">
                <a:solidFill>
                  <a:srgbClr val="404040"/>
                </a:solidFill>
                <a:latin typeface="Microsoft YaHei"/>
              </a:defRPr>
            </a:pPr>
            <a:r>
              <a:t>自然语言表达需求，不必记住所有表和字段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100" b="0">
                <a:solidFill>
                  <a:srgbClr val="404040"/>
                </a:solidFill>
                <a:latin typeface="Microsoft YaHei"/>
              </a:defRPr>
            </a:pPr>
            <a:r>
              <a:t>写错会被提示，关键冲突有人机确认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100" b="0">
                <a:solidFill>
                  <a:srgbClr val="404040"/>
                </a:solidFill>
                <a:latin typeface="Microsoft YaHei"/>
              </a:defRPr>
            </a:pPr>
            <a:r>
              <a:t>多人改表时不靠手工逐格核对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100" b="0">
                <a:solidFill>
                  <a:srgbClr val="404040"/>
                </a:solidFill>
                <a:latin typeface="Microsoft YaHei"/>
              </a:defRPr>
            </a:pPr>
            <a:r>
              <a:t>系统给建议，人保留最终决策权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417320"/>
            <a:ext cx="333756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417320"/>
            <a:ext cx="73152" cy="32918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1" y="1527048"/>
            <a:ext cx="3081528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A1A1B"/>
                </a:solidFill>
                <a:latin typeface="Microsoft YaHei"/>
              </a:rPr>
              <a:t>HR / 管理者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1856232"/>
            <a:ext cx="3081528" cy="277977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100" b="0">
                <a:solidFill>
                  <a:srgbClr val="404040"/>
                </a:solidFill>
                <a:latin typeface="Microsoft YaHei"/>
              </a:defRPr>
            </a:pPr>
            <a:r>
              <a:t>不是一次 demo，而是可持续维护的系统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100" b="0">
                <a:solidFill>
                  <a:srgbClr val="404040"/>
                </a:solidFill>
                <a:latin typeface="Microsoft YaHei"/>
              </a:defRPr>
            </a:pPr>
            <a:r>
              <a:t>关键指标可量化：7.5x、-99.8%、180 项回归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100" b="0">
                <a:solidFill>
                  <a:srgbClr val="404040"/>
                </a:solidFill>
                <a:latin typeface="Microsoft YaHei"/>
              </a:defRPr>
            </a:pPr>
            <a:r>
              <a:t>实习贡献覆盖架构、性能、质量、产品化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100" b="0">
                <a:solidFill>
                  <a:srgbClr val="404040"/>
                </a:solidFill>
                <a:latin typeface="Microsoft YaHei"/>
              </a:defRPr>
            </a:pPr>
            <a:r>
              <a:t>能主动说明风险和后续计划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3657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C00000"/>
                </a:solidFill>
                <a:latin typeface="Microsoft YaHei"/>
              </a:rPr>
              <a:t>04 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A1A1B"/>
                </a:solidFill>
                <a:latin typeface="Microsoft YaHei"/>
              </a:rPr>
              <a:t>已知边界：主动说清楚，才可信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14984"/>
            <a:ext cx="658368" cy="411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02412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47474"/>
                </a:solidFill>
                <a:latin typeface="Microsoft YaHei"/>
              </a:rPr>
              <a:t>答辩中要把目标值、实测值、外部阻塞和后续计划分开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8229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700" b="0">
                <a:solidFill>
                  <a:srgbClr val="747474"/>
                </a:solidFill>
                <a:latin typeface="Microsoft YaHei"/>
              </a:rPr>
              <a:t>ExcelAgent_And_Merge 转正答辩 | 吴植贤 | 2026.09.04 | 内部资料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364224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C00000"/>
                </a:solidFill>
                <a:latin typeface="Microsoft YaHei"/>
              </a:rPr>
              <a:t>33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325880"/>
          <a:ext cx="11109959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4575"/>
                <a:gridCol w="4860607"/>
                <a:gridCol w="3934777"/>
              </a:tblGrid>
              <a:tr h="7086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边界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当前状态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答辩口径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Agent &lt;90s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设计目标；复杂跨表受外部 codemaker serve 阻塞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讲 LLM -80% 已落地，&lt;90s 不包装成实测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RAG A/B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能力已上线，A/B 差值报告在途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讲已量化索引化和 column_matcher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ProcessPool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worker 隔离未完全启用，demo_svn 回退 ThreadPool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讲清楚卡死保护和待办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bench_v1 modify/delete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部分 ok=false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作为后续优化点，不隐瞒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新鲜复跑 1.06x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当前快照 rev 全不同，未触发跳过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与历史 64/74 跳过不矛盾，按日期引用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3657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C00000"/>
                </a:solidFill>
                <a:latin typeface="Microsoft YaHei"/>
              </a:rPr>
              <a:t>04 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A1A1B"/>
                </a:solidFill>
                <a:latin typeface="Microsoft YaHei"/>
              </a:rPr>
              <a:t>后续优化方向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14984"/>
            <a:ext cx="658368" cy="411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02412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47474"/>
                </a:solidFill>
                <a:latin typeface="Microsoft YaHei"/>
              </a:rPr>
              <a:t>围绕输入容错、并行隔离、可观测与评测闭环继续推进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8229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700" b="0">
                <a:solidFill>
                  <a:srgbClr val="747474"/>
                </a:solidFill>
                <a:latin typeface="Microsoft YaHei"/>
              </a:rPr>
              <a:t>ExcelAgent_And_Merge 转正答辩 | 吴植贤 | 2026.09.04 | 内部资料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364224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C00000"/>
                </a:solidFill>
                <a:latin typeface="Microsoft YaHei"/>
              </a:rPr>
              <a:t>34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417320"/>
          <a:ext cx="10835638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9728"/>
                <a:gridCol w="5113448"/>
                <a:gridCol w="3652462"/>
              </a:tblGrid>
              <a:tr h="5867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方向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内容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预期收益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输入容错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枚举口语化、资源缺必填字段兜底、跨段省略主语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减少人工反问和误路由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并行隔离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ProcessPool worker 模块完全隔离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解除当前回退 ThreadPool 的限制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评测闭环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RAG on/off A/B、更多 e2e 数据、持续 benchmark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每个优化都有同集 before/after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产品体验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确认卡聚合、冲突建议解释、审计可视化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技术能力转化为策划可用流程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安全边界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权限、白名单、危险操作二次确认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进入生产前降低误操作风险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1520" y="5212080"/>
            <a:ext cx="106984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5212080"/>
            <a:ext cx="73152" cy="502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5321808"/>
            <a:ext cx="10442448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A1A1B"/>
                </a:solidFill>
                <a:latin typeface="Microsoft YaHei"/>
              </a:rPr>
              <a:t>下一阶段目标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5650992"/>
            <a:ext cx="10442448" cy="-914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000" b="0">
                <a:solidFill>
                  <a:srgbClr val="404040"/>
                </a:solidFill>
                <a:latin typeface="Microsoft YaHei"/>
              </a:defRPr>
            </a:pPr>
            <a:r>
              <a:t>把“能跑通”继续推进到“更快、更稳、更少反问、更适合生产接入”。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3657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C00000"/>
                </a:solidFill>
                <a:latin typeface="Microsoft YaHei"/>
              </a:rPr>
              <a:t>04 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A1A1B"/>
                </a:solidFill>
                <a:latin typeface="Microsoft YaHei"/>
              </a:rPr>
              <a:t>个人贡献与成长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14984"/>
            <a:ext cx="658368" cy="411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02412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47474"/>
                </a:solidFill>
                <a:latin typeface="Microsoft YaHei"/>
              </a:rPr>
              <a:t>转正答辩重点：我解决了什么复杂问题，沉淀了什么工程能力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8229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700" b="0">
                <a:solidFill>
                  <a:srgbClr val="747474"/>
                </a:solidFill>
                <a:latin typeface="Microsoft YaHei"/>
              </a:rPr>
              <a:t>ExcelAgent_And_Merge 转正答辩 | 吴植贤 | 2026.09.04 | 内部资料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364224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C00000"/>
                </a:solidFill>
                <a:latin typeface="Microsoft YaHei"/>
              </a:rPr>
              <a:t>35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371600"/>
          <a:ext cx="11018518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3837"/>
                <a:gridCol w="5040386"/>
                <a:gridCol w="4454295"/>
              </a:tblGrid>
              <a:tr h="7086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维度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贡献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成长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架构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将单 agent/6 步线性演进为 4-Step 职责隔离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能用架构拆解不确定性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算法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落地 LCA、拓扑排序、语义归一、稀疏 diff、ID 重映射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能把业务问题抽象为确定性算法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性能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推动 compare 7.5x、apply 3.8x、payload -99.8%、LLM -80%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能定位瓶颈并做分层归因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质量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建立回归、审计、失败归因、自学习门控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能对系统长期可靠性负责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协作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同时面向技术、策划、HR 表达价值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能把工程成果讲成业务可理解的成果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3657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C00000"/>
                </a:solidFill>
                <a:latin typeface="Microsoft YaHei"/>
              </a:rPr>
              <a:t>04 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A1A1B"/>
                </a:solidFill>
                <a:latin typeface="Microsoft YaHei"/>
              </a:rPr>
              <a:t>答辩可能追问与回答锚点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14984"/>
            <a:ext cx="658368" cy="411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02412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47474"/>
                </a:solidFill>
                <a:latin typeface="Microsoft YaHei"/>
              </a:rPr>
              <a:t>提前准备高频问题，避免现场被打散主线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8229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700" b="0">
                <a:solidFill>
                  <a:srgbClr val="747474"/>
                </a:solidFill>
                <a:latin typeface="Microsoft YaHei"/>
              </a:rPr>
              <a:t>ExcelAgent_And_Merge 转正答辩 | 吴植贤 | 2026.09.04 | 内部资料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364224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C00000"/>
                </a:solidFill>
                <a:latin typeface="Microsoft YaHei"/>
              </a:rPr>
              <a:t>36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417320"/>
          <a:ext cx="11064239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8431"/>
                <a:gridCol w="7215808"/>
              </a:tblGrid>
              <a:tr h="6705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问题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回答锚点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为什么不是直接让 LLM 写表？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LLM 负责理解，schema/规则/拓扑/事务负责确定性，写盘零 LLM。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如何证明不是 demo？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180 项核心回归、323+ 单测、复杂样例 6/6、性能报告有路径。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AI 建议会不会乱合？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AI 只做建议，核心 merge 策略纯代码，最终用户确认。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最大技术难点是什么？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SVN 无 merge-base 的 LCA 反查，以及跨表依赖从模型记忆转为契约。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最大遗留风险是什么？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复杂语义和外部 LLM 服务阻塞；已经用串行稳定基线、可观测和后续 A/B 计划控制。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3657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C00000"/>
                </a:solidFill>
                <a:latin typeface="Microsoft YaHei"/>
              </a:rPr>
              <a:t>04 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A1A1B"/>
                </a:solidFill>
                <a:latin typeface="Microsoft YaHei"/>
              </a:rPr>
              <a:t>数据来源与口径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14984"/>
            <a:ext cx="658368" cy="411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02412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47474"/>
                </a:solidFill>
                <a:latin typeface="Microsoft YaHei"/>
              </a:rPr>
              <a:t>所有指标来自仓库内报告或脚本输出，关键边界在页内标注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8229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700" b="0">
                <a:solidFill>
                  <a:srgbClr val="747474"/>
                </a:solidFill>
                <a:latin typeface="Microsoft YaHei"/>
              </a:rPr>
              <a:t>ExcelAgent_And_Merge 转正答辩 | 吴植贤 | 2026.09.04 | 内部资料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364224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C00000"/>
                </a:solidFill>
                <a:latin typeface="Microsoft YaHei"/>
              </a:rPr>
              <a:t>37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417320"/>
          <a:ext cx="10835639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3968"/>
                <a:gridCol w="7141671"/>
              </a:tblGrid>
              <a:tr h="485775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数据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来源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性能与评测单一事实源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PERF_DATA_SUMMARY.md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逐页讲稿与 45min 结构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ExcelAgent-4Step答辩PPT逐页脚本.md / docs/答辩PPT内容文档-45min.md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端到端优化全程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docs/archive/优化全过程.md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Merge 性能报告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merge/scripts/benchmark_report.md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真实 LLM e2e 诊断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docs/bench_failure_fix_requirements.md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最新 merge 复跑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server/tests/reports/bench_merge_before_after_latest.json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路由层 bench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server/tests/reports/merge_router_bench_latest.json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1520" y="5532120"/>
            <a:ext cx="1069848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5532120"/>
            <a:ext cx="73152" cy="457200"/>
          </a:xfrm>
          <a:prstGeom prst="rect">
            <a:avLst/>
          </a:prstGeom>
          <a:solidFill>
            <a:srgbClr val="CC7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5641848"/>
            <a:ext cx="10442448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A1A1B"/>
                </a:solidFill>
                <a:latin typeface="Microsoft YaHei"/>
              </a:rPr>
              <a:t>口径铁律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5971031"/>
            <a:ext cx="10442448" cy="-5486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000" b="0">
                <a:solidFill>
                  <a:srgbClr val="404040"/>
                </a:solidFill>
                <a:latin typeface="Microsoft YaHei"/>
              </a:defRPr>
            </a:pPr>
            <a:r>
              <a:t>不同样例集不可横比；所有“提升”只讲同集 before→after；目标值与实测值必须分开。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40280"/>
            <a:ext cx="8686800" cy="7315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icrosoft YaHe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9536" y="3063240"/>
            <a:ext cx="859536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0">
                <a:solidFill>
                  <a:srgbClr val="E6E6E6"/>
                </a:solidFill>
                <a:latin typeface="Microsoft YaHei"/>
              </a:rPr>
              <a:t>模型负责理解，规则负责约束，代码负责确定性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3840480"/>
            <a:ext cx="804672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DCDCDC"/>
                </a:solidFill>
                <a:latin typeface="Microsoft YaHei"/>
              </a:rPr>
              <a:t>Excel-Agent × Merge：让配表从“人肉经验活”走向“可校验、可回归、可合并”的工程系统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2760" y="6263640"/>
            <a:ext cx="73152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1500" b="1">
                <a:solidFill>
                  <a:srgbClr val="FFFFFF"/>
                </a:solidFill>
                <a:latin typeface="Microsoft YaHei"/>
              </a:rPr>
              <a:t>38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