
<file path=[Content_Types].xml><?xml version="1.0" encoding="utf-8"?>
<Types xmlns="http://schemas.openxmlformats.org/package/2006/content-types">
  <Default Extension="jpeg" ContentType="image/jpeg"/>
  <Default Extension="JPG" ContentType="image/.jpg"/>
  <Default Extension="tiff" ContentType="image/tiff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4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36"/>
  </p:handoutMasterIdLst>
  <p:sldIdLst>
    <p:sldId id="468" r:id="rId3"/>
    <p:sldId id="339" r:id="rId5"/>
    <p:sldId id="284" r:id="rId6"/>
    <p:sldId id="426" r:id="rId7"/>
    <p:sldId id="427" r:id="rId8"/>
    <p:sldId id="471" r:id="rId9"/>
    <p:sldId id="434" r:id="rId10"/>
    <p:sldId id="474" r:id="rId11"/>
    <p:sldId id="435" r:id="rId12"/>
    <p:sldId id="464" r:id="rId13"/>
    <p:sldId id="472" r:id="rId14"/>
    <p:sldId id="466" r:id="rId15"/>
    <p:sldId id="465" r:id="rId16"/>
    <p:sldId id="467" r:id="rId17"/>
    <p:sldId id="437" r:id="rId18"/>
    <p:sldId id="439" r:id="rId19"/>
    <p:sldId id="441" r:id="rId20"/>
    <p:sldId id="475" r:id="rId21"/>
    <p:sldId id="484" r:id="rId22"/>
    <p:sldId id="476" r:id="rId23"/>
    <p:sldId id="477" r:id="rId24"/>
    <p:sldId id="483" r:id="rId25"/>
    <p:sldId id="456" r:id="rId26"/>
    <p:sldId id="470" r:id="rId27"/>
    <p:sldId id="453" r:id="rId28"/>
    <p:sldId id="445" r:id="rId29"/>
    <p:sldId id="446" r:id="rId30"/>
    <p:sldId id="459" r:id="rId31"/>
    <p:sldId id="461" r:id="rId32"/>
    <p:sldId id="462" r:id="rId33"/>
    <p:sldId id="451" r:id="rId34"/>
    <p:sldId id="371" r:id="rId35"/>
  </p:sldIdLst>
  <p:sldSz cx="12192000" cy="6858000"/>
  <p:notesSz cx="6858000" cy="9144000"/>
  <p:custDataLst>
    <p:tags r:id="rId4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徐小欢" initials="徐小欢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0D0B"/>
    <a:srgbClr val="C21C1C"/>
    <a:srgbClr val="CB1313"/>
    <a:srgbClr val="DB1F1F"/>
    <a:srgbClr val="E12F2F"/>
    <a:srgbClr val="1A1A1B"/>
    <a:srgbClr val="313134"/>
    <a:srgbClr val="181819"/>
    <a:srgbClr val="A50A09"/>
    <a:srgbClr val="DF39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浅色样式 1 - 强调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61"/>
    <p:restoredTop sz="94270" autoAdjust="0"/>
  </p:normalViewPr>
  <p:slideViewPr>
    <p:cSldViewPr snapToGrid="0">
      <p:cViewPr varScale="1">
        <p:scale>
          <a:sx n="108" d="100"/>
          <a:sy n="108" d="100"/>
        </p:scale>
        <p:origin x="1026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1" Type="http://schemas.openxmlformats.org/officeDocument/2006/relationships/tags" Target="tags/tag50.xml"/><Relationship Id="rId40" Type="http://schemas.openxmlformats.org/officeDocument/2006/relationships/commentAuthors" Target="commentAuthors.xml"/><Relationship Id="rId4" Type="http://schemas.openxmlformats.org/officeDocument/2006/relationships/notesMaster" Target="notesMasters/notesMaster1.xml"/><Relationship Id="rId39" Type="http://schemas.openxmlformats.org/officeDocument/2006/relationships/tableStyles" Target="tableStyles.xml"/><Relationship Id="rId38" Type="http://schemas.openxmlformats.org/officeDocument/2006/relationships/viewProps" Target="viewProps.xml"/><Relationship Id="rId37" Type="http://schemas.openxmlformats.org/officeDocument/2006/relationships/presProps" Target="presProps.xml"/><Relationship Id="rId36" Type="http://schemas.openxmlformats.org/officeDocument/2006/relationships/handoutMaster" Target="handoutMasters/handoutMaster1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zh-CN" altLang="en-US"/>
              <a:t>网易内部资料，请勿外传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26E12E-97A2-40B7-A362-065E30B989D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zh-CN" altLang="en-US"/>
              <a:t>网易内部资料，请勿外传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43C561-CBA4-45D6-BD55-1C5FFEC034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659CD4FC-624D-AB4E-9533-E6A468B0E056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zh-CN" altLang="en-US"/>
              <a:t>编辑母版文本样式
第二级
第三级
第四级
第五级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8D024F85-CB1C-7445-9B98-7B8479DF2CF8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microsoft.com/office/2007/relationships/hdphoto" Target="../media/image7.wdp"/><Relationship Id="rId4" Type="http://schemas.openxmlformats.org/officeDocument/2006/relationships/image" Target="../media/image6.png"/><Relationship Id="rId3" Type="http://schemas.microsoft.com/office/2007/relationships/hdphoto" Target="../media/image5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2533" y="0"/>
            <a:ext cx="12204533" cy="6858000"/>
          </a:xfrm>
          <a:prstGeom prst="rect">
            <a:avLst/>
          </a:prstGeom>
        </p:spPr>
      </p:pic>
      <p:sp>
        <p:nvSpPr>
          <p:cNvPr id="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热爱"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169819" y="0"/>
            <a:ext cx="12018615" cy="6858000"/>
            <a:chOff x="63375" y="-155701"/>
            <a:chExt cx="12018615" cy="6858000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20"/>
            <a:stretch>
              <a:fillRect/>
            </a:stretch>
          </p:blipFill>
          <p:spPr>
            <a:xfrm>
              <a:off x="63375" y="-155701"/>
              <a:ext cx="5800210" cy="6013009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6736" y="876394"/>
              <a:ext cx="5145254" cy="5825905"/>
            </a:xfrm>
            <a:prstGeom prst="rect">
              <a:avLst/>
            </a:prstGeom>
          </p:spPr>
        </p:pic>
      </p:grpSp>
      <p:sp>
        <p:nvSpPr>
          <p:cNvPr id="7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大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8" name="灯片编号占位符 5"/>
          <p:cNvSpPr txBox="1"/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9" name="文本框 8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背景-黑色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image" Target="../media/image10.tiff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notesSlide" Target="../notesSlides/notesSlide2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3.png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3.xml"/><Relationship Id="rId8" Type="http://schemas.openxmlformats.org/officeDocument/2006/relationships/tags" Target="../tags/tag22.xml"/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image" Target="../media/image15.svg"/><Relationship Id="rId16" Type="http://schemas.openxmlformats.org/officeDocument/2006/relationships/notesSlide" Target="../notesSlides/notesSlide3.xml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28.xml"/><Relationship Id="rId13" Type="http://schemas.openxmlformats.org/officeDocument/2006/relationships/tags" Target="../tags/tag27.xml"/><Relationship Id="rId12" Type="http://schemas.openxmlformats.org/officeDocument/2006/relationships/tags" Target="../tags/tag26.xml"/><Relationship Id="rId11" Type="http://schemas.openxmlformats.org/officeDocument/2006/relationships/tags" Target="../tags/tag25.xml"/><Relationship Id="rId10" Type="http://schemas.openxmlformats.org/officeDocument/2006/relationships/tags" Target="../tags/tag24.xml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8.svg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29.xml"/><Relationship Id="rId2" Type="http://schemas.openxmlformats.org/officeDocument/2006/relationships/image" Target="../media/image19.svg"/><Relationship Id="rId1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image" Target="../media/image20.svg"/><Relationship Id="rId1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svg"/><Relationship Id="rId1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32.xml"/><Relationship Id="rId2" Type="http://schemas.openxmlformats.org/officeDocument/2006/relationships/image" Target="../media/image21.svg"/><Relationship Id="rId1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1.svg"/><Relationship Id="rId1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33.xml"/><Relationship Id="rId2" Type="http://schemas.openxmlformats.org/officeDocument/2006/relationships/image" Target="../media/image21.svg"/><Relationship Id="rId1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34.xml"/><Relationship Id="rId2" Type="http://schemas.openxmlformats.org/officeDocument/2006/relationships/image" Target="../media/image21.svg"/><Relationship Id="rId1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35.xml"/><Relationship Id="rId2" Type="http://schemas.openxmlformats.org/officeDocument/2006/relationships/image" Target="../media/image19.svg"/><Relationship Id="rId1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36.xml"/><Relationship Id="rId2" Type="http://schemas.openxmlformats.org/officeDocument/2006/relationships/image" Target="../media/image19.svg"/><Relationship Id="rId1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svg"/><Relationship Id="rId1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7.xml"/><Relationship Id="rId2" Type="http://schemas.openxmlformats.org/officeDocument/2006/relationships/image" Target="../media/image19.svg"/><Relationship Id="rId1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8.xml"/><Relationship Id="rId2" Type="http://schemas.openxmlformats.org/officeDocument/2006/relationships/image" Target="../media/image21.svg"/><Relationship Id="rId1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svg"/><Relationship Id="rId1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svg"/><Relationship Id="rId1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9.xml"/><Relationship Id="rId2" Type="http://schemas.openxmlformats.org/officeDocument/2006/relationships/image" Target="../media/image21.svg"/><Relationship Id="rId1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7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43.xml"/><Relationship Id="rId4" Type="http://schemas.openxmlformats.org/officeDocument/2006/relationships/tags" Target="../tags/tag42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1.svg"/><Relationship Id="rId1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5.png"/><Relationship Id="rId3" Type="http://schemas.openxmlformats.org/officeDocument/2006/relationships/tags" Target="../tags/tag44.xml"/><Relationship Id="rId2" Type="http://schemas.openxmlformats.org/officeDocument/2006/relationships/image" Target="../media/image24.svg"/><Relationship Id="rId1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0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45.xml"/><Relationship Id="rId2" Type="http://schemas.openxmlformats.org/officeDocument/2006/relationships/image" Target="../media/image26.svg"/><Relationship Id="rId1" Type="http://schemas.openxmlformats.org/officeDocument/2006/relationships/image" Target="../media/image14.png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1.xml"/><Relationship Id="rId2" Type="http://schemas.openxmlformats.org/officeDocument/2006/relationships/tags" Target="../tags/tag47.xml"/><Relationship Id="rId1" Type="http://schemas.openxmlformats.org/officeDocument/2006/relationships/tags" Target="../tags/tag4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4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image" Target="../media/image27.svg"/><Relationship Id="rId1" Type="http://schemas.openxmlformats.org/officeDocument/2006/relationships/image" Target="../media/image14.png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5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9.svg"/><Relationship Id="rId1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0" y="2680382"/>
            <a:ext cx="12191999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配表助手</a:t>
            </a:r>
            <a:endParaRPr lang="zh-CN" altLang="en-US" sz="6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494155" y="3690620"/>
            <a:ext cx="93097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kumimoji="1" lang="zh-CN" altLang="en-US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自然语言驱动配表</a:t>
            </a:r>
            <a:r>
              <a:rPr kumimoji="1" lang="en-US" altLang="zh-CN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kumimoji="1" lang="zh-CN" altLang="en-US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三方合并</a:t>
            </a:r>
            <a:r>
              <a:rPr kumimoji="1" lang="en-US" altLang="zh-CN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2000" spc="1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721980" y="4293258"/>
            <a:ext cx="453165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吴植贤</a:t>
            </a:r>
            <a:endParaRPr kumimoji="1" lang="en-US" altLang="zh-CN" sz="16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kumimoji="1" lang="en-US" altLang="zh-CN" sz="1600" dirty="0">
                <a:solidFill>
                  <a:schemeClr val="bg1"/>
                </a:solidFill>
                <a:latin typeface="+mj-ea"/>
                <a:ea typeface="+mj-ea"/>
              </a:rPr>
              <a:t>2026</a:t>
            </a:r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年</a:t>
            </a:r>
            <a:r>
              <a:rPr kumimoji="1" lang="en-US" altLang="zh-CN" sz="1600" dirty="0">
                <a:solidFill>
                  <a:schemeClr val="bg1"/>
                </a:solidFill>
                <a:latin typeface="+mj-ea"/>
                <a:ea typeface="+mj-ea"/>
              </a:rPr>
              <a:t>9</a:t>
            </a:r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月</a:t>
            </a:r>
            <a:r>
              <a:rPr kumimoji="1" lang="en-US" altLang="zh-CN" sz="16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日</a:t>
            </a:r>
            <a:endParaRPr kumimoji="1" lang="zh-CN" altLang="en-US" sz="16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11" name="直线连接符 10"/>
          <p:cNvCxnSpPr/>
          <p:nvPr/>
        </p:nvCxnSpPr>
        <p:spPr>
          <a:xfrm>
            <a:off x="1608060" y="4363295"/>
            <a:ext cx="0" cy="413100"/>
          </a:xfrm>
          <a:prstGeom prst="line">
            <a:avLst/>
          </a:prstGeom>
          <a:ln w="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/>
        </p:nvGrpSpPr>
        <p:grpSpPr>
          <a:xfrm>
            <a:off x="1582645" y="2194103"/>
            <a:ext cx="1377981" cy="393832"/>
            <a:chOff x="1870051" y="-461450"/>
            <a:chExt cx="1377981" cy="393832"/>
          </a:xfrm>
        </p:grpSpPr>
        <p:sp>
          <p:nvSpPr>
            <p:cNvPr id="15" name="对角圆角矩形 14"/>
            <p:cNvSpPr/>
            <p:nvPr/>
          </p:nvSpPr>
          <p:spPr>
            <a:xfrm>
              <a:off x="1870051" y="-461450"/>
              <a:ext cx="1377981" cy="393832"/>
            </a:xfrm>
            <a:prstGeom prst="round2DiagRect">
              <a:avLst>
                <a:gd name="adj1" fmla="val 4901"/>
                <a:gd name="adj2" fmla="val 4289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928491" y="-461450"/>
              <a:ext cx="1319541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900" spc="300" dirty="0">
                  <a:solidFill>
                    <a:srgbClr val="A30B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规范模版</a:t>
              </a:r>
              <a:endParaRPr kumimoji="1" lang="zh-CN" altLang="en-US" sz="1900" spc="300" dirty="0">
                <a:solidFill>
                  <a:srgbClr val="A30B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700" cy="127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1360785" y="666305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>
            <p:custDataLst>
              <p:tags r:id="rId1"/>
            </p:custDataLst>
          </p:nvPr>
        </p:nvGrpSpPr>
        <p:grpSpPr>
          <a:xfrm>
            <a:off x="787620" y="2029437"/>
            <a:ext cx="1957218" cy="2326895"/>
            <a:chOff x="2372291" y="6696934"/>
            <a:chExt cx="1957218" cy="2179449"/>
          </a:xfrm>
        </p:grpSpPr>
        <p:sp>
          <p:nvSpPr>
            <p:cNvPr id="59" name="文本框 58"/>
            <p:cNvSpPr txBox="1"/>
            <p:nvPr>
              <p:custDataLst>
                <p:tags r:id="rId2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文本框 65"/>
            <p:cNvSpPr txBox="1"/>
            <p:nvPr>
              <p:custDataLst>
                <p:tags r:id="rId3"/>
              </p:custDataLst>
            </p:nvPr>
          </p:nvSpPr>
          <p:spPr>
            <a:xfrm>
              <a:off x="2544134" y="7941893"/>
              <a:ext cx="1590114" cy="402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业务背景</a:t>
              </a:r>
              <a:endPara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文本框 66"/>
            <p:cNvSpPr txBox="1"/>
            <p:nvPr>
              <p:custDataLst>
                <p:tags r:id="rId4"/>
              </p:custDataLst>
            </p:nvPr>
          </p:nvSpPr>
          <p:spPr>
            <a:xfrm>
              <a:off x="2372291" y="8324157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19" name="组合 18"/>
          <p:cNvGrpSpPr/>
          <p:nvPr>
            <p:custDataLst>
              <p:tags r:id="rId5"/>
            </p:custDataLst>
          </p:nvPr>
        </p:nvGrpSpPr>
        <p:grpSpPr>
          <a:xfrm>
            <a:off x="3452372" y="2029437"/>
            <a:ext cx="2399665" cy="2348485"/>
            <a:chOff x="2186871" y="6696934"/>
            <a:chExt cx="2399665" cy="2199671"/>
          </a:xfrm>
        </p:grpSpPr>
        <p:sp>
          <p:nvSpPr>
            <p:cNvPr id="20" name="文本框 19"/>
            <p:cNvSpPr txBox="1"/>
            <p:nvPr>
              <p:custDataLst>
                <p:tags r:id="rId6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框 20"/>
            <p:cNvSpPr txBox="1"/>
            <p:nvPr>
              <p:custDataLst>
                <p:tags r:id="rId7"/>
              </p:custDataLst>
            </p:nvPr>
          </p:nvSpPr>
          <p:spPr>
            <a:xfrm>
              <a:off x="2186871" y="7942962"/>
              <a:ext cx="2399665" cy="402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实现方案</a:t>
              </a:r>
              <a:endPara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/>
            <p:cNvSpPr txBox="1"/>
            <p:nvPr>
              <p:custDataLst>
                <p:tags r:id="rId8"/>
              </p:custDataLst>
            </p:nvPr>
          </p:nvSpPr>
          <p:spPr>
            <a:xfrm>
              <a:off x="2458016" y="8344379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23" name="组合 22"/>
          <p:cNvGrpSpPr/>
          <p:nvPr>
            <p:custDataLst>
              <p:tags r:id="rId9"/>
            </p:custDataLst>
          </p:nvPr>
        </p:nvGrpSpPr>
        <p:grpSpPr>
          <a:xfrm>
            <a:off x="6487964" y="2029437"/>
            <a:ext cx="1999615" cy="2774315"/>
            <a:chOff x="2372291" y="6696934"/>
            <a:chExt cx="1999615" cy="2598518"/>
          </a:xfrm>
        </p:grpSpPr>
        <p:sp>
          <p:nvSpPr>
            <p:cNvPr id="25" name="文本框 24"/>
            <p:cNvSpPr txBox="1"/>
            <p:nvPr>
              <p:custDataLst>
                <p:tags r:id="rId10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文本框 25"/>
            <p:cNvSpPr txBox="1"/>
            <p:nvPr>
              <p:custDataLst>
                <p:tags r:id="rId11"/>
              </p:custDataLst>
            </p:nvPr>
          </p:nvSpPr>
          <p:spPr>
            <a:xfrm>
              <a:off x="2372291" y="7941772"/>
              <a:ext cx="1999615" cy="13536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成果数据</a:t>
              </a:r>
              <a:r>
                <a:rPr kumimoji="1" lang="en-US" altLang="zh-CN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			</a:t>
              </a:r>
              <a:endParaRPr kumimoji="1" lang="en-US" altLang="zh-CN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文本框 26"/>
            <p:cNvSpPr txBox="1"/>
            <p:nvPr>
              <p:custDataLst>
                <p:tags r:id="rId12"/>
              </p:custDataLst>
            </p:nvPr>
          </p:nvSpPr>
          <p:spPr>
            <a:xfrm>
              <a:off x="2372291" y="8324157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28" name="组合 27"/>
          <p:cNvGrpSpPr/>
          <p:nvPr>
            <p:custDataLst>
              <p:tags r:id="rId13"/>
            </p:custDataLst>
          </p:nvPr>
        </p:nvGrpSpPr>
        <p:grpSpPr>
          <a:xfrm>
            <a:off x="9338136" y="2029437"/>
            <a:ext cx="1957218" cy="2326895"/>
            <a:chOff x="2372291" y="6696934"/>
            <a:chExt cx="1957218" cy="2179449"/>
          </a:xfrm>
        </p:grpSpPr>
        <p:sp>
          <p:nvSpPr>
            <p:cNvPr id="29" name="文本框 28"/>
            <p:cNvSpPr txBox="1"/>
            <p:nvPr>
              <p:custDataLst>
                <p:tags r:id="rId14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/>
            <p:cNvSpPr txBox="1"/>
            <p:nvPr>
              <p:custDataLst>
                <p:tags r:id="rId15"/>
              </p:custDataLst>
            </p:nvPr>
          </p:nvSpPr>
          <p:spPr>
            <a:xfrm>
              <a:off x="2544134" y="7941893"/>
              <a:ext cx="1590114" cy="402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总结</a:t>
              </a:r>
              <a:r>
                <a:rPr kumimoji="1" lang="en-US" altLang="zh-CN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Demo</a:t>
              </a:r>
              <a:endParaRPr kumimoji="1" lang="en-US" altLang="zh-CN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文本框 30"/>
            <p:cNvSpPr txBox="1"/>
            <p:nvPr>
              <p:custDataLst>
                <p:tags r:id="rId16"/>
              </p:custDataLst>
            </p:nvPr>
          </p:nvSpPr>
          <p:spPr>
            <a:xfrm>
              <a:off x="2372291" y="8324157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pic>
        <p:nvPicPr>
          <p:cNvPr id="18" name="图形 1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目录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34440" y="1325880"/>
            <a:ext cx="9418320" cy="2026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noAutofit/>
          </a:bodyPr>
          <a:lstStyle/>
          <a:p>
            <a:pPr>
              <a:lnSpc>
                <a:spcPct val="258000"/>
              </a:lnSpc>
              <a:defRPr sz="22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01 业务背景与任务目标</a:t>
            </a:r>
          </a:p>
          <a:p>
            <a:pPr>
              <a:lnSpc>
                <a:spcPct val="258000"/>
              </a:lnSpc>
              <a:defRPr sz="22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02 Excel-Agent：4-Step 多 Agent 配表流水线</a:t>
            </a:r>
          </a:p>
          <a:p>
            <a:pPr>
              <a:lnSpc>
                <a:spcPct val="258000"/>
              </a:lnSpc>
              <a:defRPr sz="22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03 Merge：面向 SVN 目录分支的三方合并</a:t>
            </a:r>
          </a:p>
          <a:p>
            <a:pPr>
              <a:lnSpc>
                <a:spcPct val="258000"/>
              </a:lnSpc>
              <a:defRPr sz="22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/>
              <a:t>04 </a:t>
            </a:r>
            <a:r>
              <a:rPr lang="zh-CN" altLang="en-US"/>
              <a:t>总结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2240280"/>
            <a:ext cx="9966960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ctr">
              <a:lnSpc>
                <a:spcPct val="115000"/>
              </a:lnSpc>
              <a:defRPr sz="3600" b="1">
                <a:solidFill>
                  <a:srgbClr val="C00000"/>
                </a:solidFill>
                <a:latin typeface="微软雅黑" panose="020B0503020204020204" pitchFamily="34" charset="-122"/>
              </a:defRPr>
            </a:pPr>
            <a:r>
              <a:t>一、业务背景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3127248"/>
            <a:ext cx="91440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复杂 Excel 配表不是单表编辑问题，而是跨表、跨目录、跨版本的一致性工程。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4" name="表格 2"/>
          <p:cNvGraphicFramePr>
            <a:graphicFrameLocks noGrp="1"/>
          </p:cNvGraphicFramePr>
          <p:nvPr/>
        </p:nvGraphicFramePr>
        <p:xfrm>
          <a:off x="960120" y="2162810"/>
          <a:ext cx="9351645" cy="424053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133475"/>
                <a:gridCol w="4580890"/>
                <a:gridCol w="36372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存在问题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后果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215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Merge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过程出现漏行丢数据情况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数据会静默消失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27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跨分支编号冲突，多分支创作过程新建同一编号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后提交的进行了覆盖导致线上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bug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21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公式缓存丢失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编表会出现输出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0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或者空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7327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改表慢、易错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效率低、易漏外键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AI 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误写不可逆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写坏数据找不回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8890" y="69113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业务背景：真实配表的复杂性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1047115" y="3084830"/>
          <a:ext cx="8986520" cy="324040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089025"/>
                <a:gridCol w="4401820"/>
                <a:gridCol w="3495675"/>
              </a:tblGrid>
              <a:tr h="4425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存在问题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后果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5943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Merge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过程出现漏行丢数据情况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数据会静默消失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594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跨分支编号冲突，多分支创作过程新建同一编号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后提交的进行了覆盖导致线上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bug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公式缓存丢失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编表会出现输出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0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或者空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改表慢、易错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效率低、易漏外键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5880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AI 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误写不可逆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写坏数据找不回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>
            <p:custDataLst>
              <p:tags r:id="rId3"/>
            </p:custDataLst>
          </p:nvPr>
        </p:nvSpPr>
        <p:spPr>
          <a:xfrm>
            <a:off x="685800" y="1508760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>
            <p:custDataLst>
              <p:tags r:id="rId4"/>
            </p:custDataLst>
          </p:nvPr>
        </p:nvSpPr>
        <p:spPr>
          <a:xfrm>
            <a:off x="685800" y="1508760"/>
            <a:ext cx="73152" cy="12344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850392" y="1618488"/>
            <a:ext cx="3081528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>
                <a:solidFill>
                  <a:srgbClr val="1A1A1B"/>
                </a:solidFill>
                <a:latin typeface="微软雅黑" panose="020B0503020204020204" pitchFamily="34" charset="-122"/>
              </a:rPr>
              <a:t>规模复杂</a:t>
            </a:r>
            <a:endParaRPr sz="1300" b="1">
              <a:solidFill>
                <a:srgbClr val="1A1A1B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832104" y="1947672"/>
            <a:ext cx="3081528" cy="5168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defRPr sz="1200" b="0">
                <a:solidFill>
                  <a:srgbClr val="404040"/>
                </a:solidFill>
                <a:latin typeface="微软雅黑" panose="020B0503020204020204" pitchFamily="34" charset="-122"/>
              </a:defRPr>
            </a:pPr>
            <a:r>
              <a:t>表多、字段多、跨表引用密集；</a:t>
            </a:r>
          </a:p>
          <a:p>
            <a:pPr>
              <a:lnSpc>
                <a:spcPct val="105000"/>
              </a:lnSpc>
              <a:spcAft>
                <a:spcPts val="300"/>
              </a:spcAft>
              <a:defRPr sz="1200" b="0">
                <a:solidFill>
                  <a:srgbClr val="404040"/>
                </a:solidFill>
                <a:latin typeface="微软雅黑" panose="020B0503020204020204" pitchFamily="34" charset="-122"/>
              </a:defRPr>
            </a:pPr>
            <a:r>
              <a:t>活动、奖励、技能、NPC、刷新点常跨多表。</a:t>
            </a:r>
          </a:p>
        </p:txBody>
      </p:sp>
      <p:sp>
        <p:nvSpPr>
          <p:cNvPr id="12" name="Rounded Rectangle 11"/>
          <p:cNvSpPr/>
          <p:nvPr>
            <p:custDataLst>
              <p:tags r:id="rId7"/>
            </p:custDataLst>
          </p:nvPr>
        </p:nvSpPr>
        <p:spPr>
          <a:xfrm>
            <a:off x="4389120" y="1508760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>
            <p:custDataLst>
              <p:tags r:id="rId8"/>
            </p:custDataLst>
          </p:nvPr>
        </p:nvSpPr>
        <p:spPr>
          <a:xfrm>
            <a:off x="4389120" y="1508760"/>
            <a:ext cx="73152" cy="1234440"/>
          </a:xfrm>
          <a:prstGeom prst="rect">
            <a:avLst/>
          </a:prstGeom>
          <a:solidFill>
            <a:srgbClr val="2D6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4553712" y="1618488"/>
            <a:ext cx="3081528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>
                <a:solidFill>
                  <a:srgbClr val="1A1A1B"/>
                </a:solidFill>
                <a:latin typeface="微软雅黑" panose="020B0503020204020204" pitchFamily="34" charset="-122"/>
              </a:rPr>
              <a:t>表达复杂</a:t>
            </a:r>
            <a:endParaRPr sz="1300" b="1">
              <a:solidFill>
                <a:srgbClr val="1A1A1B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10"/>
            </p:custDataLst>
          </p:nvPr>
        </p:nvSpPr>
        <p:spPr>
          <a:xfrm>
            <a:off x="4535424" y="1947672"/>
            <a:ext cx="3081528" cy="47815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defRPr sz="1200" b="0">
                <a:solidFill>
                  <a:srgbClr val="404040"/>
                </a:solidFill>
                <a:latin typeface="微软雅黑" panose="020B0503020204020204" pitchFamily="34" charset="-122"/>
              </a:defRPr>
            </a:pPr>
            <a:r>
              <a:t>用自然语言描述目标，</a:t>
            </a:r>
            <a:r>
              <a:t>通常不会精确写表名、列名、枚举值和外键链。</a:t>
            </a:r>
          </a:p>
        </p:txBody>
      </p:sp>
      <p:sp>
        <p:nvSpPr>
          <p:cNvPr id="3" name="Rounded Rectangle 15"/>
          <p:cNvSpPr/>
          <p:nvPr>
            <p:custDataLst>
              <p:tags r:id="rId11"/>
            </p:custDataLst>
          </p:nvPr>
        </p:nvSpPr>
        <p:spPr>
          <a:xfrm>
            <a:off x="8092440" y="1508760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16"/>
          <p:cNvSpPr/>
          <p:nvPr>
            <p:custDataLst>
              <p:tags r:id="rId12"/>
            </p:custDataLst>
          </p:nvPr>
        </p:nvSpPr>
        <p:spPr>
          <a:xfrm>
            <a:off x="8092440" y="1508760"/>
            <a:ext cx="73152" cy="1234440"/>
          </a:xfrm>
          <a:prstGeom prst="rect">
            <a:avLst/>
          </a:prstGeom>
          <a:solidFill>
            <a:srgbClr val="CC7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17"/>
          <p:cNvSpPr txBox="1"/>
          <p:nvPr>
            <p:custDataLst>
              <p:tags r:id="rId13"/>
            </p:custDataLst>
          </p:nvPr>
        </p:nvSpPr>
        <p:spPr>
          <a:xfrm>
            <a:off x="8257031" y="1618488"/>
            <a:ext cx="3081528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>
                <a:solidFill>
                  <a:srgbClr val="1A1A1B"/>
                </a:solidFill>
                <a:latin typeface="微软雅黑" panose="020B0503020204020204" pitchFamily="34" charset="-122"/>
              </a:rPr>
              <a:t>协作复杂</a:t>
            </a:r>
            <a:endParaRPr sz="1300" b="1">
              <a:solidFill>
                <a:srgbClr val="1A1A1B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TextBox 18"/>
          <p:cNvSpPr txBox="1"/>
          <p:nvPr>
            <p:custDataLst>
              <p:tags r:id="rId14"/>
            </p:custDataLst>
          </p:nvPr>
        </p:nvSpPr>
        <p:spPr>
          <a:xfrm>
            <a:off x="8238744" y="1947672"/>
            <a:ext cx="3081528" cy="722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  <a:defRPr sz="1200" b="0">
                <a:solidFill>
                  <a:srgbClr val="404040"/>
                </a:solidFill>
                <a:latin typeface="微软雅黑" panose="020B0503020204020204" pitchFamily="34" charset="-122"/>
              </a:defRPr>
            </a:pPr>
            <a:r>
              <a:t>SVN 目录分支和外链并存；多人并行改 Excel，人工合并容易漏行、丢公式。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任务目标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1047115" y="1543050"/>
          <a:ext cx="10144760" cy="205486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924685"/>
                <a:gridCol w="4371975"/>
                <a:gridCol w="3848100"/>
              </a:tblGrid>
              <a:tr h="4425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引擎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目标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关键约束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16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Excel-Agent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输入自然语言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-&gt;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结构化意图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+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多表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配表</a:t>
                      </a:r>
                      <a:endParaRPr lang="zh-CN" alt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存在校验、可执行、可跟踪的结构化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意图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401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Merge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目标目录分支模式实现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Excel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三方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保护公式、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ID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引用、冲突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可解释性</a:t>
                      </a:r>
                      <a:endParaRPr lang="zh-CN" alt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4100" y="3908425"/>
            <a:ext cx="4845685" cy="21412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2240280"/>
            <a:ext cx="9966960" cy="7086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ctr">
              <a:lnSpc>
                <a:spcPct val="115000"/>
              </a:lnSpc>
              <a:defRPr sz="3600" b="1">
                <a:solidFill>
                  <a:srgbClr val="C00000"/>
                </a:solidFill>
                <a:latin typeface="微软雅黑" panose="020B0503020204020204" pitchFamily="34" charset="-122"/>
              </a:defRPr>
            </a:pPr>
            <a:r>
              <a:t>二、</a:t>
            </a:r>
            <a:r>
              <a:rPr lang="en-US"/>
              <a:t>4Step Excel-Agent</a:t>
            </a:r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234440" y="3127248"/>
            <a:ext cx="9144000" cy="42608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89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Excel-Agent 总体定位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135" y="1170305"/>
            <a:ext cx="10553700" cy="83375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Excel-Agent是面向用户提供复杂输入，能够将复杂输入进行解析，正确应用到表格的一个工具，不要求用户先知道表名和字段名。</a:t>
            </a: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系统先定位候选表，再让 LLM 在真实 schema 下拆解 JSON，随后由规则层做质量门禁。</a:t>
            </a: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最终目标是</a:t>
            </a:r>
            <a:r>
              <a:rPr sz="1400">
                <a:highlight>
                  <a:srgbClr val="FFFF00"/>
                </a:highlight>
              </a:rPr>
              <a:t>让 Step1 的 JSON 足够</a:t>
            </a:r>
            <a:r>
              <a:rPr lang="zh-CN" sz="1400">
                <a:highlight>
                  <a:srgbClr val="FFFF00"/>
                </a:highlight>
              </a:rPr>
              <a:t>准确</a:t>
            </a:r>
            <a:r>
              <a:rPr sz="1400"/>
              <a:t>，因为后续 Step2/Step3/Step4 都依赖它。</a:t>
            </a:r>
            <a:endParaRPr sz="1400"/>
          </a:p>
        </p:txBody>
      </p:sp>
      <p:sp>
        <p:nvSpPr>
          <p:cNvPr id="2" name="TextBox 20"/>
          <p:cNvSpPr txBox="1"/>
          <p:nvPr/>
        </p:nvSpPr>
        <p:spPr>
          <a:xfrm>
            <a:off x="699389" y="2413762"/>
            <a:ext cx="10058400" cy="105092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b="1"/>
              <a:t>架构总览：</a:t>
            </a:r>
            <a:endParaRPr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LangGraph 编排 TableAgent 4-Ste</a:t>
            </a:r>
            <a:r>
              <a:rPr lang="en-US"/>
              <a:t>p,</a:t>
            </a:r>
            <a:r>
              <a:rPr lang="zh-CN" altLang="en-US"/>
              <a:t>具体如下：</a:t>
            </a:r>
            <a:endParaRPr lang="zh-CN" altLang="en-US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/>
          </a:p>
        </p:txBody>
      </p:sp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699135" y="3176905"/>
          <a:ext cx="7781290" cy="305308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3082925"/>
                <a:gridCol w="4698365"/>
              </a:tblGrid>
              <a:tr h="54356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Step</a:t>
                      </a:r>
                      <a:endParaRPr lang="en-US" altLang="zh-CN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职责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627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、解析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对输入执行：分段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-&gt;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定位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-&gt;schema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注入拆解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-&gt;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语义计划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编译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7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、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校验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根据业务规则进行字段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类型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依赖等的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校验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7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、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执行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依赖顺序确定性写盘、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ID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分配、引用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回填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627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、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变更归纳、错误总结、自学习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反模式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Prompt</a:t>
            </a:r>
            <a:r>
              <a:rPr lang="zh-CN" altLang="en-US"/>
              <a:t>工程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9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836930" y="1051560"/>
          <a:ext cx="9067165" cy="296164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353945"/>
                <a:gridCol w="4077970"/>
                <a:gridCol w="2635250"/>
              </a:tblGrid>
              <a:tr h="37338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组件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内容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作用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4318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角色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设定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设定为</a:t>
                      </a: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Excel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配表拆解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限定任务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边界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18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真实</a:t>
                      </a: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schema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注入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表名、</a:t>
                      </a: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sheet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、列名、类型、外键</a:t>
                      </a: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FK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等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防止出现幻觉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字段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输出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格式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json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后续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json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格式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可执行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11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反例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约束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约束不输出不存在列，不把叙述碎片当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字段值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降低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污染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示例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给出跨表引用的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例子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提升结构稳定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性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4311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截断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策略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只注入</a:t>
                      </a: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schema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降低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token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使用，防止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超时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" name="文本框 1"/>
          <p:cNvSpPr txBox="1"/>
          <p:nvPr/>
        </p:nvSpPr>
        <p:spPr>
          <a:xfrm>
            <a:off x="0" y="0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755015" y="5575300"/>
            <a:ext cx="99148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graphicFrame>
        <p:nvGraphicFramePr>
          <p:cNvPr id="4" name="表格 3"/>
          <p:cNvGraphicFramePr/>
          <p:nvPr/>
        </p:nvGraphicFramePr>
        <p:xfrm>
          <a:off x="870585" y="4208145"/>
          <a:ext cx="9736455" cy="2203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5485"/>
                <a:gridCol w="3245485"/>
                <a:gridCol w="3245485"/>
              </a:tblGrid>
              <a:tr h="44069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优化</a:t>
                      </a:r>
                      <a:r>
                        <a:rPr lang="zh-CN" altLang="en-US"/>
                        <a:t>点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优化前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优化</a:t>
                      </a:r>
                      <a:r>
                        <a:rPr lang="zh-CN" altLang="en-US"/>
                        <a:t>后</a:t>
                      </a:r>
                      <a:endParaRPr lang="zh-CN" altLang="en-US"/>
                    </a:p>
                  </a:txBody>
                  <a:tcPr/>
                </a:tc>
              </a:tr>
              <a:tr h="4406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Prompt</a:t>
                      </a:r>
                      <a:r>
                        <a:rPr lang="zh-CN" altLang="en-US"/>
                        <a:t>上下文</a:t>
                      </a:r>
                      <a:r>
                        <a:rPr lang="zh-CN" altLang="en-US"/>
                        <a:t>缩减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全量表索引</a:t>
                      </a:r>
                      <a:r>
                        <a:rPr lang="en-US" altLang="zh-CN"/>
                        <a:t>76.11</a:t>
                      </a:r>
                      <a:r>
                        <a:rPr lang="en-US" altLang="zh-CN"/>
                        <a:t>MB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单任务聚焦</a:t>
                      </a:r>
                      <a:r>
                        <a:rPr lang="en-US" altLang="zh-CN"/>
                        <a:t>schema510</a:t>
                      </a:r>
                      <a:r>
                        <a:rPr lang="zh-CN" altLang="en-US"/>
                        <a:t>字符，约</a:t>
                      </a:r>
                      <a:r>
                        <a:rPr lang="en-US" altLang="zh-CN"/>
                        <a:t>159</a:t>
                      </a:r>
                      <a:r>
                        <a:rPr lang="en-US" altLang="zh-CN"/>
                        <a:t>token</a:t>
                      </a:r>
                      <a:endParaRPr lang="en-US" altLang="zh-CN"/>
                    </a:p>
                  </a:txBody>
                  <a:tcPr/>
                </a:tc>
              </a:tr>
              <a:tr h="44069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输出格式</a:t>
                      </a:r>
                      <a:r>
                        <a:rPr lang="zh-CN" altLang="en-US"/>
                        <a:t>约束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自由文本，解析</a:t>
                      </a:r>
                      <a:r>
                        <a:rPr lang="zh-CN" altLang="en-US"/>
                        <a:t>不稳定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固定</a:t>
                      </a:r>
                      <a:r>
                        <a:rPr lang="en-US" altLang="zh-CN"/>
                        <a:t>JSON</a:t>
                      </a:r>
                      <a:r>
                        <a:rPr lang="zh-CN" altLang="en-US"/>
                        <a:t>，可执行</a:t>
                      </a:r>
                      <a:r>
                        <a:rPr lang="zh-CN" altLang="en-US"/>
                        <a:t>可校验</a:t>
                      </a: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-54610" y="69113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Step1：全链路的核心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914" y="1051687"/>
            <a:ext cx="10058400" cy="431482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/>
              <a:t>Step1</a:t>
            </a:r>
            <a:r>
              <a:rPr lang="zh-CN" altLang="en-US"/>
              <a:t>：自然语言</a:t>
            </a:r>
            <a:r>
              <a:rPr lang="en-US" altLang="zh-CN"/>
              <a:t>-&gt;</a:t>
            </a:r>
            <a:r>
              <a:rPr lang="zh-CN" altLang="en-US" b="1"/>
              <a:t>可执行计划</a:t>
            </a:r>
            <a:r>
              <a:rPr lang="en-US" altLang="zh-CN" b="1"/>
              <a:t>intent</a:t>
            </a:r>
            <a:endParaRPr lang="en-US" altLang="zh-CN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b="1"/>
              <a:t>技术</a:t>
            </a:r>
            <a:r>
              <a:rPr lang="zh-CN" altLang="en-US" b="1"/>
              <a:t>内容</a:t>
            </a: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</p:txBody>
      </p:sp>
      <p:graphicFrame>
        <p:nvGraphicFramePr>
          <p:cNvPr id="59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708660" y="2193925"/>
          <a:ext cx="4420235" cy="251333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11630"/>
                <a:gridCol w="2808605"/>
              </a:tblGrid>
              <a:tr h="3308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操作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说明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3816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分段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规则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分段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290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候选表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定位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规则</a:t>
                      </a:r>
                      <a:r>
                        <a:rPr lang="en-US" altLang="zh-CN" sz="14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+</a:t>
                      </a:r>
                      <a:r>
                        <a:rPr lang="zh-CN" altLang="en-US" sz="14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检索</a:t>
                      </a:r>
                      <a:r>
                        <a:rPr lang="en-US" altLang="zh-CN" sz="14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+</a:t>
                      </a:r>
                      <a:r>
                        <a:rPr lang="zh-CN" altLang="en-US" sz="14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关系扩展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16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schema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注入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注入真实表头、类型和</a:t>
                      </a: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FK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816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LLM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拆解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DecomposeAgent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输出结构化</a:t>
                      </a: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intents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816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produces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推断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FK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图</a:t>
                      </a: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+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主键规则，建立起跨表依赖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关系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" name="文本框 1"/>
          <p:cNvSpPr txBox="1"/>
          <p:nvPr/>
        </p:nvSpPr>
        <p:spPr>
          <a:xfrm>
            <a:off x="0" y="0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755015" y="5575300"/>
            <a:ext cx="99148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graphicFrame>
        <p:nvGraphicFramePr>
          <p:cNvPr id="4" name="表格 3"/>
          <p:cNvGraphicFramePr/>
          <p:nvPr>
            <p:custDataLst>
              <p:tags r:id="rId4"/>
            </p:custDataLst>
          </p:nvPr>
        </p:nvGraphicFramePr>
        <p:xfrm>
          <a:off x="5784215" y="2193925"/>
          <a:ext cx="5612765" cy="2940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182370"/>
                <a:gridCol w="1212215"/>
                <a:gridCol w="2176780"/>
              </a:tblGrid>
              <a:tr h="52324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指标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before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after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说明</a:t>
                      </a:r>
                      <a:endParaRPr lang="zh-CN" altLang="en-US" sz="1600"/>
                    </a:p>
                  </a:txBody>
                  <a:tcPr/>
                </a:tc>
              </a:tr>
              <a:tr h="60388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定位</a:t>
                      </a:r>
                      <a:r>
                        <a:rPr lang="zh-CN" altLang="en-US" sz="1600"/>
                        <a:t>功能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0.6667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0.8056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+20.8%</a:t>
                      </a:r>
                      <a:endParaRPr lang="en-US" altLang="zh-CN" sz="1600"/>
                    </a:p>
                  </a:txBody>
                  <a:tcPr/>
                </a:tc>
              </a:tr>
              <a:tr h="6045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覆盖度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0.6111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0.7500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+22.7%</a:t>
                      </a:r>
                      <a:endParaRPr lang="en-US" altLang="zh-CN" sz="1600"/>
                    </a:p>
                  </a:txBody>
                  <a:tcPr/>
                </a:tc>
              </a:tr>
              <a:tr h="6045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平均耗时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82236ms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98637ms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校验使用更多时间</a:t>
                      </a:r>
                      <a:endParaRPr lang="zh-CN" altLang="en-US" sz="1600"/>
                    </a:p>
                  </a:txBody>
                  <a:tcPr/>
                </a:tc>
              </a:tr>
              <a:tr h="6045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相应</a:t>
                      </a:r>
                      <a:r>
                        <a:rPr lang="en-US" altLang="zh-CN" sz="1600"/>
                        <a:t>ok</a:t>
                      </a:r>
                      <a:r>
                        <a:rPr lang="zh-CN" altLang="en-US" sz="1600"/>
                        <a:t>率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0.8333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0.3333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主动拒错</a:t>
                      </a:r>
                      <a:endParaRPr lang="zh-CN" altLang="en-US" sz="16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5668645" y="1790065"/>
            <a:ext cx="20199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指标优化</a:t>
            </a:r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/>
              <a:t>增强：</a:t>
            </a:r>
            <a:r>
              <a:rPr lang="en-US" altLang="zh-CN"/>
              <a:t>LocatorAgent</a:t>
            </a:r>
            <a:r>
              <a:rPr lang="zh-CN" altLang="en-US"/>
              <a:t>三级定位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36258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600"/>
              <a:t>定位方式：优先规则</a:t>
            </a:r>
            <a:r>
              <a:rPr lang="en-US" altLang="zh-CN" sz="1600"/>
              <a:t>-&gt;</a:t>
            </a:r>
            <a:r>
              <a:rPr lang="zh-CN" altLang="en-US" sz="1600"/>
              <a:t>检索</a:t>
            </a:r>
            <a:r>
              <a:rPr lang="en-US" altLang="zh-CN" sz="1600"/>
              <a:t>-&gt;</a:t>
            </a:r>
            <a:r>
              <a:rPr lang="zh-CN" altLang="en-US" sz="1600"/>
              <a:t>关系扩展，当出现歧义时由模型裁决，旨在</a:t>
            </a:r>
            <a:r>
              <a:rPr lang="zh-CN" altLang="en-US" sz="1600" b="1"/>
              <a:t>表名实现模糊匹配</a:t>
            </a:r>
            <a:endParaRPr lang="zh-CN" altLang="en-US" sz="1600" b="1"/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786130" y="1630045"/>
          <a:ext cx="9900285" cy="311848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78330"/>
                <a:gridCol w="4265930"/>
                <a:gridCol w="3756025"/>
              </a:tblGrid>
              <a:tr h="36893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通道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作用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L1 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规则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通道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表名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中文表头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别名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字段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关键词</a:t>
                      </a:r>
                      <a:endParaRPr lang="zh-CN" alt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直接命中可以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零成本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004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L2 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模糊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通道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rapidfuzz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混合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指标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拼写、命名等变体兜底</a:t>
                      </a:r>
                      <a:endParaRPr lang="zh-CN" alt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0231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L3 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关系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扩展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外键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(FK)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一跳进行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扩展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命中主表带上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绑定表</a:t>
                      </a:r>
                      <a:endParaRPr lang="zh-CN" alt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L4 </a:t>
                      </a: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RAG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BM25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语义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召回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规则未命中时补召回语义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近邻</a:t>
                      </a:r>
                      <a:endParaRPr lang="zh-CN" alt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/>
              <a:t>增强：</a:t>
            </a:r>
            <a:r>
              <a:rPr lang="en-US" altLang="zh-CN"/>
              <a:t>LocatorAgent</a:t>
            </a:r>
            <a:r>
              <a:rPr lang="zh-CN" altLang="en-US"/>
              <a:t>三级定位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文本框 2"/>
          <p:cNvSpPr txBox="1"/>
          <p:nvPr/>
        </p:nvSpPr>
        <p:spPr>
          <a:xfrm>
            <a:off x="590550" y="1175385"/>
            <a:ext cx="106216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rapidfuzz</a:t>
            </a:r>
            <a:r>
              <a:rPr lang="zh-CN" altLang="en-US"/>
              <a:t>混合</a:t>
            </a:r>
            <a:r>
              <a:rPr lang="zh-CN" altLang="en-US"/>
              <a:t>指标：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rapidfuzz_score=WRatio*0.5+token_set_ratio*0.3+partical_ratio*0.2</a:t>
            </a:r>
            <a:endParaRPr lang="en-US" altLang="zh-CN"/>
          </a:p>
        </p:txBody>
      </p:sp>
      <p:graphicFrame>
        <p:nvGraphicFramePr>
          <p:cNvPr id="2" name="表格 1"/>
          <p:cNvGraphicFramePr/>
          <p:nvPr>
            <p:custDataLst>
              <p:tags r:id="rId3"/>
            </p:custDataLst>
          </p:nvPr>
        </p:nvGraphicFramePr>
        <p:xfrm>
          <a:off x="590550" y="2252980"/>
          <a:ext cx="890143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696595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指标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作用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WRatio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综合编辑距离、长度差、部分匹配，适合通用</a:t>
                      </a:r>
                      <a:r>
                        <a:rPr lang="zh-CN" altLang="en-US"/>
                        <a:t>相似度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token_set_ratio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忽略词序和</a:t>
                      </a:r>
                      <a:r>
                        <a:rPr lang="zh-CN" altLang="en-US"/>
                        <a:t>重复词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partical_ratio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长字段里包含短查询时仍能够</a:t>
                      </a:r>
                      <a:r>
                        <a:rPr lang="zh-CN" altLang="en-US"/>
                        <a:t>命中</a:t>
                      </a: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表格 2"/>
          <p:cNvGraphicFramePr>
            <a:graphicFrameLocks noGrp="1"/>
          </p:cNvGraphicFramePr>
          <p:nvPr/>
        </p:nvGraphicFramePr>
        <p:xfrm>
          <a:off x="604520" y="4062095"/>
          <a:ext cx="9679940" cy="152019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36420"/>
                <a:gridCol w="4171315"/>
                <a:gridCol w="3672205"/>
              </a:tblGrid>
              <a:tr h="22288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指标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纯</a:t>
                      </a:r>
                      <a:r>
                        <a:rPr lang="en-US" altLang="zh-CN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rapidfuzz C++</a:t>
                      </a:r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算子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编辑距离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计算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2781.54</a:t>
                      </a:r>
                      <a:r>
                        <a:rPr 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ms</a:t>
                      </a:r>
                      <a:endParaRPr 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192.16ms</a:t>
                      </a:r>
                      <a:endParaRPr lang="en-US" altLang="zh-CN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单次匹配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平均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0.0093</a:t>
                      </a:r>
                      <a:r>
                        <a:rPr 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ms</a:t>
                      </a:r>
                      <a:endParaRPr 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0.0006ms</a:t>
                      </a:r>
                      <a:endParaRPr lang="en-US" altLang="zh-CN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/>
              <a:t>增强：</a:t>
            </a:r>
            <a:r>
              <a:rPr lang="en-US" altLang="zh-CN"/>
              <a:t>DecomposeAgent schema</a:t>
            </a:r>
            <a:r>
              <a:rPr lang="zh-CN" altLang="en-US"/>
              <a:t>注入</a:t>
            </a:r>
            <a:r>
              <a:rPr lang="zh-CN" altLang="en-US"/>
              <a:t>拆解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724" y="1051687"/>
            <a:ext cx="10058400" cy="38481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sz="1600"/>
              <a:t>输入：候选表真实结构</a:t>
            </a:r>
            <a:r>
              <a:rPr lang="en-US" altLang="zh-CN" sz="1600"/>
              <a:t>+</a:t>
            </a:r>
            <a:r>
              <a:rPr lang="zh-CN" altLang="en-US" sz="1600"/>
              <a:t>多级表头</a:t>
            </a:r>
            <a:r>
              <a:rPr lang="en-US" altLang="zh-CN" sz="1600"/>
              <a:t>+</a:t>
            </a:r>
            <a:r>
              <a:rPr lang="zh-CN" altLang="en-US" sz="1600"/>
              <a:t>字段类型</a:t>
            </a:r>
            <a:r>
              <a:rPr lang="en-US" altLang="zh-CN" sz="1600"/>
              <a:t>+</a:t>
            </a:r>
            <a:r>
              <a:rPr lang="zh-CN" altLang="en-US" sz="1600"/>
              <a:t>外键</a:t>
            </a:r>
            <a:r>
              <a:rPr lang="en-US" altLang="zh-CN" sz="1600"/>
              <a:t>FK+</a:t>
            </a:r>
            <a:r>
              <a:rPr lang="zh-CN" altLang="en-US" sz="1600"/>
              <a:t>填表规则</a:t>
            </a:r>
            <a:endParaRPr lang="zh-CN" altLang="en-US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600"/>
              <a:t>输出：结构化</a:t>
            </a:r>
            <a:r>
              <a:rPr lang="en-US" altLang="zh-CN" sz="1600"/>
              <a:t>json</a:t>
            </a:r>
            <a:r>
              <a:rPr lang="zh-CN" altLang="en-US" sz="1600"/>
              <a:t>的</a:t>
            </a:r>
            <a:r>
              <a:rPr lang="en-US" altLang="zh-CN" sz="1600"/>
              <a:t>intents</a:t>
            </a: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600"/>
              <a:t>样例：</a:t>
            </a:r>
            <a:endParaRPr lang="zh-CN" altLang="en-US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600"/>
              <a:t>输入：</a:t>
            </a:r>
            <a:r>
              <a:rPr lang="en-US" altLang="zh-CN" sz="1600"/>
              <a:t>Ability</a:t>
            </a:r>
            <a:r>
              <a:rPr lang="zh-CN" altLang="en-US" sz="1600"/>
              <a:t>表格</a:t>
            </a:r>
            <a:r>
              <a:rPr lang="en-US" altLang="zh-CN" sz="1600"/>
              <a:t>row1</a:t>
            </a:r>
            <a:r>
              <a:rPr lang="zh-CN" altLang="en-US" sz="1600"/>
              <a:t>列名、</a:t>
            </a:r>
            <a:r>
              <a:rPr lang="en-US" altLang="zh-CN" sz="1600"/>
              <a:t>row2</a:t>
            </a:r>
            <a:r>
              <a:rPr lang="zh-CN" altLang="en-US" sz="1600"/>
              <a:t>类型、字段类型、外键、</a:t>
            </a:r>
            <a:r>
              <a:rPr lang="zh-CN" altLang="en-US" sz="1600"/>
              <a:t>填表规则</a:t>
            </a:r>
            <a:endParaRPr lang="zh-CN" altLang="en-US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600"/>
              <a:t>输出：</a:t>
            </a:r>
            <a:r>
              <a:rPr lang="en-US" altLang="zh-CN" sz="1600"/>
              <a:t>{action:add,table:Ability,fields:{id:100,name:”TEST”},produces:[&lt;aid&gt;]}</a:t>
            </a: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 altLang="zh-CN" sz="1600"/>
              <a:t>schema</a:t>
            </a:r>
            <a:r>
              <a:rPr lang="zh-CN" altLang="en-US" sz="1600"/>
              <a:t>注入</a:t>
            </a:r>
            <a:r>
              <a:rPr lang="en-US" altLang="zh-CN" sz="1600"/>
              <a:t>:</a:t>
            </a:r>
            <a:r>
              <a:rPr lang="zh-CN" altLang="en-US" sz="1600"/>
              <a:t>模型只能从真实列名中进行选择，可以从源头解决幻觉列名的</a:t>
            </a:r>
            <a:r>
              <a:rPr lang="zh-CN" altLang="en-US" sz="1600"/>
              <a:t>问题</a:t>
            </a:r>
            <a:endParaRPr lang="zh-CN" altLang="en-US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 altLang="zh-CN" sz="1600"/>
              <a:t>few-shot</a:t>
            </a:r>
            <a:r>
              <a:rPr lang="zh-CN" altLang="en-US" sz="1600"/>
              <a:t>：提示中附上正确</a:t>
            </a:r>
            <a:r>
              <a:rPr lang="en-US" altLang="zh-CN" sz="1600"/>
              <a:t>ID/</a:t>
            </a:r>
            <a:r>
              <a:rPr lang="zh-CN" altLang="en-US" sz="1600"/>
              <a:t>占位符的示例，禁止伪造占位符如</a:t>
            </a:r>
            <a:r>
              <a:rPr lang="en-US" altLang="zh-CN" sz="1600"/>
              <a:t>&lt;resolved_form_xxx&gt;</a:t>
            </a:r>
            <a:r>
              <a:rPr lang="zh-CN" altLang="en-US" sz="1600"/>
              <a:t>，同时超时降级逐表格</a:t>
            </a:r>
            <a:r>
              <a:rPr lang="zh-CN" altLang="en-US" sz="1600"/>
              <a:t>重拆；</a:t>
            </a:r>
            <a:endParaRPr lang="zh-CN" altLang="en-US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600"/>
              <a:t>规则安全网：</a:t>
            </a:r>
            <a:r>
              <a:rPr lang="en-US" altLang="zh-CN" sz="1600"/>
              <a:t>LLM</a:t>
            </a:r>
            <a:r>
              <a:rPr lang="zh-CN" altLang="en-US" sz="1600"/>
              <a:t>为主，当</a:t>
            </a:r>
            <a:r>
              <a:rPr lang="en-US" altLang="zh-CN" sz="1600"/>
              <a:t>LLM</a:t>
            </a:r>
            <a:r>
              <a:rPr lang="zh-CN" altLang="en-US" sz="1600"/>
              <a:t>产生</a:t>
            </a:r>
            <a:r>
              <a:rPr lang="en-US" altLang="zh-CN" sz="1600"/>
              <a:t>intent</a:t>
            </a:r>
            <a:r>
              <a:rPr lang="zh-CN" altLang="en-US" sz="1600"/>
              <a:t>小于</a:t>
            </a:r>
            <a:r>
              <a:rPr lang="en-US" altLang="zh-CN" sz="1600"/>
              <a:t>2</a:t>
            </a:r>
            <a:r>
              <a:rPr lang="zh-CN" altLang="en-US" sz="1600"/>
              <a:t>条或者畸形时回退模板</a:t>
            </a:r>
            <a:endParaRPr lang="zh-CN" altLang="en-US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sz="1600"/>
          </a:p>
        </p:txBody>
      </p:sp>
      <p:graphicFrame>
        <p:nvGraphicFramePr>
          <p:cNvPr id="2" name="表格 1"/>
          <p:cNvGraphicFramePr/>
          <p:nvPr/>
        </p:nvGraphicFramePr>
        <p:xfrm>
          <a:off x="733425" y="4456430"/>
          <a:ext cx="6640830" cy="12592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610"/>
                <a:gridCol w="2213610"/>
                <a:gridCol w="2213610"/>
              </a:tblGrid>
              <a:tr h="41973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指标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before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after</a:t>
                      </a:r>
                      <a:endParaRPr lang="en-US" altLang="zh-CN"/>
                    </a:p>
                  </a:txBody>
                  <a:tcPr/>
                </a:tc>
              </a:tr>
              <a:tr h="41973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字段</a:t>
                      </a:r>
                      <a:r>
                        <a:rPr lang="zh-CN" altLang="en-US"/>
                        <a:t>精准率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0.5185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0.6917</a:t>
                      </a:r>
                      <a:endParaRPr lang="en-US" altLang="zh-CN"/>
                    </a:p>
                  </a:txBody>
                  <a:tcPr/>
                </a:tc>
              </a:tr>
              <a:tr h="41973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严格通过</a:t>
                      </a:r>
                      <a:r>
                        <a:rPr lang="zh-CN" altLang="en-US"/>
                        <a:t>率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0.1667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0.3333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/>
              <a:t>增强：</a:t>
            </a:r>
            <a:r>
              <a:rPr lang="en-US" altLang="zh-CN"/>
              <a:t>produces/consumes</a:t>
            </a:r>
            <a:r>
              <a:rPr lang="zh-CN" altLang="en-US"/>
              <a:t>依赖契约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文本框 1"/>
          <p:cNvSpPr txBox="1"/>
          <p:nvPr/>
        </p:nvSpPr>
        <p:spPr>
          <a:xfrm>
            <a:off x="551815" y="1087755"/>
            <a:ext cx="11248390" cy="4873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跨表新增的时候，后续表格依赖钱买你新建行的</a:t>
            </a:r>
            <a:r>
              <a:rPr lang="en-US" altLang="zh-CN" sz="1600"/>
              <a:t>ID</a:t>
            </a:r>
            <a:r>
              <a:rPr lang="zh-CN" altLang="en-US" sz="1600"/>
              <a:t>，需要靠依赖契约将其确定下来，而不是靠模型记忆</a:t>
            </a:r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样例：</a:t>
            </a:r>
            <a:endParaRPr lang="zh-CN" altLang="en-US" sz="1600"/>
          </a:p>
          <a:p>
            <a:r>
              <a:rPr lang="zh-CN" altLang="en-US" sz="1600"/>
              <a:t>新增活动</a:t>
            </a:r>
            <a:r>
              <a:rPr lang="en-US" altLang="zh-CN" sz="1600"/>
              <a:t>activity_id=3001,</a:t>
            </a:r>
            <a:r>
              <a:rPr lang="zh-CN" altLang="en-US" sz="1600"/>
              <a:t>新增奖励</a:t>
            </a:r>
            <a:r>
              <a:rPr lang="en-US" altLang="zh-CN" sz="1600"/>
              <a:t>reward_id=30010,</a:t>
            </a:r>
            <a:r>
              <a:rPr lang="zh-CN" altLang="en-US" sz="1600"/>
              <a:t>绑定</a:t>
            </a:r>
            <a:r>
              <a:rPr lang="en-US" altLang="zh-CN" sz="1600"/>
              <a:t>activity_id=3001,</a:t>
            </a:r>
            <a:r>
              <a:rPr lang="zh-CN" altLang="en-US" sz="1600"/>
              <a:t>新增邮件</a:t>
            </a:r>
            <a:r>
              <a:rPr lang="en-US" altLang="zh-CN" sz="1600"/>
              <a:t>mail_id=5001,</a:t>
            </a:r>
            <a:r>
              <a:rPr lang="zh-CN" altLang="en-US" sz="1600"/>
              <a:t>附件</a:t>
            </a:r>
            <a:r>
              <a:rPr lang="en-US" altLang="zh-CN" sz="1600"/>
              <a:t>reward_id=3001</a:t>
            </a:r>
            <a:endParaRPr lang="zh-CN" altLang="en-US" sz="1600"/>
          </a:p>
          <a:p>
            <a:endParaRPr lang="zh-CN" altLang="en-US" sz="1600" b="1"/>
          </a:p>
          <a:p>
            <a:r>
              <a:rPr lang="zh-CN" altLang="en-US" sz="1600" b="1"/>
              <a:t>根据</a:t>
            </a:r>
            <a:r>
              <a:rPr lang="en-US" altLang="zh-CN" sz="1600" b="1"/>
              <a:t>produces</a:t>
            </a:r>
            <a:r>
              <a:rPr lang="zh-CN" altLang="en-US" sz="1600" b="1"/>
              <a:t>和</a:t>
            </a:r>
            <a:r>
              <a:rPr lang="en-US" altLang="zh-CN" sz="1600" b="1"/>
              <a:t>consumes</a:t>
            </a:r>
            <a:r>
              <a:rPr lang="zh-CN" altLang="en-US" sz="1600" b="1"/>
              <a:t>，后续</a:t>
            </a:r>
            <a:r>
              <a:rPr lang="en-US" altLang="zh-CN" sz="1600" b="1"/>
              <a:t>step3</a:t>
            </a:r>
            <a:r>
              <a:rPr lang="zh-CN" altLang="en-US" sz="1600" b="1"/>
              <a:t>的执行可以得到排序顺序，成功分配</a:t>
            </a:r>
            <a:r>
              <a:rPr lang="en-US" altLang="zh-CN" sz="1600" b="1"/>
              <a:t>ID</a:t>
            </a:r>
            <a:r>
              <a:rPr lang="zh-CN" altLang="en-US" sz="1600" b="1"/>
              <a:t>、回填</a:t>
            </a:r>
            <a:r>
              <a:rPr lang="zh-CN" altLang="en-US" sz="1600" b="1"/>
              <a:t>外键</a:t>
            </a:r>
            <a:endParaRPr lang="zh-CN" altLang="en-US" sz="1600" b="1"/>
          </a:p>
        </p:txBody>
      </p:sp>
      <p:graphicFrame>
        <p:nvGraphicFramePr>
          <p:cNvPr id="59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708660" y="1605280"/>
          <a:ext cx="8914765" cy="185229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456815"/>
                <a:gridCol w="3627120"/>
                <a:gridCol w="2830830"/>
              </a:tblGrid>
              <a:tr h="4152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术语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含义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作用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4787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produces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本意图产生的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占位符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记录生成的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ID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94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consumes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本意图消费的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占位符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记录使用的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ID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87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占位符</a:t>
                      </a: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placeholder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写表时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临时标记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执行时替换为真实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ID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表格 2"/>
          <p:cNvGraphicFramePr/>
          <p:nvPr/>
        </p:nvGraphicFramePr>
        <p:xfrm>
          <a:off x="708660" y="5020310"/>
          <a:ext cx="7046595" cy="1034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8865"/>
                <a:gridCol w="2348865"/>
                <a:gridCol w="2348865"/>
              </a:tblGrid>
              <a:tr h="34480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指标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before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after</a:t>
                      </a:r>
                      <a:endParaRPr lang="en-US" altLang="zh-CN" sz="1600"/>
                    </a:p>
                  </a:txBody>
                  <a:tcPr/>
                </a:tc>
              </a:tr>
              <a:tr h="3448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quest_npc</a:t>
                      </a:r>
                      <a:r>
                        <a:rPr lang="zh-CN" altLang="en-US" sz="1600"/>
                        <a:t>引用</a:t>
                      </a:r>
                      <a:r>
                        <a:rPr lang="zh-CN" altLang="en-US" sz="1600"/>
                        <a:t>一致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0.62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1.0</a:t>
                      </a:r>
                      <a:endParaRPr lang="en-US" altLang="zh-CN" sz="1600"/>
                    </a:p>
                  </a:txBody>
                  <a:tcPr/>
                </a:tc>
              </a:tr>
              <a:tr h="3448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quest_npc</a:t>
                      </a:r>
                      <a:r>
                        <a:rPr lang="zh-CN" altLang="en-US" sz="1600"/>
                        <a:t>耗时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134</a:t>
                      </a:r>
                      <a:r>
                        <a:rPr lang="en-US" altLang="zh-CN" sz="1600"/>
                        <a:t>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107s</a:t>
                      </a:r>
                      <a:endParaRPr lang="en-US" altLang="zh-CN" sz="16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07949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Step1 </a:t>
            </a:r>
            <a:r>
              <a:rPr lang="zh-CN" altLang="en-US"/>
              <a:t>质量</a:t>
            </a:r>
            <a:r>
              <a:rPr lang="zh-CN" altLang="en-US"/>
              <a:t>门禁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634" y="1170432"/>
            <a:ext cx="10058400" cy="137731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/>
              <a:t>LLM</a:t>
            </a:r>
            <a:r>
              <a:rPr lang="zh-CN" altLang="en-US"/>
              <a:t>结束产生</a:t>
            </a:r>
            <a:r>
              <a:rPr lang="en-US" altLang="zh-CN"/>
              <a:t>intents</a:t>
            </a:r>
            <a:r>
              <a:rPr lang="zh-CN" altLang="en-US"/>
              <a:t>以后</a:t>
            </a:r>
            <a:r>
              <a:rPr lang="en-US" altLang="zh-CN"/>
              <a:t>ParseAgent</a:t>
            </a:r>
            <a:r>
              <a:rPr lang="zh-CN" altLang="en-US"/>
              <a:t>继续</a:t>
            </a:r>
            <a:r>
              <a:rPr lang="en-US" altLang="zh-CN" b="1"/>
              <a:t>schema-aware</a:t>
            </a:r>
            <a:r>
              <a:rPr lang="zh-CN" altLang="en-US" b="1"/>
              <a:t>编译，进行再一次检验</a:t>
            </a: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/>
          </a:p>
        </p:txBody>
      </p:sp>
      <p:graphicFrame>
        <p:nvGraphicFramePr>
          <p:cNvPr id="2" name="表格 1"/>
          <p:cNvGraphicFramePr/>
          <p:nvPr/>
        </p:nvGraphicFramePr>
        <p:xfrm>
          <a:off x="841375" y="1814830"/>
          <a:ext cx="7620635" cy="1997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5430"/>
                <a:gridCol w="3545205"/>
              </a:tblGrid>
              <a:tr h="35433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>
                          <a:sym typeface="+mn-ea"/>
                        </a:rPr>
                        <a:t>检查内容</a:t>
                      </a:r>
                      <a:endParaRPr lang="zh-CN" altLang="en-US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修复</a:t>
                      </a:r>
                      <a:r>
                        <a:rPr lang="zh-CN" altLang="en-US" sz="1600"/>
                        <a:t>方式</a:t>
                      </a:r>
                      <a:endParaRPr lang="zh-CN" altLang="en-US" sz="1600"/>
                    </a:p>
                  </a:txBody>
                  <a:tcPr/>
                </a:tc>
              </a:tr>
              <a:tr h="35496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 b="0">
                          <a:sym typeface="+mn-ea"/>
                        </a:rPr>
                        <a:t>删除孤立</a:t>
                      </a:r>
                      <a:r>
                        <a:rPr lang="en-US" altLang="zh-CN" sz="1600" b="0">
                          <a:sym typeface="+mn-ea"/>
                        </a:rPr>
                        <a:t>add intent</a:t>
                      </a:r>
                      <a:r>
                        <a:rPr lang="zh-CN" altLang="en-US" sz="1600" b="0">
                          <a:sym typeface="+mn-ea"/>
                        </a:rPr>
                        <a:t>、同</a:t>
                      </a:r>
                      <a:r>
                        <a:rPr lang="en-US" altLang="zh-CN" sz="1600" b="0">
                          <a:sym typeface="+mn-ea"/>
                        </a:rPr>
                        <a:t>sheet </a:t>
                      </a:r>
                      <a:r>
                        <a:rPr lang="zh-CN" altLang="en-US" sz="1600" b="0">
                          <a:sym typeface="+mn-ea"/>
                        </a:rPr>
                        <a:t>稀疏影子重复</a:t>
                      </a:r>
                      <a:endParaRPr lang="zh-CN" altLang="en-US" sz="1600" b="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删除</a:t>
                      </a:r>
                      <a:endParaRPr lang="zh-CN" altLang="en-US" sz="1600"/>
                    </a:p>
                  </a:txBody>
                  <a:tcPr/>
                </a:tc>
              </a:tr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 b="0">
                          <a:sym typeface="+mn-ea"/>
                        </a:rPr>
                        <a:t>修字段不在</a:t>
                      </a:r>
                      <a:r>
                        <a:rPr lang="en-US" altLang="zh-CN" sz="1600" b="0">
                          <a:sym typeface="+mn-ea"/>
                        </a:rPr>
                        <a:t>schema</a:t>
                      </a:r>
                      <a:r>
                        <a:rPr lang="zh-CN" altLang="en-US" sz="1600" b="0">
                          <a:sym typeface="+mn-ea"/>
                        </a:rPr>
                        <a:t>、</a:t>
                      </a:r>
                      <a:r>
                        <a:rPr lang="en-US" altLang="zh-CN" sz="1600" b="0">
                          <a:sym typeface="+mn-ea"/>
                        </a:rPr>
                        <a:t>sheet</a:t>
                      </a:r>
                      <a:r>
                        <a:rPr lang="zh-CN" altLang="en-US" sz="1600" b="0">
                          <a:sym typeface="+mn-ea"/>
                        </a:rPr>
                        <a:t>或者</a:t>
                      </a:r>
                      <a:r>
                        <a:rPr lang="en-US" altLang="zh-CN" sz="1600" b="0">
                          <a:sym typeface="+mn-ea"/>
                        </a:rPr>
                        <a:t>name</a:t>
                      </a:r>
                      <a:r>
                        <a:rPr lang="zh-CN" altLang="en-US" sz="1600" b="0">
                          <a:sym typeface="+mn-ea"/>
                        </a:rPr>
                        <a:t>混用、目标表格大小写差异</a:t>
                      </a:r>
                      <a:endParaRPr lang="en-US" altLang="en-US" sz="1600" b="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修正到真实</a:t>
                      </a:r>
                      <a:r>
                        <a:rPr lang="zh-CN" altLang="en-US" sz="1600"/>
                        <a:t>列</a:t>
                      </a:r>
                      <a:endParaRPr lang="zh-CN" altLang="en-US" sz="1600"/>
                    </a:p>
                  </a:txBody>
                  <a:tcPr/>
                </a:tc>
              </a:tr>
              <a:tr h="35496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>
                          <a:sym typeface="+mn-ea"/>
                        </a:rPr>
                        <a:t>检查</a:t>
                      </a:r>
                      <a:r>
                        <a:rPr lang="en-US" altLang="zh-CN" sz="1600">
                          <a:sym typeface="+mn-ea"/>
                        </a:rPr>
                        <a:t>produces</a:t>
                      </a:r>
                      <a:r>
                        <a:rPr lang="zh-CN" altLang="en-US" sz="1600">
                          <a:sym typeface="+mn-ea"/>
                        </a:rPr>
                        <a:t>和</a:t>
                      </a:r>
                      <a:r>
                        <a:rPr lang="en-US" altLang="zh-CN" sz="1600">
                          <a:sym typeface="+mn-ea"/>
                        </a:rPr>
                        <a:t>consumes</a:t>
                      </a:r>
                      <a:endParaRPr lang="zh-CN" altLang="en-US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从已存在资源或新行解析出真实</a:t>
                      </a:r>
                      <a:r>
                        <a:rPr lang="en-US" altLang="zh-CN" sz="1600"/>
                        <a:t>ID</a:t>
                      </a:r>
                      <a:endParaRPr lang="en-US" altLang="zh-CN" sz="1600"/>
                    </a:p>
                  </a:txBody>
                  <a:tcPr/>
                </a:tc>
              </a:tr>
              <a:tr h="35433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>
                          <a:sym typeface="+mn-ea"/>
                        </a:rPr>
                        <a:t>自产自销、依赖环</a:t>
                      </a:r>
                      <a:endParaRPr lang="zh-CN" altLang="en-US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阻断</a:t>
                      </a:r>
                      <a:r>
                        <a:rPr lang="zh-CN" altLang="en-US" sz="1600"/>
                        <a:t>执行</a:t>
                      </a:r>
                      <a:endParaRPr lang="zh-CN" altLang="en-US" sz="160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" name="表格 2"/>
          <p:cNvGraphicFramePr/>
          <p:nvPr>
            <p:custDataLst>
              <p:tags r:id="rId3"/>
            </p:custDataLst>
          </p:nvPr>
        </p:nvGraphicFramePr>
        <p:xfrm>
          <a:off x="887095" y="4382135"/>
          <a:ext cx="4291965" cy="15957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2110"/>
                <a:gridCol w="1219200"/>
                <a:gridCol w="1430655"/>
              </a:tblGrid>
              <a:tr h="51054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优化</a:t>
                      </a:r>
                      <a:r>
                        <a:rPr lang="zh-CN" altLang="en-US" sz="1600"/>
                        <a:t>项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before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after</a:t>
                      </a:r>
                      <a:endParaRPr lang="en-US" altLang="zh-CN" sz="1600"/>
                    </a:p>
                  </a:txBody>
                  <a:tcPr/>
                </a:tc>
              </a:tr>
              <a:tr h="5060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type_mismatch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2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1</a:t>
                      </a:r>
                      <a:endParaRPr lang="en-US" altLang="zh-CN" sz="1600"/>
                    </a:p>
                  </a:txBody>
                  <a:tcPr/>
                </a:tc>
              </a:tr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失败</a:t>
                      </a:r>
                      <a:r>
                        <a:rPr lang="en-US" altLang="zh-CN" sz="1600"/>
                        <a:t>trace</a:t>
                      </a:r>
                      <a:r>
                        <a:rPr lang="zh-CN" altLang="en-US" sz="1600"/>
                        <a:t>归纳</a:t>
                      </a:r>
                      <a:r>
                        <a:rPr lang="zh-CN" altLang="en-US" sz="1600"/>
                        <a:t>反模式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0 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4</a:t>
                      </a:r>
                      <a:r>
                        <a:rPr lang="zh-CN" altLang="en-US" sz="1600"/>
                        <a:t>类</a:t>
                      </a:r>
                      <a:endParaRPr lang="zh-CN" altLang="en-US" sz="16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/>
              <a:t>增强</a:t>
            </a:r>
            <a:r>
              <a:rPr lang="en-US" altLang="zh-CN"/>
              <a:t>:Step2 L0/L1/L2</a:t>
            </a:r>
            <a:r>
              <a:rPr lang="zh-CN" altLang="en-US"/>
              <a:t>三层</a:t>
            </a:r>
            <a:r>
              <a:rPr lang="zh-CN" altLang="en-US"/>
              <a:t>校验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" name="表格 1"/>
          <p:cNvGraphicFramePr/>
          <p:nvPr>
            <p:custDataLst>
              <p:tags r:id="rId3"/>
            </p:custDataLst>
          </p:nvPr>
        </p:nvGraphicFramePr>
        <p:xfrm>
          <a:off x="619760" y="1484630"/>
          <a:ext cx="6442075" cy="1483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7570"/>
                <a:gridCol w="1478280"/>
                <a:gridCol w="2816225"/>
              </a:tblGrid>
              <a:tr h="32194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层级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方法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处理内容</a:t>
                      </a:r>
                      <a:endParaRPr lang="zh-CN" altLang="en-US" sz="1400"/>
                    </a:p>
                  </a:txBody>
                  <a:tcPr/>
                </a:tc>
              </a:tr>
              <a:tr h="5181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L0 </a:t>
                      </a:r>
                      <a:r>
                        <a:rPr lang="zh-CN" altLang="en-US" sz="1400"/>
                        <a:t>规则闸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纯代码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类型、</a:t>
                      </a:r>
                      <a:r>
                        <a:rPr lang="en-US" altLang="zh-CN" sz="1400"/>
                        <a:t>PK</a:t>
                      </a:r>
                      <a:r>
                        <a:rPr lang="zh-CN" altLang="en-US" sz="1400"/>
                        <a:t>、</a:t>
                      </a:r>
                      <a:r>
                        <a:rPr lang="en-US" altLang="zh-CN" sz="1400"/>
                        <a:t>FK</a:t>
                      </a:r>
                      <a:r>
                        <a:rPr lang="zh-CN" altLang="en-US" sz="1400"/>
                        <a:t>、占位符等</a:t>
                      </a:r>
                      <a:endParaRPr lang="zh-CN" altLang="en-US" sz="1400"/>
                    </a:p>
                  </a:txBody>
                  <a:tcPr/>
                </a:tc>
              </a:tr>
              <a:tr h="3219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L1 AI</a:t>
                      </a:r>
                      <a:r>
                        <a:rPr lang="zh-CN" altLang="en-US" sz="1400"/>
                        <a:t>裁决</a:t>
                      </a:r>
                      <a:r>
                        <a:rPr lang="en-US" altLang="zh-CN" sz="1400"/>
                        <a:t> 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1</a:t>
                      </a:r>
                      <a:r>
                        <a:rPr lang="zh-CN" altLang="en-US" sz="1400"/>
                        <a:t>次</a:t>
                      </a:r>
                      <a:r>
                        <a:rPr lang="en-US" altLang="zh-CN" sz="1400"/>
                        <a:t>LLM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NL</a:t>
                      </a:r>
                      <a:r>
                        <a:rPr lang="zh-CN" altLang="en-US" sz="1400"/>
                        <a:t>覆盖度、值合理性</a:t>
                      </a:r>
                      <a:endParaRPr lang="zh-CN" altLang="en-US" sz="1400"/>
                    </a:p>
                  </a:txBody>
                  <a:tcPr/>
                </a:tc>
              </a:tr>
              <a:tr h="3219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L2 </a:t>
                      </a:r>
                      <a:r>
                        <a:rPr lang="zh-CN" altLang="en-US" sz="1400"/>
                        <a:t>人工</a:t>
                      </a:r>
                      <a:r>
                        <a:rPr lang="en-US" altLang="zh-CN" sz="1400"/>
                        <a:t>gate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交互卡片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用户改字段</a:t>
                      </a:r>
                      <a:r>
                        <a:rPr lang="en-US" altLang="zh-CN" sz="1400"/>
                        <a:t>/</a:t>
                      </a:r>
                      <a:r>
                        <a:rPr lang="zh-CN" altLang="en-US" sz="1400"/>
                        <a:t>值后续跑</a:t>
                      </a: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619760" y="1051560"/>
            <a:ext cx="3536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三层</a:t>
            </a:r>
            <a:r>
              <a:rPr lang="zh-CN" altLang="en-US"/>
              <a:t>校验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585470" y="3152775"/>
            <a:ext cx="10768330" cy="28841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>
                <a:sym typeface="+mn-ea"/>
              </a:rPr>
              <a:t>Step2 是执行前的硬门禁：</a:t>
            </a:r>
            <a:endParaRPr sz="1400">
              <a:sym typeface="+mn-ea"/>
            </a:endParaRPr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>
                <a:sym typeface="+mn-ea"/>
              </a:rPr>
              <a:t>字段是否存在，中文表头是否能映射到真实列</a:t>
            </a:r>
            <a:endParaRPr sz="1400">
              <a:sym typeface="+mn-ea"/>
            </a:endParaRPr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>
                <a:sym typeface="+mn-ea"/>
              </a:rPr>
              <a:t>值类型是否可转换，枚举值是否合法</a:t>
            </a:r>
            <a:endParaRPr sz="1400">
              <a:sym typeface="+mn-ea"/>
            </a:endParaRPr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>
                <a:sym typeface="+mn-ea"/>
              </a:rPr>
              <a:t>FK 是否指向正确表和正确主键，placeholder 是否有 producer</a:t>
            </a:r>
            <a:endParaRPr sz="1400">
              <a:sym typeface="+mn-ea"/>
            </a:endParaRPr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>
                <a:sym typeface="+mn-ea"/>
              </a:rPr>
              <a:t>Step1 质量报告如果有 hard error，阻断写盘并生成可交互修正</a:t>
            </a:r>
            <a:endParaRPr sz="1400">
              <a:sym typeface="+mn-ea"/>
            </a:endParaR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400" b="1"/>
              <a:t>交互修正问题：</a:t>
            </a:r>
            <a:endParaRPr lang="zh-CN" altLang="en-US" sz="1400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>
                <a:sym typeface="+mn-ea"/>
              </a:rPr>
              <a:t>当前已有列名批量修正卡片，下一步应升级为“全字段可编辑表格”。</a:t>
            </a:r>
            <a:endParaRPr sz="1400">
              <a:sym typeface="+mn-ea"/>
            </a:endParaR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>
                <a:sym typeface="+mn-ea"/>
              </a:rPr>
              <a:t>用户可以改列名、改值、删除字段或删除整条 intent，然后 POST /api/agent/reply 续跑。</a:t>
            </a:r>
            <a:endParaRPr sz="1400">
              <a:sym typeface="+mn-ea"/>
            </a:endParaR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>
                <a:sym typeface="+mn-ea"/>
              </a:rPr>
              <a:t>后端</a:t>
            </a:r>
            <a:r>
              <a:rPr sz="1400"/>
              <a:t>会把用户</a:t>
            </a:r>
            <a:r>
              <a:rPr sz="1400">
                <a:sym typeface="+mn-ea"/>
              </a:rPr>
              <a:t>编辑回写到原 intent，再重新跑 Step2，而不是只绕过错误</a:t>
            </a:r>
            <a:endParaRPr sz="1400">
              <a:sym typeface="+mn-ea"/>
            </a:endParaR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sz="1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Step3：确定性执行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35902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Step3 不再调用模型，只做可解释写盘</a:t>
            </a:r>
            <a:endParaRPr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sz="1600"/>
              <a:t>执行动作</a:t>
            </a:r>
            <a:r>
              <a:rPr lang="zh-CN" sz="1400"/>
              <a:t>：</a:t>
            </a: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</p:txBody>
      </p:sp>
      <p:graphicFrame>
        <p:nvGraphicFramePr>
          <p:cNvPr id="2" name="表格 1"/>
          <p:cNvGraphicFramePr/>
          <p:nvPr>
            <p:custDataLst>
              <p:tags r:id="rId3"/>
            </p:custDataLst>
          </p:nvPr>
        </p:nvGraphicFramePr>
        <p:xfrm>
          <a:off x="1752600" y="1846580"/>
          <a:ext cx="7580630" cy="2562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9830"/>
                <a:gridCol w="5130800"/>
              </a:tblGrid>
              <a:tr h="41275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动作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技术</a:t>
                      </a:r>
                      <a:endParaRPr lang="zh-CN" altLang="en-US" sz="1600"/>
                    </a:p>
                  </a:txBody>
                  <a:tcPr/>
                </a:tc>
              </a:tr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拓扑</a:t>
                      </a:r>
                      <a:r>
                        <a:rPr lang="zh-CN" altLang="en-US" sz="1600"/>
                        <a:t>排序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按</a:t>
                      </a:r>
                      <a:r>
                        <a:rPr lang="en-US" altLang="zh-CN" sz="1600"/>
                        <a:t>produces</a:t>
                      </a:r>
                      <a:r>
                        <a:rPr lang="zh-CN" altLang="en-US" sz="1600"/>
                        <a:t>和</a:t>
                      </a:r>
                      <a:r>
                        <a:rPr lang="en-US" altLang="zh-CN" sz="1600"/>
                        <a:t>consumes</a:t>
                      </a:r>
                      <a:r>
                        <a:rPr lang="zh-CN" altLang="en-US" sz="1600"/>
                        <a:t>依赖执行</a:t>
                      </a:r>
                      <a:r>
                        <a:rPr lang="zh-CN" altLang="en-US" sz="1600"/>
                        <a:t>先后</a:t>
                      </a:r>
                      <a:endParaRPr lang="zh-CN" altLang="en-US" sz="1600"/>
                    </a:p>
                  </a:txBody>
                  <a:tcPr/>
                </a:tc>
              </a:tr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ID</a:t>
                      </a:r>
                      <a:r>
                        <a:rPr lang="zh-CN" altLang="en-US" sz="1600"/>
                        <a:t>分配、占位符</a:t>
                      </a:r>
                      <a:r>
                        <a:rPr lang="zh-CN" altLang="en-US" sz="1600"/>
                        <a:t>替换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新增行分配主键，替换后续</a:t>
                      </a:r>
                      <a:r>
                        <a:rPr lang="en-US" altLang="zh-CN" sz="1600"/>
                        <a:t>placeholder</a:t>
                      </a:r>
                      <a:endParaRPr lang="en-US" altLang="zh-CN" sz="1600"/>
                    </a:p>
                  </a:txBody>
                  <a:tcPr/>
                </a:tc>
              </a:tr>
              <a:tr h="41275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失败结构化归</a:t>
                      </a:r>
                      <a:r>
                        <a:rPr lang="zh-CN" altLang="en-US" sz="1600"/>
                        <a:t>因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缺字段、</a:t>
                      </a:r>
                      <a:r>
                        <a:rPr lang="en-US" altLang="zh-CN" sz="1600"/>
                        <a:t>PK</a:t>
                      </a:r>
                      <a:r>
                        <a:rPr lang="zh-CN" altLang="en-US" sz="1600"/>
                        <a:t>冲突、类型错误</a:t>
                      </a:r>
                      <a:r>
                        <a:rPr lang="zh-CN" altLang="en-US" sz="1600"/>
                        <a:t>等</a:t>
                      </a:r>
                      <a:endParaRPr lang="zh-CN" altLang="en-US" sz="1600"/>
                    </a:p>
                  </a:txBody>
                  <a:tcPr/>
                </a:tc>
              </a:tr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可恢复边界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失败停于可恢复点，避免半写入</a:t>
                      </a:r>
                      <a:r>
                        <a:rPr lang="zh-CN" altLang="en-US" sz="1600"/>
                        <a:t>污染</a:t>
                      </a:r>
                      <a:endParaRPr lang="zh-CN" altLang="en-US" sz="16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784225" y="4791710"/>
            <a:ext cx="898842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通过拓扑排序等并行运行，可以将复杂样例的运行时间从</a:t>
            </a:r>
            <a:r>
              <a:rPr lang="en-US" altLang="zh-CN" sz="1600"/>
              <a:t>204s</a:t>
            </a:r>
            <a:r>
              <a:rPr lang="zh-CN" altLang="en-US" sz="1600"/>
              <a:t>提升到</a:t>
            </a:r>
            <a:r>
              <a:rPr lang="en-US" altLang="zh-CN" sz="1600"/>
              <a:t>112s</a:t>
            </a:r>
            <a:endParaRPr lang="en-US" altLang="zh-CN" sz="16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 altLang="en-US"/>
              <a:t>增强</a:t>
            </a:r>
            <a:r>
              <a:rPr lang="en-US" altLang="zh-CN"/>
              <a:t>:Step4</a:t>
            </a:r>
            <a:r>
              <a:rPr lang="zh-CN" altLang="en-US"/>
              <a:t>结果汇总</a:t>
            </a:r>
            <a:r>
              <a:rPr lang="zh-CN" altLang="en-US"/>
              <a:t>与自学习</a:t>
            </a:r>
            <a:r>
              <a:rPr lang="zh-CN" altLang="en-US"/>
              <a:t>闭环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105092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Step4</a:t>
            </a:r>
            <a:r>
              <a:rPr lang="zh-CN"/>
              <a:t>汇总最终成功或失败情况，同时还将失败的情况进行</a:t>
            </a:r>
            <a:r>
              <a:rPr lang="zh-CN"/>
              <a:t>沉淀</a:t>
            </a: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</p:txBody>
      </p:sp>
      <p:graphicFrame>
        <p:nvGraphicFramePr>
          <p:cNvPr id="3" name="表格 2"/>
          <p:cNvGraphicFramePr/>
          <p:nvPr/>
        </p:nvGraphicFramePr>
        <p:xfrm>
          <a:off x="2073910" y="1846580"/>
          <a:ext cx="8533765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6565"/>
                <a:gridCol w="426656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功能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说明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汇总</a:t>
                      </a:r>
                      <a:r>
                        <a:rPr lang="zh-CN" altLang="en-US"/>
                        <a:t>结果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成功数</a:t>
                      </a:r>
                      <a:r>
                        <a:rPr lang="en-US" altLang="zh-CN"/>
                        <a:t>+</a:t>
                      </a:r>
                      <a:r>
                        <a:rPr lang="zh-CN" altLang="en-US"/>
                        <a:t>失败数</a:t>
                      </a:r>
                      <a:r>
                        <a:rPr lang="en-US" altLang="zh-CN"/>
                        <a:t>+</a:t>
                      </a:r>
                      <a:r>
                        <a:rPr lang="zh-CN" altLang="en-US"/>
                        <a:t>写入行</a:t>
                      </a:r>
                      <a:r>
                        <a:rPr lang="en-US" altLang="zh-CN"/>
                        <a:t>+</a:t>
                      </a:r>
                      <a:r>
                        <a:rPr lang="zh-CN" altLang="en-US"/>
                        <a:t>预览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失败归</a:t>
                      </a:r>
                      <a:r>
                        <a:rPr lang="zh-CN" altLang="en-US"/>
                        <a:t>因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定位失败发生在哪个</a:t>
                      </a:r>
                      <a:r>
                        <a:rPr lang="zh-CN" altLang="en-US"/>
                        <a:t>层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anti_patterns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从失败</a:t>
                      </a:r>
                      <a:r>
                        <a:rPr lang="en-US" altLang="zh-CN"/>
                        <a:t>trace</a:t>
                      </a:r>
                      <a:r>
                        <a:rPr lang="zh-CN" altLang="en-US"/>
                        <a:t>归纳</a:t>
                      </a:r>
                      <a:r>
                        <a:rPr lang="zh-CN" altLang="en-US"/>
                        <a:t>反模式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mini_regression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失败样例进入小回归</a:t>
                      </a:r>
                      <a:r>
                        <a:rPr lang="zh-CN" altLang="en-US"/>
                        <a:t>集</a:t>
                      </a: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" name="文本框 1"/>
          <p:cNvSpPr txBox="1"/>
          <p:nvPr/>
        </p:nvSpPr>
        <p:spPr>
          <a:xfrm>
            <a:off x="913130" y="4112260"/>
            <a:ext cx="79597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Step4</a:t>
            </a:r>
            <a:r>
              <a:rPr lang="zh-CN" altLang="en-US"/>
              <a:t>产出的反模式将应用在</a:t>
            </a:r>
            <a:r>
              <a:rPr lang="en-US" altLang="zh-CN"/>
              <a:t>Skill</a:t>
            </a:r>
            <a:r>
              <a:rPr lang="zh-CN" altLang="en-US"/>
              <a:t>系统</a:t>
            </a:r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492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r>
              <a:rPr lang="zh-CN" altLang="en-US" b="1">
                <a:solidFill>
                  <a:srgbClr val="FFFFFF"/>
                </a:solidFill>
                <a:latin typeface="微软雅黑" panose="020B0503020204020204" pitchFamily="34" charset="-122"/>
              </a:rPr>
              <a:t>业务</a:t>
            </a:r>
            <a:r>
              <a:rPr lang="zh-CN" altLang="en-US" b="1">
                <a:solidFill>
                  <a:srgbClr val="FFFFFF"/>
                </a:solidFill>
                <a:latin typeface="微软雅黑" panose="020B0503020204020204" pitchFamily="34" charset="-122"/>
              </a:rPr>
              <a:t>规则</a:t>
            </a:r>
            <a:endParaRPr lang="zh-CN" altLang="en-US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470" y="1170305"/>
            <a:ext cx="10259060" cy="263842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noAutofit/>
          </a:bodyPr>
          <a:lstStyle/>
          <a:p>
            <a:r>
              <a:t>将列名、如何定位</a:t>
            </a:r>
            <a:r>
              <a:t>行、哪些操作历史出错沉淀成可查询规则，Agent 与 Merge 共用同一份知识源。</a:t>
            </a:r>
          </a:p>
          <a:p/>
          <a:p/>
          <a:p/>
          <a:p/>
          <a:p/>
          <a:p/>
          <a:p/>
          <a:p>
            <a:r>
              <a:rPr lang="zh-CN"/>
              <a:t>在目录下按照按照每个表格一个</a:t>
            </a:r>
            <a:r>
              <a:rPr lang="en-US" altLang="zh-CN"/>
              <a:t>md</a:t>
            </a:r>
            <a:r>
              <a:rPr lang="zh-CN" altLang="en-US"/>
              <a:t>文档，来对该表格的操作进行约束。</a:t>
            </a:r>
          </a:p>
          <a:p/>
          <a:p/>
          <a:p/>
          <a:p/>
          <a:p/>
          <a:p/>
          <a:p/>
          <a:p>
            <a:r>
              <a:rPr lang="en-US" altLang="zh-CN"/>
              <a:t>    </a:t>
            </a:r>
            <a:endParaRPr lang="en-US" altLang="zh-CN"/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659130" y="1793875"/>
          <a:ext cx="9676130" cy="1353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2105"/>
                <a:gridCol w="3291205"/>
                <a:gridCol w="3512820"/>
              </a:tblGrid>
              <a:tr h="365760">
                <a:tc>
                  <a:txBody>
                    <a:bodyPr/>
                    <a:lstStyle/>
                    <a:p>
                      <a:r>
                        <a:rPr lang="zh-CN"/>
                        <a:t>目录</a:t>
                      </a:r>
                      <a:endParaRPr lang="zh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/>
                        <a:t>内容</a:t>
                      </a:r>
                      <a:endParaRPr lang="zh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/>
                        <a:t>消费</a:t>
                      </a:r>
                      <a:r>
                        <a:rPr lang="zh-CN"/>
                        <a:t>阶段</a:t>
                      </a:r>
                      <a:endParaRPr lang="zh-CN"/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lang="en-US"/>
                        <a:t>rules/fill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业务规定的填表阶段的</a:t>
                      </a:r>
                      <a:r>
                        <a:rPr lang="zh-CN" altLang="en-US"/>
                        <a:t>经验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/>
                        <a:t>注入</a:t>
                      </a:r>
                      <a:r>
                        <a:rPr lang="en-US" altLang="zh-CN"/>
                        <a:t>Step1</a:t>
                      </a:r>
                      <a:r>
                        <a:rPr lang="zh-CN" altLang="en-US"/>
                        <a:t>解析</a:t>
                      </a:r>
                      <a:r>
                        <a:rPr lang="en-US" altLang="zh-CN"/>
                        <a:t>prompt</a:t>
                      </a:r>
                      <a:endParaRPr lang="en-US" altLang="zh-CN"/>
                    </a:p>
                  </a:txBody>
                  <a:tcPr/>
                </a:tc>
              </a:tr>
              <a:tr h="561340">
                <a:tc>
                  <a:txBody>
                    <a:bodyPr/>
                    <a:lstStyle/>
                    <a:p>
                      <a:r>
                        <a:rPr lang="en-US"/>
                        <a:t>rules/validate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业务规定的</a:t>
                      </a:r>
                      <a:r>
                        <a:rPr lang="zh-CN" altLang="en-US"/>
                        <a:t>校验规则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/>
                        <a:t>合并进</a:t>
                      </a:r>
                      <a:r>
                        <a:rPr lang="en-US" altLang="zh-CN"/>
                        <a:t>Step2</a:t>
                      </a:r>
                      <a:r>
                        <a:rPr lang="zh-CN" altLang="en-US"/>
                        <a:t>校验</a:t>
                      </a:r>
                      <a:r>
                        <a:rPr lang="zh-CN" altLang="en-US"/>
                        <a:t>管线</a:t>
                      </a: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492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r>
              <a:rPr lang="zh-CN" altLang="en-US" b="1">
                <a:solidFill>
                  <a:srgbClr val="FFFFFF"/>
                </a:solidFill>
                <a:latin typeface="微软雅黑" panose="020B0503020204020204" pitchFamily="34" charset="-122"/>
              </a:rPr>
              <a:t>Skill 系统</a:t>
            </a:r>
            <a:endParaRPr lang="zh-CN" altLang="en-US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3492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r>
              <a:t>将列名、如何定位</a:t>
            </a:r>
            <a:r>
              <a:t>行、哪些操作历史出错沉淀成可查询规则，Agent 与 Merge 共用同一份知识源。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585470" y="1626235"/>
          <a:ext cx="11117580" cy="27730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1355"/>
                <a:gridCol w="2090420"/>
                <a:gridCol w="4296410"/>
                <a:gridCol w="2779395"/>
              </a:tblGrid>
              <a:tr h="426720">
                <a:tc>
                  <a:txBody>
                    <a:bodyPr/>
                    <a:lstStyle/>
                    <a:p>
                      <a:r>
                        <a:t>层级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目录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内容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生成方式</a:t>
                      </a:r>
                    </a:p>
                  </a:txBody>
                  <a:tcPr/>
                </a:tc>
              </a:tr>
              <a:tr h="426085">
                <a:tc>
                  <a:txBody>
                    <a:bodyPr/>
                    <a:lstStyle/>
                    <a:p>
                      <a:r>
                        <a:t>L0 人工/根目录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skills/*.yaml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sheet别名、引导动词、列短形式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人工+自动混合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L1 自动派生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L1_derived/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列别名、行定位规则、多sheet消歧、类型约束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扫描resources/*.xlsx自动生成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L2 运行时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L2_runtime/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运行时学到的列别名(</a:t>
                      </a:r>
                      <a:r>
                        <a:rPr lang="zh-CN"/>
                        <a:t>有命中和置信度</a:t>
                      </a:r>
                      <a:r>
                        <a:t>)、跨表关系权重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从evidence promote写入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L3 反模式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L3_anti_patterns/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失败模式规则：歧义列/类型约束/失败操作/语义模式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规则频次升级+AI归纳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50495"/>
            <a:ext cx="10607040" cy="3492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r>
              <a:rPr lang="zh-CN" altLang="en-US" b="1">
                <a:solidFill>
                  <a:srgbClr val="FFFFFF"/>
                </a:solidFill>
                <a:latin typeface="微软雅黑" panose="020B0503020204020204" pitchFamily="34" charset="-122"/>
              </a:rPr>
              <a:t>Skill 系统：生成与审核机制</a:t>
            </a:r>
            <a:endParaRPr lang="zh-CN" altLang="en-US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85216" y="1170432"/>
          <a:ext cx="106070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3035"/>
                <a:gridCol w="7914005"/>
              </a:tblGrid>
              <a:tr h="33000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chemeClr val="dk1"/>
                          </a:solidFill>
                        </a:rPr>
                        <a:t>判定</a:t>
                      </a:r>
                      <a:endParaRPr sz="1600" b="0">
                        <a:solidFill>
                          <a:schemeClr val="dk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chemeClr val="dk1"/>
                          </a:solidFill>
                        </a:rPr>
                        <a:t>阈值</a:t>
                      </a:r>
                      <a:endParaRPr sz="1600" b="0">
                        <a:solidFill>
                          <a:schemeClr val="dk1"/>
                        </a:solidFill>
                      </a:endParaRP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/>
                        <a:t>列别名候选转正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>
                          <a:sym typeface="+mn-ea"/>
                        </a:rPr>
                        <a:t>七天内命中够 3 次、且系统对这次猜测的把握在 30%~75% 之间</a:t>
                      </a:r>
                      <a:endParaRPr sz="1600" b="0"/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/>
                        <a:t>反模式升级active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/>
                        <a:t>某列易认错，7天内出现≥3次 → 系统自动改成只许精确匹配，不许模糊猜</a:t>
                      </a:r>
                      <a:endParaRPr sz="1600"/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/>
                        <a:t>反模式升级pending_review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/>
                        <a:t>操作失败在30天内出现≥2次 → 先标记"待人工审核"，下次遇到同类操作会弹窗要用户确认，但还不是最终生效规则</a:t>
                      </a:r>
                      <a:endParaRPr sz="1600"/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/>
                        <a:t>AI归纳反模式转正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/>
                        <a:t>AI 总结的易出错情形，由于无人工标注的标准答案兜底，需多命中 3 次才能真正生效</a:t>
                      </a:r>
                      <a:endParaRPr sz="1600"/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/>
                        <a:t>冲突消解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/>
                        <a:t>同一个用户说法，被两种不同的"标准列名"抢着对应，系统无法决定，交给人工来判断</a:t>
                      </a:r>
                      <a:endParaRPr sz="1600"/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/>
                        <a:t>衰减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600"/>
                        <a:t>一条规则 60 天都没再被用到则自动移除、若规则的可信程度低于30%，将其休眠</a:t>
                      </a:r>
                      <a:endParaRPr sz="16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85470" y="4369435"/>
            <a:ext cx="10607040" cy="6413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noAutofit/>
          </a:bodyPr>
          <a:lstStyle/>
          <a:p>
            <a:r>
              <a:t>AI归纳的反模式先进pending_review，跑过mini回归(30样本,lift≥0.05)确认没把已有能力改坏才转正active，不通过则回滚+隔离区(quarantine)。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492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l">
              <a:buClrTx/>
              <a:buSzTx/>
              <a:buFontTx/>
            </a:pPr>
            <a:r>
              <a:rPr lang="zh-CN" altLang="en-US" b="1">
                <a:solidFill>
                  <a:srgbClr val="FFFFFF"/>
                </a:solidFill>
                <a:latin typeface="微软雅黑" panose="020B0503020204020204" pitchFamily="34" charset="-122"/>
              </a:rPr>
              <a:t>Skill 系统：效果数据</a:t>
            </a:r>
            <a:endParaRPr lang="zh-CN" altLang="en-US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85216" y="1170432"/>
          <a:ext cx="10607040" cy="3680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9565"/>
                <a:gridCol w="2660650"/>
                <a:gridCol w="1984375"/>
                <a:gridCol w="3092450"/>
              </a:tblGrid>
              <a:tr h="400000">
                <a:tc>
                  <a:txBody>
                    <a:bodyPr/>
                    <a:lstStyle/>
                    <a:p>
                      <a:r>
                        <a:rPr sz="1600"/>
                        <a:t>数据点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指标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before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after</a:t>
                      </a:r>
                      <a:endParaRPr sz="1600"/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600"/>
                        <a:t>skill简版30样例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定位成功率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0.933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1.000</a:t>
                      </a:r>
                      <a:endParaRPr sz="1600"/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600"/>
                        <a:t>skill简版30样例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精确命中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1.00</a:t>
                      </a:r>
                      <a:endParaRPr sz="1600"/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600"/>
                        <a:t>skill简版30样例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严格综合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0.704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0.959</a:t>
                      </a:r>
                      <a:endParaRPr sz="1600"/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600"/>
                        <a:t>skill简版30样例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平均耗时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533ms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321ms</a:t>
                      </a:r>
                      <a:endParaRPr sz="1600"/>
                    </a:p>
                  </a:txBody>
                  <a:tcPr/>
                </a:tc>
              </a:tr>
              <a:tr h="508635">
                <a:tc>
                  <a:txBody>
                    <a:bodyPr/>
                    <a:lstStyle/>
                    <a:p>
                      <a:r>
                        <a:rPr sz="1600"/>
                        <a:t>skill真写盘8样例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定位/覆盖/精准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0.472/0.417/0.497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0.639/0.583/0.590</a:t>
                      </a:r>
                      <a:endParaRPr sz="1600"/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600"/>
                        <a:t>Step4反模式沉淀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同类失败预警覆盖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0/8(0%)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8/8(100%)</a:t>
                      </a:r>
                      <a:endParaRPr sz="1600"/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600"/>
                        <a:t>Step4反模式归纳(真实e2e)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8条失败trace→4类反模式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  <a:endParaRPr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命中PK冲突/seed缺失/conv_id定位/类型转换</a:t>
                      </a:r>
                      <a:endParaRPr sz="16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492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l">
              <a:buClrTx/>
              <a:buSzTx/>
              <a:buFontTx/>
            </a:pPr>
            <a:r>
              <a:rPr lang="zh-CN" altLang="en-US" b="1">
                <a:solidFill>
                  <a:srgbClr val="FFFFFF"/>
                </a:solidFill>
                <a:latin typeface="微软雅黑" panose="020B0503020204020204" pitchFamily="34" charset="-122"/>
              </a:rPr>
              <a:t>优化</a:t>
            </a:r>
            <a:endParaRPr lang="zh-CN" altLang="en-US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" name="表格 1"/>
          <p:cNvGraphicFramePr/>
          <p:nvPr>
            <p:custDataLst>
              <p:tags r:id="rId3"/>
            </p:custDataLst>
          </p:nvPr>
        </p:nvGraphicFramePr>
        <p:xfrm>
          <a:off x="585470" y="1739265"/>
          <a:ext cx="10460990" cy="28968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02735"/>
                <a:gridCol w="3729990"/>
                <a:gridCol w="2628265"/>
              </a:tblGrid>
              <a:tr h="58547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问题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方案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数据</a:t>
                      </a:r>
                      <a:endParaRPr lang="zh-CN" altLang="en-US" sz="1600"/>
                    </a:p>
                  </a:txBody>
                  <a:tcPr/>
                </a:tc>
              </a:tr>
              <a:tr h="77724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命名写法不一致</a:t>
                      </a:r>
                      <a:r>
                        <a:rPr lang="en-US" altLang="zh-CN" sz="1600"/>
                        <a:t>(newConvId</a:t>
                      </a:r>
                      <a:r>
                        <a:rPr lang="zh-CN" altLang="en-US" sz="1600"/>
                        <a:t>、</a:t>
                      </a:r>
                      <a:r>
                        <a:rPr lang="en-US" altLang="zh-CN" sz="1600"/>
                        <a:t>&lt;new_conv_id&gt;)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_norm_name</a:t>
                      </a:r>
                      <a:r>
                        <a:rPr lang="zh-CN" altLang="en-US" sz="1600"/>
                        <a:t>归一化后再比较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误报率从</a:t>
                      </a:r>
                      <a:r>
                        <a:rPr lang="en-US" altLang="zh-CN" sz="1600"/>
                        <a:t>5/6</a:t>
                      </a:r>
                      <a:r>
                        <a:rPr lang="zh-CN" altLang="en-US" sz="1600"/>
                        <a:t>降至</a:t>
                      </a:r>
                      <a:r>
                        <a:rPr lang="en-US" altLang="zh-CN" sz="1600"/>
                        <a:t>2/6</a:t>
                      </a:r>
                      <a:endParaRPr lang="en-US" altLang="zh-CN" sz="1600"/>
                    </a:p>
                  </a:txBody>
                  <a:tcPr/>
                </a:tc>
              </a:tr>
              <a:tr h="51181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占位符</a:t>
                      </a:r>
                      <a:r>
                        <a:rPr lang="zh-CN" altLang="en-US" sz="1600"/>
                        <a:t>在嵌套结构里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递归扫描</a:t>
                      </a:r>
                      <a:r>
                        <a:rPr lang="en-US" altLang="zh-CN" sz="1600"/>
                        <a:t>dict/list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漏检数</a:t>
                      </a:r>
                      <a:r>
                        <a:rPr lang="en-US" altLang="zh-CN" sz="1600"/>
                        <a:t>:7-&gt;0</a:t>
                      </a:r>
                      <a:endParaRPr lang="zh-CN" altLang="en-US" sz="1600"/>
                    </a:p>
                  </a:txBody>
                  <a:tcPr/>
                </a:tc>
              </a:tr>
              <a:tr h="51117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执行顺序错乱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一轮执行完再执行一次补齐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可执行节点</a:t>
                      </a:r>
                      <a:r>
                        <a:rPr lang="en-US" altLang="zh-CN" sz="1600"/>
                        <a:t>:1/5-&gt;5/5</a:t>
                      </a:r>
                      <a:endParaRPr lang="en-US" altLang="zh-CN" sz="1600"/>
                    </a:p>
                  </a:txBody>
                  <a:tcPr/>
                </a:tc>
              </a:tr>
              <a:tr h="51117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合法</a:t>
                      </a:r>
                      <a:r>
                        <a:rPr lang="en-US" altLang="zh-CN" sz="1600"/>
                        <a:t>dict</a:t>
                      </a:r>
                      <a:r>
                        <a:rPr lang="zh-CN" altLang="en-US" sz="1600"/>
                        <a:t>列被视为幻觉字段</a:t>
                      </a:r>
                      <a:r>
                        <a:rPr lang="zh-CN" altLang="en-US" sz="1600"/>
                        <a:t>清空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增强函数对于合法和幻觉</a:t>
                      </a:r>
                      <a:r>
                        <a:rPr lang="en-US" altLang="zh-CN" sz="1600"/>
                        <a:t>dict</a:t>
                      </a:r>
                      <a:r>
                        <a:rPr lang="zh-CN" altLang="en-US" sz="1600"/>
                        <a:t>的</a:t>
                      </a:r>
                      <a:r>
                        <a:rPr lang="zh-CN" altLang="en-US" sz="1600"/>
                        <a:t>识别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/>
                        <a:t>误清空率</a:t>
                      </a:r>
                      <a:r>
                        <a:rPr lang="en-US" altLang="zh-CN" sz="1600"/>
                        <a:t>:100%-&gt;0%</a:t>
                      </a:r>
                      <a:endParaRPr lang="zh-CN" altLang="en-US" sz="16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600710" y="1202055"/>
            <a:ext cx="4250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solidFill>
                  <a:schemeClr val="tx1"/>
                </a:solidFill>
                <a:latin typeface="微软雅黑" panose="020B0503020204020204" pitchFamily="34" charset="-122"/>
                <a:sym typeface="+mn-ea"/>
              </a:rPr>
              <a:t>对于</a:t>
            </a:r>
            <a:r>
              <a:rPr lang="en-US" altLang="zh-CN" b="1">
                <a:solidFill>
                  <a:schemeClr val="tx1"/>
                </a:solidFill>
                <a:latin typeface="微软雅黑" panose="020B0503020204020204" pitchFamily="34" charset="-122"/>
                <a:sym typeface="+mn-ea"/>
              </a:rPr>
              <a:t>agent</a:t>
            </a:r>
            <a:r>
              <a:rPr lang="zh-CN" altLang="en-US" b="1">
                <a:solidFill>
                  <a:schemeClr val="tx1"/>
                </a:solidFill>
                <a:latin typeface="微软雅黑" panose="020B0503020204020204" pitchFamily="34" charset="-122"/>
                <a:sym typeface="+mn-ea"/>
              </a:rPr>
              <a:t>过程中的一些优化</a:t>
            </a:r>
            <a:r>
              <a:rPr lang="zh-CN" altLang="en-US" b="1">
                <a:solidFill>
                  <a:schemeClr val="tx1"/>
                </a:solidFill>
                <a:latin typeface="微软雅黑" panose="020B0503020204020204" pitchFamily="34" charset="-122"/>
                <a:sym typeface="+mn-ea"/>
              </a:rPr>
              <a:t>内容</a:t>
            </a:r>
            <a:endParaRPr lang="zh-CN" altLang="en-US" b="1">
              <a:solidFill>
                <a:schemeClr val="tx1"/>
              </a:solidFill>
              <a:latin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形 1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00278" y="2552700"/>
            <a:ext cx="9966960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ctr">
              <a:lnSpc>
                <a:spcPct val="115000"/>
              </a:lnSpc>
              <a:defRPr sz="3600" b="1">
                <a:solidFill>
                  <a:srgbClr val="C00000"/>
                </a:solidFill>
                <a:latin typeface="微软雅黑" panose="020B0503020204020204" pitchFamily="34" charset="-122"/>
              </a:defRPr>
            </a:pPr>
            <a:r>
              <a:t>三、Merge 合并方案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形 1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5" name="组合 24"/>
          <p:cNvGrpSpPr/>
          <p:nvPr/>
        </p:nvGrpSpPr>
        <p:grpSpPr>
          <a:xfrm>
            <a:off x="986900" y="1591365"/>
            <a:ext cx="2722227" cy="398780"/>
            <a:chOff x="3462868" y="3718731"/>
            <a:chExt cx="2722227" cy="398780"/>
          </a:xfrm>
        </p:grpSpPr>
        <p:sp>
          <p:nvSpPr>
            <p:cNvPr id="26" name="文本框 25"/>
            <p:cNvSpPr txBox="1"/>
            <p:nvPr/>
          </p:nvSpPr>
          <p:spPr>
            <a:xfrm>
              <a:off x="3462868" y="3718731"/>
              <a:ext cx="2722227" cy="3987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三方合并</a:t>
              </a:r>
              <a:r>
                <a:rPr kumimoji="1"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模型</a:t>
              </a:r>
              <a:endParaRPr kumimoji="1"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8" name="直线连接符 101"/>
            <p:cNvCxnSpPr/>
            <p:nvPr/>
          </p:nvCxnSpPr>
          <p:spPr>
            <a:xfrm>
              <a:off x="3555678" y="41113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062608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/>
          <p:cNvSpPr/>
          <p:nvPr>
            <p:custDataLst>
              <p:tags r:id="rId2"/>
            </p:custDataLst>
          </p:nvPr>
        </p:nvSpPr>
        <p:spPr>
          <a:xfrm>
            <a:off x="2569210" y="2510790"/>
            <a:ext cx="1579245" cy="39243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Merge-base</a:t>
            </a:r>
            <a:endParaRPr lang="en-US" altLang="zh-CN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3" name="矩形: 圆角 12"/>
          <p:cNvSpPr/>
          <p:nvPr>
            <p:custDataLst>
              <p:tags r:id="rId3"/>
            </p:custDataLst>
          </p:nvPr>
        </p:nvSpPr>
        <p:spPr>
          <a:xfrm>
            <a:off x="1622425" y="3259455"/>
            <a:ext cx="1579245" cy="39243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From</a:t>
            </a:r>
            <a:r>
              <a:rPr lang="zh-CN" altLang="en-US" dirty="0">
                <a:ln>
                  <a:solidFill>
                    <a:schemeClr val="bg1"/>
                  </a:solidFill>
                </a:ln>
              </a:rPr>
              <a:t>分支</a:t>
            </a:r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4" name="矩形: 圆角 12"/>
          <p:cNvSpPr/>
          <p:nvPr>
            <p:custDataLst>
              <p:tags r:id="rId4"/>
            </p:custDataLst>
          </p:nvPr>
        </p:nvSpPr>
        <p:spPr>
          <a:xfrm>
            <a:off x="3483610" y="3249930"/>
            <a:ext cx="1579245" cy="39243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To</a:t>
            </a:r>
            <a:r>
              <a:rPr lang="zh-CN" altLang="en-US" dirty="0">
                <a:ln>
                  <a:solidFill>
                    <a:schemeClr val="bg1"/>
                  </a:solidFill>
                </a:ln>
              </a:rPr>
              <a:t>分支</a:t>
            </a:r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7" name="矩形: 圆角 12"/>
          <p:cNvSpPr/>
          <p:nvPr>
            <p:custDataLst>
              <p:tags r:id="rId5"/>
            </p:custDataLst>
          </p:nvPr>
        </p:nvSpPr>
        <p:spPr>
          <a:xfrm>
            <a:off x="2397760" y="3916045"/>
            <a:ext cx="1996440" cy="39243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Merge</a:t>
            </a:r>
            <a:r>
              <a:rPr lang="zh-CN" altLang="en-US" dirty="0">
                <a:ln>
                  <a:solidFill>
                    <a:schemeClr val="bg1"/>
                  </a:solidFill>
                </a:ln>
              </a:rPr>
              <a:t>合并</a:t>
            </a:r>
            <a:r>
              <a:rPr lang="zh-CN" altLang="en-US" dirty="0">
                <a:ln>
                  <a:solidFill>
                    <a:schemeClr val="bg1"/>
                  </a:solidFill>
                </a:ln>
              </a:rPr>
              <a:t>结果</a:t>
            </a:r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5774690" y="1990090"/>
          <a:ext cx="5764530" cy="280162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446530"/>
                <a:gridCol w="2192020"/>
                <a:gridCol w="2125980"/>
              </a:tblGrid>
              <a:tr h="608965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Merge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模式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 hMerge="1"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过程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736600"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跨分支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通过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From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分支与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分支比对合并到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27710">
                <a:tc vMerge="1"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分支合回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，内容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集成在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28345">
                <a:tc gridSpan="2"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目录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将子目录的生产内容合并回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cxnSp>
        <p:nvCxnSpPr>
          <p:cNvPr id="16" name="直接箭头连接符 15"/>
          <p:cNvCxnSpPr>
            <a:stCxn id="13" idx="2"/>
            <a:endCxn id="3" idx="0"/>
          </p:cNvCxnSpPr>
          <p:nvPr/>
        </p:nvCxnSpPr>
        <p:spPr>
          <a:xfrm flipH="1">
            <a:off x="2412365" y="2903220"/>
            <a:ext cx="946785" cy="3562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>
            <a:stCxn id="13" idx="2"/>
            <a:endCxn id="4" idx="0"/>
          </p:cNvCxnSpPr>
          <p:nvPr/>
        </p:nvCxnSpPr>
        <p:spPr>
          <a:xfrm>
            <a:off x="3359150" y="2903220"/>
            <a:ext cx="914400" cy="34671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>
            <a:stCxn id="3" idx="2"/>
            <a:endCxn id="7" idx="0"/>
          </p:cNvCxnSpPr>
          <p:nvPr/>
        </p:nvCxnSpPr>
        <p:spPr>
          <a:xfrm>
            <a:off x="2412365" y="3651885"/>
            <a:ext cx="983615" cy="2641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>
            <a:stCxn id="4" idx="2"/>
            <a:endCxn id="7" idx="0"/>
          </p:cNvCxnSpPr>
          <p:nvPr/>
        </p:nvCxnSpPr>
        <p:spPr>
          <a:xfrm flipH="1">
            <a:off x="3395980" y="3642360"/>
            <a:ext cx="877570" cy="2736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Merge 总体流程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21412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1. 选择From/To</a:t>
            </a:r>
            <a:r>
              <a:rPr lang="zh-CN" sz="1600"/>
              <a:t>两</a:t>
            </a:r>
            <a:r>
              <a:rPr sz="1600"/>
              <a:t>个目录。</a:t>
            </a:r>
            <a:endParaRPr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2. 通过SVN copyfrom定位 merge-base。</a:t>
            </a:r>
            <a:endParaRPr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3. 提取 Excel 数据、表头、公式、样式和文件元信息。</a:t>
            </a:r>
            <a:endParaRPr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4. 比较变更并识别冲突。</a:t>
            </a:r>
            <a:endParaRPr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5. ID 重映射与引用更新。</a:t>
            </a:r>
            <a:endParaRPr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6. AI 辅助冲突建议。</a:t>
            </a:r>
            <a:endParaRPr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7. LibreOffice 重算、公式保护、安全写回</a:t>
            </a:r>
            <a:r>
              <a:t>。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786130" y="4415155"/>
            <a:ext cx="6817360" cy="8839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两套</a:t>
            </a:r>
            <a:r>
              <a:rPr lang="en-US" altLang="zh-CN"/>
              <a:t>Merge</a:t>
            </a:r>
            <a:r>
              <a:rPr lang="zh-CN" altLang="en-US"/>
              <a:t>模式除了分支、</a:t>
            </a:r>
            <a:r>
              <a:rPr lang="en-US" altLang="zh-CN"/>
              <a:t>base</a:t>
            </a:r>
            <a:r>
              <a:rPr lang="zh-CN" altLang="en-US"/>
              <a:t>确定上有差异，核心</a:t>
            </a:r>
            <a:r>
              <a:rPr lang="en-US" altLang="zh-CN"/>
              <a:t>diff</a:t>
            </a:r>
            <a:r>
              <a:rPr lang="zh-CN" altLang="en-US"/>
              <a:t>逻辑</a:t>
            </a:r>
            <a:r>
              <a:rPr lang="zh-CN" altLang="en-US"/>
              <a:t>一致。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6124575" y="1334135"/>
            <a:ext cx="4985385" cy="1977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为了模拟实际生产的</a:t>
            </a:r>
            <a:r>
              <a:rPr lang="en-US" altLang="zh-CN" sz="1600"/>
              <a:t>SVN</a:t>
            </a:r>
            <a:r>
              <a:rPr lang="zh-CN" altLang="en-US" sz="1600"/>
              <a:t>环境，在文件夹搭建了</a:t>
            </a:r>
            <a:r>
              <a:rPr lang="en-US" altLang="zh-CN" sz="1600"/>
              <a:t>demo_svn</a:t>
            </a:r>
            <a:r>
              <a:rPr lang="zh-CN" altLang="en-US" sz="1600"/>
              <a:t>目录架构</a:t>
            </a:r>
            <a:r>
              <a:rPr lang="en-US" altLang="zh-CN" sz="1600"/>
              <a:t>:</a:t>
            </a:r>
            <a:endParaRPr lang="en-US" altLang="zh-CN" sz="1600"/>
          </a:p>
          <a:p>
            <a:endParaRPr lang="en-US" altLang="zh-CN" sz="1600"/>
          </a:p>
          <a:p>
            <a:r>
              <a:rPr lang="en-US" altLang="zh-CN" sz="1600"/>
              <a:t>merge/svn/demo_svn/</a:t>
            </a:r>
            <a:endParaRPr lang="en-US" altLang="zh-CN" sz="1600"/>
          </a:p>
          <a:p>
            <a:r>
              <a:rPr lang="en-US" altLang="zh-CN" sz="1600"/>
              <a:t>├── repo/  (svnadmin</a:t>
            </a:r>
            <a:r>
              <a:rPr lang="zh-CN" altLang="en-US" sz="1600"/>
              <a:t>仓库)</a:t>
            </a:r>
            <a:endParaRPr lang="zh-CN" altLang="en-US" sz="1600"/>
          </a:p>
          <a:p>
            <a:r>
              <a:rPr lang="en-US" altLang="zh-CN" sz="1600"/>
              <a:t>└── wc/</a:t>
            </a:r>
            <a:endParaRPr lang="en-US" altLang="zh-CN" sz="1600"/>
          </a:p>
          <a:p>
            <a:r>
              <a:rPr lang="en-US" altLang="zh-CN" sz="1600"/>
              <a:t>    ├── trunk/ (74</a:t>
            </a:r>
            <a:r>
              <a:rPr lang="zh-CN" altLang="en-US" sz="1600"/>
              <a:t>张+</a:t>
            </a:r>
            <a:r>
              <a:rPr lang="en-US" altLang="zh-CN" sz="1600"/>
              <a:t>subdev_1/2/3)</a:t>
            </a:r>
            <a:endParaRPr lang="en-US" altLang="zh-CN" sz="1600"/>
          </a:p>
          <a:p>
            <a:r>
              <a:rPr lang="en-US" altLang="zh-CN" sz="1600"/>
              <a:t>    └── branches/ (dev1-4)</a:t>
            </a:r>
            <a:endParaRPr lang="en-US" altLang="zh-CN" sz="1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514350" y="2126615"/>
          <a:ext cx="10118090" cy="382016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01140"/>
                <a:gridCol w="3488690"/>
                <a:gridCol w="2045970"/>
                <a:gridCol w="3082290"/>
              </a:tblGrid>
              <a:tr h="52133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版本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方法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解决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性能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提升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三重循环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——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10w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行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*100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列会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卡死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根据哈希建立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row_idx_maps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O(n)线性扫描卡死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哈希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定位实现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O(n)-&gt;O(1)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使用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sparse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稀疏化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全表建立哈希内存过大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内存从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级别降至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MB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级别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numpy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向量化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逐单元格p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y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thon函数调用需要单一化，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消耗高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纯数据大表提升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10-50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倍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976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公式、批注在sheet回退逐单元格循环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解决公式、批注向量化出错的问题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保证性能同时保证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正确性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0" name="Rectangle 59"/>
          <p:cNvSpPr/>
          <p:nvPr/>
        </p:nvSpPr>
        <p:spPr>
          <a:xfrm>
            <a:off x="889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SVN merge-base定位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6384" y="1170432"/>
            <a:ext cx="10058400" cy="422719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在选择分支</a:t>
            </a:r>
            <a:r>
              <a:rPr kumimoji="1" lang="en-US" altLang="zh-CN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/</a:t>
            </a:r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目录后，找到</a:t>
            </a:r>
            <a:r>
              <a:rPr kumimoji="1" lang="en-US" altLang="zh-CN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base</a:t>
            </a:r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分支与</a:t>
            </a:r>
            <a:r>
              <a:rPr kumimoji="1" lang="en-US" altLang="zh-CN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base</a:t>
            </a:r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版本的核心方法：</a:t>
            </a:r>
            <a:r>
              <a:rPr kumimoji="1" lang="en-US" altLang="zh-CN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copyfrom</a:t>
            </a:r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反查</a:t>
            </a:r>
            <a:endParaRPr kumimoji="1" lang="zh-CN" altLang="en-US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1</a:t>
            </a:r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、</a:t>
            </a:r>
            <a:r>
              <a:rPr kumimoji="1" lang="en-US" altLang="zh-CN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From</a:t>
            </a:r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分支和</a:t>
            </a:r>
            <a:r>
              <a:rPr kumimoji="1" lang="en-US" altLang="zh-CN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To</a:t>
            </a:r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分支各自寻找自身的</a:t>
            </a:r>
            <a:r>
              <a:rPr kumimoji="1" lang="en-US" altLang="zh-CN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copyfrom</a:t>
            </a:r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；</a:t>
            </a:r>
            <a:endParaRPr kumimoji="1" lang="zh-CN" altLang="en-US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ea typeface="微软雅黑" panose="020B0503020204020204" pitchFamily="34" charset="-122"/>
              <a:sym typeface="+mn-ea"/>
            </a:endParaRPr>
          </a:p>
          <a:p>
            <a:pPr algn="l"/>
          </a:p>
          <a:p>
            <a:pPr algn="l"/>
          </a:p>
          <a:p>
            <a:pPr algn="l"/>
          </a:p>
          <a:p>
            <a:pPr algn="l"/>
          </a:p>
          <a:p>
            <a:pPr algn="l"/>
          </a:p>
          <a:p>
            <a:pPr algn="l"/>
          </a:p>
          <a:p>
            <a:pPr algn="l"/>
          </a:p>
          <a:p>
            <a:pPr algn="l"/>
            <a:r>
              <a:rPr kumimoji="1" lang="en-US" altLang="zh-CN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</a:t>
            </a:r>
            <a:r>
              <a:rPr kumimoji="1" lang="zh-CN" altLang="en-US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、沿着</a:t>
            </a:r>
            <a:r>
              <a:rPr kumimoji="1" lang="en-US" altLang="zh-CN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copyfrom</a:t>
            </a:r>
            <a:r>
              <a:rPr kumimoji="1" lang="zh-CN" altLang="en-US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链上溯，寻找完整的祖先链；</a:t>
            </a:r>
            <a:endParaRPr kumimoji="1" lang="zh-CN" altLang="en-US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3</a:t>
            </a:r>
            <a:r>
              <a:rPr kumimoji="1" lang="zh-CN" altLang="en-US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、两条</a:t>
            </a:r>
            <a:r>
              <a:rPr kumimoji="1" lang="en-US" altLang="zh-CN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copyfrom</a:t>
            </a:r>
            <a:r>
              <a:rPr kumimoji="1" lang="zh-CN" altLang="en-US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链交叉寻找最近公共祖先</a:t>
            </a:r>
            <a:r>
              <a:rPr kumimoji="1" lang="en-US" altLang="zh-CN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(LCA)</a:t>
            </a:r>
            <a:endParaRPr kumimoji="1" lang="zh-CN" altLang="en-US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</a:p>
          <a:p>
            <a:pPr algn="l"/>
          </a:p>
          <a:p>
            <a:pPr algn="l"/>
          </a:p>
        </p:txBody>
      </p:sp>
      <p:graphicFrame>
        <p:nvGraphicFramePr>
          <p:cNvPr id="2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887095" y="2280920"/>
          <a:ext cx="4479290" cy="155321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014095"/>
                <a:gridCol w="1859280"/>
                <a:gridCol w="1605915"/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情况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copyfrom-</a:t>
                      </a:r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path</a:t>
                      </a:r>
                      <a:endParaRPr lang="en-US" altLang="zh-CN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标记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55308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正常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切分支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trunk@r1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inferred=false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530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新建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路径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本身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inferred=true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05" y="2280920"/>
            <a:ext cx="6392545" cy="1847850"/>
          </a:xfrm>
          <a:prstGeom prst="rect">
            <a:avLst/>
          </a:prstGeom>
        </p:spPr>
      </p:pic>
      <p:graphicFrame>
        <p:nvGraphicFramePr>
          <p:cNvPr id="4" name="表格 3"/>
          <p:cNvGraphicFramePr/>
          <p:nvPr/>
        </p:nvGraphicFramePr>
        <p:xfrm>
          <a:off x="786130" y="4925695"/>
          <a:ext cx="8533765" cy="76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4165"/>
                <a:gridCol w="2844165"/>
                <a:gridCol w="284416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优化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before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after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SVN rev</a:t>
                      </a:r>
                      <a:r>
                        <a:rPr lang="zh-CN" altLang="en-US"/>
                        <a:t>查询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每张表单独查一次版本，总计</a:t>
                      </a:r>
                      <a:r>
                        <a:rPr lang="en-US" altLang="zh-CN"/>
                        <a:t>191</a:t>
                      </a:r>
                      <a:r>
                        <a:rPr lang="en-US" altLang="zh-CN"/>
                        <a:t>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一次递归查询全目录，缩减为</a:t>
                      </a:r>
                      <a:r>
                        <a:rPr lang="en-US" altLang="zh-CN"/>
                        <a:t>0.2</a:t>
                      </a:r>
                      <a:r>
                        <a:rPr lang="en-US" altLang="zh-CN"/>
                        <a:t>s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Compare 全流程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130" y="1224915"/>
            <a:ext cx="9069705" cy="150050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no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比较过程分为四层：</a:t>
            </a:r>
            <a:endParaRPr sz="1600"/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文件层：新增、删除、重命名、移动。</a:t>
            </a:r>
            <a:endParaRPr sz="1600"/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Sheet 层：新增 sheet、删除 sheet、表头变化。</a:t>
            </a:r>
            <a:endParaRPr sz="1600"/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行列层：主键匹配、行新增删除、字段变更。</a:t>
            </a:r>
            <a:endParaRPr sz="1600"/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语义层：公式、外键引用、ID 冲突和可合并性判断</a:t>
            </a:r>
            <a:endParaRPr sz="1600"/>
          </a:p>
        </p:txBody>
      </p:sp>
      <p:sp>
        <p:nvSpPr>
          <p:cNvPr id="2" name="文本框 1"/>
          <p:cNvSpPr txBox="1"/>
          <p:nvPr/>
        </p:nvSpPr>
        <p:spPr>
          <a:xfrm>
            <a:off x="786130" y="2868930"/>
            <a:ext cx="2470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技术</a:t>
            </a:r>
            <a:r>
              <a:rPr lang="en-US" altLang="zh-CN"/>
              <a:t>:</a:t>
            </a:r>
            <a:endParaRPr lang="en-US" altLang="zh-CN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887095" y="3322320"/>
          <a:ext cx="5768340" cy="270700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29080"/>
                <a:gridCol w="2520315"/>
                <a:gridCol w="1718945"/>
              </a:tblGrid>
              <a:tr h="4552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解决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效果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56261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哈希索引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list.index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线性扫复杂度</a:t>
                      </a: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O(n)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行定位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O(1)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3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sparse diff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全表物化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列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只保留变化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格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261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numpy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向量化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解决逐格归一化的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批量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进行比较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324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公式、批注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回退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向量化无法理解公式、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批注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保证了正确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性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7132320" y="2871470"/>
            <a:ext cx="14344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优化：</a:t>
            </a:r>
            <a:endParaRPr lang="zh-CN" altLang="en-US"/>
          </a:p>
        </p:txBody>
      </p:sp>
      <p:graphicFrame>
        <p:nvGraphicFramePr>
          <p:cNvPr id="5" name="表格 4"/>
          <p:cNvGraphicFramePr/>
          <p:nvPr/>
        </p:nvGraphicFramePr>
        <p:xfrm>
          <a:off x="7239000" y="3322320"/>
          <a:ext cx="477202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75"/>
                <a:gridCol w="1590675"/>
                <a:gridCol w="1590675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指标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before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after</a:t>
                      </a: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大表</a:t>
                      </a:r>
                      <a:r>
                        <a:rPr lang="en-US" altLang="zh-CN"/>
                        <a:t>compare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平均</a:t>
                      </a:r>
                      <a:r>
                        <a:rPr lang="en-US" altLang="zh-CN"/>
                        <a:t>48s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平均</a:t>
                      </a:r>
                      <a:r>
                        <a:rPr lang="en-US" altLang="zh-CN"/>
                        <a:t>6.4</a:t>
                      </a:r>
                      <a:r>
                        <a:rPr lang="en-US" altLang="zh-CN"/>
                        <a:t>s</a:t>
                      </a: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10</a:t>
                      </a:r>
                      <a:r>
                        <a:rPr lang="zh-CN" altLang="en-US"/>
                        <a:t>万行</a:t>
                      </a:r>
                      <a:r>
                        <a:rPr lang="zh-CN" altLang="en-US"/>
                        <a:t>全链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卡死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10.4</a:t>
                      </a:r>
                      <a:r>
                        <a:rPr lang="en-US" altLang="zh-CN"/>
                        <a:t>s</a:t>
                      </a: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提交数据</a:t>
                      </a:r>
                      <a:r>
                        <a:rPr lang="zh-CN" altLang="en-US"/>
                        <a:t>量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46.4</a:t>
                      </a:r>
                      <a:r>
                        <a:rPr lang="en-US" altLang="zh-CN"/>
                        <a:t>MB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0.1MB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Merge</a:t>
            </a:r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391858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 b="1"/>
              <a:t>ID</a:t>
            </a:r>
            <a:r>
              <a:rPr lang="zh-CN" altLang="en-US" b="1"/>
              <a:t>重映射与引用完整性</a:t>
            </a:r>
            <a:r>
              <a:rPr lang="en-US" altLang="zh-CN" b="1"/>
              <a:t>:</a:t>
            </a:r>
            <a:endParaRPr sz="1600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同主键多分支新增时，会出现主键冲突，对于后来者分配新的ID</a:t>
            </a: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随后同步更新引用列，避免只改主表 ID 却留下悬空外键，保证</a:t>
            </a:r>
            <a:r>
              <a:rPr sz="1400" b="1"/>
              <a:t>引用一致性</a:t>
            </a:r>
            <a:r>
              <a:rPr sz="1400"/>
              <a:t>。</a:t>
            </a: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这一层和 Excel-Agent思路一致：先建立依赖契约，再执行替换</a:t>
            </a:r>
            <a:r>
              <a:rPr lang="zh-CN" sz="1400"/>
              <a:t>，否则会出现引用链断裂。</a:t>
            </a:r>
            <a:endParaRPr lang="zh-CN"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400"/>
              <a:t>公式缓存保护</a:t>
            </a:r>
            <a:r>
              <a:rPr lang="en-US" altLang="zh-CN" sz="1400"/>
              <a:t>:</a:t>
            </a:r>
            <a:r>
              <a:rPr sz="1400">
                <a:sym typeface="+mn-ea"/>
              </a:rPr>
              <a:t>Excel 文件内部公式和缓存值分离，直接写盘容易造成缓存丢失或公式失效。</a:t>
            </a:r>
            <a:endParaRPr sz="1400">
              <a:sym typeface="+mn-ea"/>
            </a:endParaR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sz="1600">
              <a:sym typeface="+mn-ea"/>
            </a:endParaR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sz="1600">
              <a:sym typeface="+mn-ea"/>
            </a:endParaR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sz="1600">
              <a:sym typeface="+mn-ea"/>
            </a:endParaR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sz="1600"/>
          </a:p>
        </p:txBody>
      </p:sp>
      <p:sp>
        <p:nvSpPr>
          <p:cNvPr id="13" name="矩形: 圆角 12"/>
          <p:cNvSpPr/>
          <p:nvPr>
            <p:custDataLst>
              <p:tags r:id="rId1"/>
            </p:custDataLst>
          </p:nvPr>
        </p:nvSpPr>
        <p:spPr>
          <a:xfrm>
            <a:off x="2147570" y="3411855"/>
            <a:ext cx="1885315" cy="59944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&lt;f&gt;</a:t>
            </a:r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formula&lt;/f&gt;   </a:t>
            </a:r>
            <a:endParaRPr lang="zh-CN" altLang="en-US" dirty="0">
              <a:ln>
                <a:solidFill>
                  <a:schemeClr val="bg1"/>
                </a:solidFill>
              </a:ln>
            </a:endParaRPr>
          </a:p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&lt;v&gt;value&lt;/v&gt;           </a:t>
            </a:r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4" name="矩形: 圆角 12"/>
          <p:cNvSpPr/>
          <p:nvPr>
            <p:custDataLst>
              <p:tags r:id="rId2"/>
            </p:custDataLst>
          </p:nvPr>
        </p:nvSpPr>
        <p:spPr>
          <a:xfrm>
            <a:off x="4940935" y="3402965"/>
            <a:ext cx="1718945" cy="600075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&lt;f&gt;</a:t>
            </a:r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formula&lt;/f&gt;              </a:t>
            </a:r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cxnSp>
        <p:nvCxnSpPr>
          <p:cNvPr id="2" name="直接箭头连接符 1"/>
          <p:cNvCxnSpPr>
            <a:stCxn id="13" idx="3"/>
            <a:endCxn id="4" idx="1"/>
          </p:cNvCxnSpPr>
          <p:nvPr/>
        </p:nvCxnSpPr>
        <p:spPr>
          <a:xfrm flipV="1">
            <a:off x="4032885" y="3703320"/>
            <a:ext cx="908050" cy="82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839470" y="4158615"/>
            <a:ext cx="5636895" cy="1868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 altLang="zh-CN" sz="1400">
                <a:sym typeface="+mn-ea"/>
              </a:rPr>
              <a:t>1</a:t>
            </a:r>
            <a:r>
              <a:rPr lang="zh-CN" altLang="en-US" sz="1400">
                <a:sym typeface="+mn-ea"/>
              </a:rPr>
              <a:t>、表中无公式则走最快速路径；</a:t>
            </a:r>
            <a:r>
              <a:rPr lang="en-US" altLang="zh-CN" sz="1400">
                <a:sym typeface="+mn-ea"/>
              </a:rPr>
              <a:t>(</a:t>
            </a:r>
            <a:r>
              <a:rPr lang="zh-CN" altLang="en-US" sz="1400">
                <a:sym typeface="+mn-ea"/>
              </a:rPr>
              <a:t>通过使用</a:t>
            </a:r>
            <a:r>
              <a:rPr lang="en-US" altLang="zh-CN" sz="1400" b="1">
                <a:sym typeface="+mn-ea"/>
              </a:rPr>
              <a:t>zip</a:t>
            </a:r>
            <a:r>
              <a:rPr lang="zh-CN" altLang="en-US" sz="1400" b="1">
                <a:sym typeface="+mn-ea"/>
              </a:rPr>
              <a:t>扫描</a:t>
            </a:r>
            <a:r>
              <a:rPr lang="en-US" altLang="zh-CN" sz="1400" b="1">
                <a:sym typeface="+mn-ea"/>
              </a:rPr>
              <a:t>excel</a:t>
            </a:r>
            <a:r>
              <a:rPr lang="zh-CN" altLang="en-US" sz="1400" b="1">
                <a:sym typeface="+mn-ea"/>
              </a:rPr>
              <a:t>文件底层的</a:t>
            </a:r>
            <a:r>
              <a:rPr lang="en-US" altLang="zh-CN" sz="1400" b="1">
                <a:sym typeface="+mn-ea"/>
              </a:rPr>
              <a:t>XML</a:t>
            </a:r>
            <a:r>
              <a:rPr lang="zh-CN" altLang="en-US" sz="1400" b="1">
                <a:sym typeface="+mn-ea"/>
              </a:rPr>
              <a:t>字节流，查找</a:t>
            </a:r>
            <a:r>
              <a:rPr lang="en-US" altLang="zh-CN" sz="1400" b="1">
                <a:sym typeface="+mn-ea"/>
              </a:rPr>
              <a:t>&lt;f&gt;</a:t>
            </a:r>
            <a:r>
              <a:rPr lang="zh-CN" altLang="en-US" sz="1400" b="1">
                <a:sym typeface="+mn-ea"/>
              </a:rPr>
              <a:t>公式标签</a:t>
            </a:r>
            <a:r>
              <a:rPr lang="zh-CN" altLang="en-US" sz="1400">
                <a:sym typeface="+mn-ea"/>
              </a:rPr>
              <a:t>判断表格中是否存在公式</a:t>
            </a:r>
            <a:r>
              <a:rPr lang="en-US" altLang="zh-CN" sz="1400">
                <a:sym typeface="+mn-ea"/>
              </a:rPr>
              <a:t>)</a:t>
            </a:r>
            <a:endParaRPr lang="zh-CN" altLang="en-US"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 altLang="zh-CN" sz="1400">
                <a:sym typeface="+mn-ea"/>
              </a:rPr>
              <a:t>2</a:t>
            </a:r>
            <a:r>
              <a:rPr lang="zh-CN" altLang="en-US" sz="1400">
                <a:sym typeface="+mn-ea"/>
              </a:rPr>
              <a:t>、将保存后文件读回，并与保存前快照做比较，若保存前后出现缓存值消失，则为缓存丢失，标记为</a:t>
            </a:r>
            <a:r>
              <a:rPr lang="en-US" altLang="zh-CN" sz="1400">
                <a:sym typeface="+mn-ea"/>
              </a:rPr>
              <a:t>lost</a:t>
            </a:r>
            <a:r>
              <a:rPr lang="zh-CN" altLang="en-US" sz="1400">
                <a:sym typeface="+mn-ea"/>
              </a:rPr>
              <a:t>；若前后值不一致，则属于正常的缓存更新，标记为</a:t>
            </a:r>
            <a:r>
              <a:rPr lang="en-US" altLang="zh-CN" sz="1400">
                <a:sym typeface="+mn-ea"/>
              </a:rPr>
              <a:t>changed</a:t>
            </a:r>
            <a:r>
              <a:rPr lang="zh-CN" altLang="en-US" sz="1400">
                <a:sym typeface="+mn-ea"/>
              </a:rPr>
              <a:t>；</a:t>
            </a:r>
            <a:endParaRPr lang="zh-CN" altLang="en-US"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 altLang="zh-CN" sz="1400">
                <a:sym typeface="+mn-ea"/>
              </a:rPr>
              <a:t>3</a:t>
            </a:r>
            <a:r>
              <a:rPr lang="zh-CN" altLang="en-US" sz="1400">
                <a:sym typeface="+mn-ea"/>
              </a:rPr>
              <a:t>、对于</a:t>
            </a:r>
            <a:r>
              <a:rPr lang="en-US" altLang="zh-CN" sz="1400">
                <a:sym typeface="+mn-ea"/>
              </a:rPr>
              <a:t>changed</a:t>
            </a:r>
            <a:r>
              <a:rPr lang="zh-CN" altLang="en-US" sz="1400">
                <a:sym typeface="+mn-ea"/>
              </a:rPr>
              <a:t>情况，无需修复；</a:t>
            </a:r>
            <a:endParaRPr lang="zh-CN" altLang="en-US"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 altLang="zh-CN" sz="1400">
                <a:sym typeface="+mn-ea"/>
              </a:rPr>
              <a:t>4</a:t>
            </a:r>
            <a:r>
              <a:rPr lang="zh-CN" altLang="en-US" sz="1400">
                <a:sym typeface="+mn-ea"/>
              </a:rPr>
              <a:t>、对于</a:t>
            </a:r>
            <a:r>
              <a:rPr lang="en-US" altLang="zh-CN" sz="1400">
                <a:sym typeface="+mn-ea"/>
              </a:rPr>
              <a:t>lost</a:t>
            </a:r>
            <a:r>
              <a:rPr lang="zh-CN" altLang="en-US" sz="1400">
                <a:sym typeface="+mn-ea"/>
              </a:rPr>
              <a:t>情况，调用</a:t>
            </a:r>
            <a:r>
              <a:rPr lang="en-US" altLang="zh-CN" sz="1400">
                <a:sym typeface="+mn-ea"/>
              </a:rPr>
              <a:t>LibreOffice</a:t>
            </a:r>
            <a:r>
              <a:rPr lang="zh-CN" altLang="en-US" sz="1400">
                <a:sym typeface="+mn-ea"/>
              </a:rPr>
              <a:t>对文件进行重算，进行再度校验</a:t>
            </a:r>
            <a:endParaRPr lang="en-US" altLang="zh-CN" sz="1400"/>
          </a:p>
        </p:txBody>
      </p:sp>
      <p:sp>
        <p:nvSpPr>
          <p:cNvPr id="5" name="文本框 4"/>
          <p:cNvSpPr txBox="1"/>
          <p:nvPr/>
        </p:nvSpPr>
        <p:spPr>
          <a:xfrm>
            <a:off x="6834505" y="4158615"/>
            <a:ext cx="3589655" cy="13836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kumimoji="1" lang="zh-CN" altLang="en-US" sz="1400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设置保护</a:t>
            </a:r>
            <a:r>
              <a:rPr kumimoji="1" lang="en-US" altLang="zh-CN" sz="1400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:</a:t>
            </a:r>
            <a:endParaRPr kumimoji="1" lang="en-US" altLang="zh-CN" sz="1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60s</a:t>
            </a:r>
            <a:r>
              <a:rPr kumimoji="1" lang="zh-CN" altLang="en-US" sz="140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超时上限，避免单文件卡死全流程；</a:t>
            </a:r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kumimoji="1" lang="zh-CN" altLang="en-US" sz="140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文件添加互斥锁，保护文件不被损坏；</a:t>
            </a:r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kumimoji="1" lang="zh-CN" altLang="en-US" sz="1400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重算结果先输出到临时目录，再替换掉源文件</a:t>
            </a:r>
            <a:endParaRPr kumimoji="1" lang="zh-CN" altLang="en-US" sz="1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endParaRPr lang="zh-CN" altLang="en-US" sz="14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2" name="表格 1"/>
          <p:cNvGraphicFramePr/>
          <p:nvPr/>
        </p:nvGraphicFramePr>
        <p:xfrm>
          <a:off x="2112645" y="2660015"/>
          <a:ext cx="477901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5225"/>
                <a:gridCol w="234378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因子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作用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SVN rev/SVN date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版本越新倾向于采纳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列名语义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判断值是否合理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单元格值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判断值是否异常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基准值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提供</a:t>
                      </a:r>
                      <a:r>
                        <a:rPr lang="en-US" altLang="zh-CN" sz="1400"/>
                        <a:t>base</a:t>
                      </a:r>
                      <a:r>
                        <a:rPr lang="zh-CN" altLang="en-US" sz="1400"/>
                        <a:t>值供参考</a:t>
                      </a: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zh-CN"/>
              <a:t>       </a:t>
            </a:r>
            <a:r>
              <a:rPr lang="en-US" altLang="zh-CN" b="1"/>
              <a:t> </a:t>
            </a:r>
            <a:r>
              <a:rPr lang="zh-CN" b="1"/>
              <a:t>公式缓存与</a:t>
            </a:r>
            <a:r>
              <a:rPr lang="en-US" altLang="zh-CN" b="1"/>
              <a:t>fast-apply</a:t>
            </a:r>
            <a:endParaRPr lang="en-US" altLang="zh-CN" b="1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130" y="1170305"/>
            <a:ext cx="11027410" cy="38100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公式单元格冲突解决：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对于公式单元格，系统会将其识别为公式列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(diff_type=formula)</a:t>
            </a:r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公式写法一致但缓存值不一致，视为不冲突，如果公式引用的输入值发生变化，会有标记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formula_changed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，调用内置求值器预览重算结果进行展示；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公式写法不一致则视为公式冲突，这时在冲突显示界面会显示单元格原有的公式，供用户比对选择。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选择写回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用户选择公式版本以后，系统回打上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formula_resolved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标记，在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apply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写回阶段根据标记将用户选择的公式文本写回单元格。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对于大数据量表格，</a:t>
            </a:r>
            <a:r>
              <a:rPr kumimoji="1" lang="en-US" altLang="zh-CN" sz="1600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fast_apply</a:t>
            </a:r>
            <a:r>
              <a:rPr kumimoji="1" lang="zh-CN" altLang="en-US" sz="1600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快路径</a:t>
            </a:r>
            <a:r>
              <a:rPr kumimoji="1" lang="en-US" altLang="zh-CN" sz="1600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+zip+XML</a:t>
            </a:r>
            <a:r>
              <a:rPr kumimoji="1" lang="zh-CN" altLang="en-US" sz="1600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的形式直接修改目标单元格，不触碰公式单元格，不会破坏公式缓存。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Merge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进行到最后是合并结果写回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xlsx,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用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ope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npyxl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消耗时间太长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xlsx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本质是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zip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包，用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zipfile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打开源文件，只读需要修改的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sheet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的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XML,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用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lxml/ElementTree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定位到具体单元格，最后将改完的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XML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放回新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zip</a:t>
            </a:r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ea typeface="微软雅黑" panose="020B0503020204020204" pitchFamily="34" charset="-122"/>
              <a:sym typeface="+mn-ea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786130" y="4872990"/>
          <a:ext cx="8533765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4165"/>
                <a:gridCol w="2844165"/>
                <a:gridCol w="284416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before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after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apply</a:t>
                      </a:r>
                      <a:r>
                        <a:rPr lang="zh-CN" altLang="en-US"/>
                        <a:t>处理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19.6s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4.3</a:t>
                      </a:r>
                      <a:r>
                        <a:rPr lang="en-US" altLang="zh-CN"/>
                        <a:t>s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序列化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4.9</a:t>
                      </a:r>
                      <a:r>
                        <a:rPr lang="en-US" altLang="zh-CN"/>
                        <a:t>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0.3s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AI 辅助冲突处理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130" y="1170305"/>
            <a:ext cx="10407015" cy="435165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AI 只提供冲突建议，其完整的建议链路为：</a:t>
            </a: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>
                <a:sym typeface="+mn-ea"/>
              </a:rPr>
              <a:t>点击AI建议前端发送请求-&gt;调用线程池进行运行-&gt;根据LLM输入拼成prompt发送给模型-&gt;LLM返回Json输出-&gt;防幻觉校验</a:t>
            </a: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 altLang="zh-CN"/>
              <a:t>AI</a:t>
            </a:r>
            <a:r>
              <a:rPr lang="zh-CN" altLang="en-US"/>
              <a:t>建议</a:t>
            </a:r>
            <a:r>
              <a:rPr lang="en-US" altLang="zh-CN"/>
              <a:t> </a:t>
            </a:r>
            <a:r>
              <a:rPr lang="zh-CN" altLang="en-US"/>
              <a:t>相关的因子</a:t>
            </a:r>
            <a:r>
              <a:rPr lang="en-US" altLang="zh-CN"/>
              <a:t>:</a:t>
            </a: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输出</a:t>
            </a:r>
            <a:r>
              <a:rPr lang="en-US" sz="1400"/>
              <a:t>json</a:t>
            </a:r>
            <a:r>
              <a:rPr lang="zh-CN" altLang="en-US" sz="1400"/>
              <a:t>：</a:t>
            </a:r>
            <a:r>
              <a:rPr sz="1400"/>
              <a:t>建议保留来源、理由和置信度，最终由用户确认。</a:t>
            </a: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sz="1400"/>
          </a:p>
        </p:txBody>
      </p:sp>
      <p:graphicFrame>
        <p:nvGraphicFramePr>
          <p:cNvPr id="2" name="表格 1"/>
          <p:cNvGraphicFramePr/>
          <p:nvPr/>
        </p:nvGraphicFramePr>
        <p:xfrm>
          <a:off x="843915" y="2816860"/>
          <a:ext cx="477901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5225"/>
                <a:gridCol w="234378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因子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作用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SVN rev/SVN date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版本越新倾向于采纳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列名语义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判断值是否合理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单元格值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判断值是否异常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基准值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提供</a:t>
                      </a:r>
                      <a:r>
                        <a:rPr lang="en-US" altLang="zh-CN" sz="1400"/>
                        <a:t>base</a:t>
                      </a:r>
                      <a:r>
                        <a:rPr lang="zh-CN" altLang="en-US" sz="1400"/>
                        <a:t>值供参考</a:t>
                      </a: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6085840" y="2018665"/>
            <a:ext cx="5681980" cy="3764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置信度结合规则一致性、字段风险、冲突复杂度和模型解释质量。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</a:rPr>
              <a:t>置信度相关的因子: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LLM自评因子llm_conf:LLM自行评价得出指标；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修订号领先度因子rev_conf:版本越领先取值越高；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值域合理性因子value_conf:取值越合理分支越高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sz="1400">
              <a:solidFill>
                <a:srgbClr val="262626"/>
              </a:solidFill>
              <a:latin typeface="微软雅黑" panose="020B0503020204020204" pitchFamily="34" charset="-122"/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400">
                <a:solidFill>
                  <a:srgbClr val="262626"/>
                </a:solidFill>
                <a:highlight>
                  <a:srgbClr val="FFFF00"/>
                </a:highlight>
                <a:latin typeface="微软雅黑" panose="020B0503020204020204" pitchFamily="34" charset="-122"/>
                <a:sym typeface="+mn-ea"/>
              </a:rPr>
              <a:t>final = 0.60·llm_conf + 0.25·rev_conf + 0.15·value_conf</a:t>
            </a:r>
            <a:endParaRPr lang="en-US" altLang="zh-CN" sz="1400">
              <a:solidFill>
                <a:srgbClr val="262626"/>
              </a:solidFill>
              <a:highlight>
                <a:srgbClr val="FFFF00"/>
              </a:highlight>
              <a:latin typeface="微软雅黑" panose="020B0503020204020204" pitchFamily="34" charset="-122"/>
              <a:sym typeface="+mn-ea"/>
            </a:endParaRPr>
          </a:p>
          <a:p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</a:rPr>
              <a:t>AI建议并行操作使用的技术：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缓存优先：缓存键由表名、sheet名、列名和版本哈希组成，命中且未过期则返回；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批量LLM：将为缓存的单元格拼接进prompt，让LLM一次调用返回json，根据index返回位置；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回退并行：在批量操作失败的情况下用线程池并发逐格调用。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endParaRPr lang="zh-CN" altLang="en-US" sz="1400" b="1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514350" y="2068830"/>
          <a:ext cx="10299065" cy="395224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553585"/>
                <a:gridCol w="574548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</a:t>
                      </a:r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受益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calamine Rust 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读引擎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222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次打开表格时长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17.5s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0.8s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64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svn info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批量预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填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192s-&gt;0.2s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ProcessPool/ThreadPool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对于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个表格时长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3.69s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1.84s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1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fast_apply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快路径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25MB的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sheet XML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序列化从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3.4s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0.98s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16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未变更表跳过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可以跳过占大多数的表格体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0" name="Rectangle 59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/>
              <a:t>大表格比对</a:t>
            </a:r>
            <a:r>
              <a:rPr lang="zh-CN"/>
              <a:t>性能</a:t>
            </a:r>
            <a:endParaRPr lang="zh-CN"/>
          </a:p>
        </p:txBody>
      </p:sp>
      <p:sp>
        <p:nvSpPr>
          <p:cNvPr id="63" name="Rectangle 62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6384" y="1170432"/>
            <a:ext cx="10058400" cy="94170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200"/>
              <a:t>Compare 和写回阶段按文件/Sheet 粒度并行。</a:t>
            </a:r>
            <a:endParaRPr sz="12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200"/>
              <a:t>CPU 密集比较使用 ProcessPool，I/O 和解析任务使用 ThreadPool。</a:t>
            </a:r>
            <a:endParaRPr sz="12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200"/>
              <a:t>worker 上限跟 CPU、文件数和内存占用绑定，避免并行越多越慢。</a:t>
            </a:r>
            <a:endParaRPr sz="12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200"/>
              <a:t>fast_apply 让无冲突、低风险文件快速落盘。</a:t>
            </a:r>
            <a:endParaRPr sz="1200"/>
          </a:p>
        </p:txBody>
      </p:sp>
      <p:graphicFrame>
        <p:nvGraphicFramePr>
          <p:cNvPr id="2" name="表格 2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641350" y="2195830"/>
          <a:ext cx="10299065" cy="395224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553585"/>
                <a:gridCol w="574548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</a:t>
                      </a:r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受益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calamine Rust 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读引擎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222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次）打开表格时长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17.5s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0.8s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64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svn info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批量预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填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191s-&gt;0.2s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ProcessPool/ThreadPool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对于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个表格时长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3.69s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1.84s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1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fast_apply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快路径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25MB的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sheet XML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序列化从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3.4s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0.98s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16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未变更表跳过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可以跳过占大多数的表格体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0" y="2680382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 YOU</a:t>
            </a:r>
            <a:endParaRPr kumimoji="1" lang="zh-CN" altLang="en-US" sz="6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图形 1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97313" y="3723592"/>
            <a:ext cx="1197375" cy="20097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2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3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4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5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6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7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8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9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0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1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2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3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4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5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6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7.xml><?xml version="1.0" encoding="utf-8"?>
<p:tagLst xmlns:p="http://schemas.openxmlformats.org/presentationml/2006/main">
  <p:tag name="KSO_WM_DIAGRAM_VIRTUALLY_FRAME" val="{&quot;height&quot;:97.2,&quot;left&quot;:54,&quot;top&quot;:118.8,&quot;width&quot;:846}"/>
</p:tagLst>
</file>

<file path=ppt/tags/tag18.xml><?xml version="1.0" encoding="utf-8"?>
<p:tagLst xmlns:p="http://schemas.openxmlformats.org/presentationml/2006/main">
  <p:tag name="KSO_WM_DIAGRAM_VIRTUALLY_FRAME" val="{&quot;height&quot;:97.2,&quot;left&quot;:54,&quot;top&quot;:118.8,&quot;width&quot;:846}"/>
</p:tagLst>
</file>

<file path=ppt/tags/tag19.xml><?xml version="1.0" encoding="utf-8"?>
<p:tagLst xmlns:p="http://schemas.openxmlformats.org/presentationml/2006/main">
  <p:tag name="KSO_WM_DIAGRAM_VIRTUALLY_FRAME" val="{&quot;height&quot;:97.2,&quot;left&quot;:54,&quot;top&quot;:118.8,&quot;width&quot;:846}"/>
</p:tagLst>
</file>

<file path=ppt/tags/tag20.xml><?xml version="1.0" encoding="utf-8"?>
<p:tagLst xmlns:p="http://schemas.openxmlformats.org/presentationml/2006/main">
  <p:tag name="KSO_WM_DIAGRAM_VIRTUALLY_FRAME" val="{&quot;height&quot;:97.2,&quot;left&quot;:54,&quot;top&quot;:118.8,&quot;width&quot;:846}"/>
</p:tagLst>
</file>

<file path=ppt/tags/tag21.xml><?xml version="1.0" encoding="utf-8"?>
<p:tagLst xmlns:p="http://schemas.openxmlformats.org/presentationml/2006/main">
  <p:tag name="KSO_WM_DIAGRAM_VIRTUALLY_FRAME" val="{&quot;height&quot;:97.2,&quot;left&quot;:54,&quot;top&quot;:118.8,&quot;width&quot;:846}"/>
</p:tagLst>
</file>

<file path=ppt/tags/tag22.xml><?xml version="1.0" encoding="utf-8"?>
<p:tagLst xmlns:p="http://schemas.openxmlformats.org/presentationml/2006/main">
  <p:tag name="KSO_WM_DIAGRAM_VIRTUALLY_FRAME" val="{&quot;height&quot;:97.2,&quot;left&quot;:54,&quot;top&quot;:118.8,&quot;width&quot;:846}"/>
</p:tagLst>
</file>

<file path=ppt/tags/tag23.xml><?xml version="1.0" encoding="utf-8"?>
<p:tagLst xmlns:p="http://schemas.openxmlformats.org/presentationml/2006/main">
  <p:tag name="KSO_WM_DIAGRAM_VIRTUALLY_FRAME" val="{&quot;height&quot;:97.2,&quot;left&quot;:54,&quot;top&quot;:118.8,&quot;width&quot;:846}"/>
</p:tagLst>
</file>

<file path=ppt/tags/tag24.xml><?xml version="1.0" encoding="utf-8"?>
<p:tagLst xmlns:p="http://schemas.openxmlformats.org/presentationml/2006/main">
  <p:tag name="KSO_WM_DIAGRAM_VIRTUALLY_FRAME" val="{&quot;height&quot;:97.2,&quot;left&quot;:54,&quot;top&quot;:118.8,&quot;width&quot;:846}"/>
</p:tagLst>
</file>

<file path=ppt/tags/tag25.xml><?xml version="1.0" encoding="utf-8"?>
<p:tagLst xmlns:p="http://schemas.openxmlformats.org/presentationml/2006/main">
  <p:tag name="KSO_WM_DIAGRAM_VIRTUALLY_FRAME" val="{&quot;height&quot;:97.2,&quot;left&quot;:54,&quot;top&quot;:118.8,&quot;width&quot;:846}"/>
</p:tagLst>
</file>

<file path=ppt/tags/tag26.xml><?xml version="1.0" encoding="utf-8"?>
<p:tagLst xmlns:p="http://schemas.openxmlformats.org/presentationml/2006/main">
  <p:tag name="KSO_WM_DIAGRAM_VIRTUALLY_FRAME" val="{&quot;height&quot;:97.2,&quot;left&quot;:54,&quot;top&quot;:118.8,&quot;width&quot;:846}"/>
</p:tagLst>
</file>

<file path=ppt/tags/tag27.xml><?xml version="1.0" encoding="utf-8"?>
<p:tagLst xmlns:p="http://schemas.openxmlformats.org/presentationml/2006/main">
  <p:tag name="KSO_WM_DIAGRAM_VIRTUALLY_FRAME" val="{&quot;height&quot;:97.2,&quot;left&quot;:54,&quot;top&quot;:118.8,&quot;width&quot;:846}"/>
</p:tagLst>
</file>

<file path=ppt/tags/tag28.xml><?xml version="1.0" encoding="utf-8"?>
<p:tagLst xmlns:p="http://schemas.openxmlformats.org/presentationml/2006/main">
  <p:tag name="KSO_WM_DIAGRAM_VIRTUALLY_FRAME" val="{&quot;height&quot;:97.2,&quot;left&quot;:54,&quot;top&quot;:118.8,&quot;width&quot;:846}"/>
</p:tagLst>
</file>

<file path=ppt/tags/tag29.xml><?xml version="1.0" encoding="utf-8"?>
<p:tagLst xmlns:p="http://schemas.openxmlformats.org/presentationml/2006/main">
  <p:tag name="TABLE_ENDDRAG_ORIGIN_RECT" val="713*233"/>
  <p:tag name="TABLE_ENDDRAG_RECT" val="65*82*713*233"/>
</p:tagLst>
</file>

<file path=ppt/tags/tag30.xml><?xml version="1.0" encoding="utf-8"?>
<p:tagLst xmlns:p="http://schemas.openxmlformats.org/presentationml/2006/main">
  <p:tag name="TABLE_ENDDRAG_ORIGIN_RECT" val="348*197"/>
  <p:tag name="TABLE_ENDDRAG_RECT" val="55*172*348*197"/>
</p:tagLst>
</file>

<file path=ppt/tags/tag31.xml><?xml version="1.0" encoding="utf-8"?>
<p:tagLst xmlns:p="http://schemas.openxmlformats.org/presentationml/2006/main">
  <p:tag name="TABLE_ENDDRAG_ORIGIN_RECT" val="441*231"/>
  <p:tag name="TABLE_ENDDRAG_RECT" val="455*172*441*231"/>
</p:tagLst>
</file>

<file path=ppt/tags/tag32.xml><?xml version="1.0" encoding="utf-8"?>
<p:tagLst xmlns:p="http://schemas.openxmlformats.org/presentationml/2006/main">
  <p:tag name="TABLE_ENDDRAG_ORIGIN_RECT" val="700*140"/>
  <p:tag name="TABLE_ENDDRAG_RECT" val="46*177*700*140"/>
</p:tagLst>
</file>

<file path=ppt/tags/tag33.xml><?xml version="1.0" encoding="utf-8"?>
<p:tagLst xmlns:p="http://schemas.openxmlformats.org/presentationml/2006/main">
  <p:tag name="TABLE_ENDDRAG_ORIGIN_RECT" val="701*145"/>
  <p:tag name="TABLE_ENDDRAG_RECT" val="55*126*701*145"/>
</p:tagLst>
</file>

<file path=ppt/tags/tag34.xml><?xml version="1.0" encoding="utf-8"?>
<p:tagLst xmlns:p="http://schemas.openxmlformats.org/presentationml/2006/main">
  <p:tag name="TABLE_ENDDRAG_ORIGIN_RECT" val="337*124"/>
  <p:tag name="TABLE_ENDDRAG_RECT" val="60*340*337*124"/>
</p:tagLst>
</file>

<file path=ppt/tags/tag35.xml><?xml version="1.0" encoding="utf-8"?>
<p:tagLst xmlns:p="http://schemas.openxmlformats.org/presentationml/2006/main">
  <p:tag name="TABLE_ENDDRAG_ORIGIN_RECT" val="507*116"/>
  <p:tag name="TABLE_ENDDRAG_RECT" val="48*116*507*116"/>
</p:tagLst>
</file>

<file path=ppt/tags/tag36.xml><?xml version="1.0" encoding="utf-8"?>
<p:tagLst xmlns:p="http://schemas.openxmlformats.org/presentationml/2006/main">
  <p:tag name="TABLE_ENDDRAG_ORIGIN_RECT" val="596*201"/>
  <p:tag name="TABLE_ENDDRAG_RECT" val="163*145*596*201"/>
</p:tagLst>
</file>

<file path=ppt/tags/tag37.xml><?xml version="1.0" encoding="utf-8"?>
<p:tagLst xmlns:p="http://schemas.openxmlformats.org/presentationml/2006/main">
  <p:tag name="TABLE_ENDDRAG_ORIGIN_RECT" val="761*106"/>
  <p:tag name="TABLE_ENDDRAG_RECT" val="51*153*761*106"/>
</p:tagLst>
</file>

<file path=ppt/tags/tag38.xml><?xml version="1.0" encoding="utf-8"?>
<p:tagLst xmlns:p="http://schemas.openxmlformats.org/presentationml/2006/main">
  <p:tag name="TABLE_ENDDRAG_ORIGIN_RECT" val="875*222"/>
  <p:tag name="TABLE_ENDDRAG_RECT" val="46*145*875*222"/>
</p:tagLst>
</file>

<file path=ppt/tags/tag39.xml><?xml version="1.0" encoding="utf-8"?>
<p:tagLst xmlns:p="http://schemas.openxmlformats.org/presentationml/2006/main">
  <p:tag name="TABLE_ENDDRAG_ORIGIN_RECT" val="823*228"/>
  <p:tag name="TABLE_ENDDRAG_RECT" val="46*136*823*228"/>
</p:tagLst>
</file>

<file path=ppt/tags/tag40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41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42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43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44.xml><?xml version="1.0" encoding="utf-8"?>
<p:tagLst xmlns:p="http://schemas.openxmlformats.org/presentationml/2006/main">
  <p:tag name="TABLE_ENDDRAG_ORIGIN_RECT" val="352*121"/>
  <p:tag name="TABLE_ENDDRAG_RECT" val="46*247*352*121"/>
</p:tagLst>
</file>

<file path=ppt/tags/tag45.xml><?xml version="1.0" encoding="utf-8"?>
<p:tagLst xmlns:p="http://schemas.openxmlformats.org/presentationml/2006/main">
  <p:tag name="TABLE_ENDDRAG_ORIGIN_RECT" val="454*213"/>
  <p:tag name="TABLE_ENDDRAG_RECT" val="69*270*454*213"/>
</p:tagLst>
</file>

<file path=ppt/tags/tag46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47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48.xml><?xml version="1.0" encoding="utf-8"?>
<p:tagLst xmlns:p="http://schemas.openxmlformats.org/presentationml/2006/main">
  <p:tag name="TABLE_ENDDRAG_ORIGIN_RECT" val="810*354"/>
  <p:tag name="TABLE_ENDDRAG_RECT" val="40*162*810*354"/>
</p:tagLst>
</file>

<file path=ppt/tags/tag49.xml><?xml version="1.0" encoding="utf-8"?>
<p:tagLst xmlns:p="http://schemas.openxmlformats.org/presentationml/2006/main">
  <p:tag name="TABLE_ENDDRAG_ORIGIN_RECT" val="810*354"/>
  <p:tag name="TABLE_ENDDRAG_RECT" val="40*162*810*354"/>
</p:tagLst>
</file>

<file path=ppt/tags/tag50.xml><?xml version="1.0" encoding="utf-8"?>
<p:tagLst xmlns:p="http://schemas.openxmlformats.org/presentationml/2006/main">
  <p:tag name="COMMONDATA" val="eyJoZGlkIjoiMzA3YmEwZTZiZTcwOGUxNGRjZDIwNzAwMzQ1ZGJkNWEifQ=="/>
  <p:tag name="resource_record_key" val="{&quot;10&quot;:[50062481]}"/>
</p:tagLst>
</file>

<file path=ppt/theme/theme1.xml><?xml version="1.0" encoding="utf-8"?>
<a:theme xmlns:a="http://schemas.openxmlformats.org/drawingml/2006/main" name="Office 主题​​">
  <a:themeElements>
    <a:clrScheme name="红色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8349</Words>
  <Application>WPS 演示</Application>
  <PresentationFormat>宽屏</PresentationFormat>
  <Paragraphs>1273</Paragraphs>
  <Slides>32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8" baseType="lpstr">
      <vt:lpstr>Arial</vt:lpstr>
      <vt:lpstr>宋体</vt:lpstr>
      <vt:lpstr>Wingdings</vt:lpstr>
      <vt:lpstr>微软雅黑</vt:lpstr>
      <vt:lpstr>Arial Unicode MS</vt:lpstr>
      <vt:lpstr>Arial Black</vt:lpstr>
      <vt:lpstr>黑体</vt:lpstr>
      <vt:lpstr>PingFang SC Regular</vt:lpstr>
      <vt:lpstr>PingFang SC Light</vt:lpstr>
      <vt:lpstr>PingFang SC Medium</vt:lpstr>
      <vt:lpstr>等线</vt:lpstr>
      <vt:lpstr>PingFang SC Light</vt:lpstr>
      <vt:lpstr>PingFang SC Medium</vt:lpstr>
      <vt:lpstr>PingFang SC Regular</vt:lpstr>
      <vt:lpstr>Liberation Mono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网易集团PPT模板</dc:title>
  <dc:creator>Netease</dc:creator>
  <cp:lastModifiedBy>吴植贤</cp:lastModifiedBy>
  <cp:revision>307</cp:revision>
  <dcterms:created xsi:type="dcterms:W3CDTF">2020-10-23T08:28:00Z</dcterms:created>
  <dcterms:modified xsi:type="dcterms:W3CDTF">2026-09-01T08:56:21Z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CBF6EA77B58649A69751C5AC90853E80</vt:lpwstr>
  </property>
  <property fmtid="{D5CDD505-2E9C-101B-9397-08002B2CF9AE}" pid="3" name="KSOProductBuildVer">
    <vt:lpwstr>2052-12.1.0.28043</vt:lpwstr>
  </property>
</Properties>
</file>