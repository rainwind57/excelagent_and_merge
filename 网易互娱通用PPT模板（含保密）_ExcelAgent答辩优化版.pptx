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tiff" ContentType="image/tiff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8.svg" ContentType="image/svg+xml"/>
  <Override PartName="/ppt/media/image4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85"/>
  </p:handoutMasterIdLst>
  <p:sldIdLst>
    <p:sldId id="468" r:id="rId3"/>
    <p:sldId id="339" r:id="rId5"/>
    <p:sldId id="284" r:id="rId6"/>
    <p:sldId id="426" r:id="rId7"/>
    <p:sldId id="427" r:id="rId8"/>
    <p:sldId id="471" r:id="rId9"/>
    <p:sldId id="434" r:id="rId10"/>
    <p:sldId id="435" r:id="rId11"/>
    <p:sldId id="464" r:id="rId12"/>
    <p:sldId id="472" r:id="rId13"/>
    <p:sldId id="466" r:id="rId14"/>
    <p:sldId id="465" r:id="rId15"/>
    <p:sldId id="467" r:id="rId16"/>
    <p:sldId id="473" r:id="rId17"/>
    <p:sldId id="437" r:id="rId18"/>
    <p:sldId id="438" r:id="rId19"/>
    <p:sldId id="440" r:id="rId20"/>
    <p:sldId id="439" r:id="rId21"/>
    <p:sldId id="441" r:id="rId22"/>
    <p:sldId id="456" r:id="rId23"/>
    <p:sldId id="470" r:id="rId24"/>
    <p:sldId id="453" r:id="rId25"/>
    <p:sldId id="454" r:id="rId26"/>
    <p:sldId id="445" r:id="rId27"/>
    <p:sldId id="446" r:id="rId28"/>
    <p:sldId id="458" r:id="rId29"/>
    <p:sldId id="459" r:id="rId30"/>
    <p:sldId id="460" r:id="rId31"/>
    <p:sldId id="461" r:id="rId32"/>
    <p:sldId id="462" r:id="rId33"/>
    <p:sldId id="451" r:id="rId34"/>
    <p:sldId id="463" r:id="rId35"/>
    <p:sldId id="431" r:id="rId36"/>
    <p:sldId id="425" r:id="rId37"/>
    <p:sldId id="266" r:id="rId38"/>
    <p:sldId id="257" r:id="rId39"/>
    <p:sldId id="262" r:id="rId40"/>
    <p:sldId id="273" r:id="rId41"/>
    <p:sldId id="306" r:id="rId42"/>
    <p:sldId id="377" r:id="rId43"/>
    <p:sldId id="412" r:id="rId44"/>
    <p:sldId id="321" r:id="rId45"/>
    <p:sldId id="263" r:id="rId46"/>
    <p:sldId id="277" r:id="rId47"/>
    <p:sldId id="374" r:id="rId48"/>
    <p:sldId id="293" r:id="rId49"/>
    <p:sldId id="269" r:id="rId50"/>
    <p:sldId id="430" r:id="rId51"/>
    <p:sldId id="361" r:id="rId52"/>
    <p:sldId id="403" r:id="rId53"/>
    <p:sldId id="260" r:id="rId54"/>
    <p:sldId id="267" r:id="rId55"/>
    <p:sldId id="341" r:id="rId56"/>
    <p:sldId id="379" r:id="rId57"/>
    <p:sldId id="342" r:id="rId58"/>
    <p:sldId id="356" r:id="rId59"/>
    <p:sldId id="301" r:id="rId60"/>
    <p:sldId id="303" r:id="rId61"/>
    <p:sldId id="327" r:id="rId62"/>
    <p:sldId id="395" r:id="rId63"/>
    <p:sldId id="396" r:id="rId64"/>
    <p:sldId id="423" r:id="rId65"/>
    <p:sldId id="309" r:id="rId66"/>
    <p:sldId id="393" r:id="rId67"/>
    <p:sldId id="394" r:id="rId68"/>
    <p:sldId id="404" r:id="rId69"/>
    <p:sldId id="405" r:id="rId70"/>
    <p:sldId id="406" r:id="rId71"/>
    <p:sldId id="407" r:id="rId72"/>
    <p:sldId id="368" r:id="rId73"/>
    <p:sldId id="371" r:id="rId74"/>
    <p:sldId id="369" r:id="rId75"/>
    <p:sldId id="270" r:id="rId76"/>
    <p:sldId id="281" r:id="rId77"/>
    <p:sldId id="337" r:id="rId78"/>
    <p:sldId id="264" r:id="rId79"/>
    <p:sldId id="362" r:id="rId80"/>
    <p:sldId id="398" r:id="rId81"/>
    <p:sldId id="424" r:id="rId82"/>
    <p:sldId id="363" r:id="rId83"/>
    <p:sldId id="365" r:id="rId84"/>
  </p:sldIdLst>
  <p:sldSz cx="12192000" cy="6858000"/>
  <p:notesSz cx="6858000" cy="9144000"/>
  <p:custDataLst>
    <p:tags r:id="rId9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徐小欢" initials="徐小欢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0D0B"/>
    <a:srgbClr val="C21C1C"/>
    <a:srgbClr val="CB1313"/>
    <a:srgbClr val="DB1F1F"/>
    <a:srgbClr val="E12F2F"/>
    <a:srgbClr val="1A1A1B"/>
    <a:srgbClr val="313134"/>
    <a:srgbClr val="181819"/>
    <a:srgbClr val="A50A09"/>
    <a:srgbClr val="DF39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/>
    <p:restoredTop sz="94270" autoAdjust="0"/>
  </p:normalViewPr>
  <p:slideViewPr>
    <p:cSldViewPr snapToGrid="0">
      <p:cViewPr varScale="1">
        <p:scale>
          <a:sx n="108" d="100"/>
          <a:sy n="108" d="100"/>
        </p:scale>
        <p:origin x="102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0" Type="http://schemas.openxmlformats.org/officeDocument/2006/relationships/tags" Target="tags/tag38.xml"/><Relationship Id="rId9" Type="http://schemas.openxmlformats.org/officeDocument/2006/relationships/slide" Target="slides/slide6.xml"/><Relationship Id="rId89" Type="http://schemas.openxmlformats.org/officeDocument/2006/relationships/commentAuthors" Target="commentAuthors.xml"/><Relationship Id="rId88" Type="http://schemas.openxmlformats.org/officeDocument/2006/relationships/tableStyles" Target="tableStyles.xml"/><Relationship Id="rId87" Type="http://schemas.openxmlformats.org/officeDocument/2006/relationships/viewProps" Target="viewProps.xml"/><Relationship Id="rId86" Type="http://schemas.openxmlformats.org/officeDocument/2006/relationships/presProps" Target="presProps.xml"/><Relationship Id="rId85" Type="http://schemas.openxmlformats.org/officeDocument/2006/relationships/handoutMaster" Target="handoutMasters/handoutMaster1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74031977886822"/>
          <c:y val="0.0196258937486984"/>
          <c:w val="0.95713786501325"/>
          <c:h val="0.8243479839592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8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rgbClr val="F49E8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8703312"/>
        <c:axId val="488705392"/>
      </c:bar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97524541316393"/>
          <c:y val="0.950236072471739"/>
          <c:w val="0.210081748653721"/>
          <c:h val="0.049763927528260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f9cc197-071f-46e1-be8d-3c3f76481305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85515893654768"/>
          <c:y val="0.0165807667712095"/>
          <c:w val="0.95713786501325"/>
          <c:h val="0.82434798395924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38100" cap="rnd">
              <a:solidFill>
                <a:srgbClr val="EE1212"/>
              </a:solidFill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EE121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50800" cap="rnd">
              <a:solidFill>
                <a:srgbClr val="800000"/>
              </a:solidFill>
              <a:round/>
              <a:tailEnd w="med" len="med"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800000"/>
                </a:solidFill>
                <a:headEnd w="med" len="med"/>
              </a:ln>
              <a:effectLst/>
            </c:spPr>
          </c:marker>
          <c:dPt>
            <c:idx val="2"/>
            <c:marker>
              <c:symbol val="circle"/>
              <c:size val="9"/>
              <c:spPr>
                <a:solidFill>
                  <a:schemeClr val="bg1"/>
                </a:solidFill>
                <a:ln w="25400">
                  <a:solidFill>
                    <a:srgbClr val="800000"/>
                  </a:solidFill>
                  <a:headEnd w="med" len="med"/>
                </a:ln>
                <a:effectLst/>
              </c:spPr>
            </c:marker>
            <c:bubble3D val="0"/>
            <c:spPr>
              <a:ln w="38100" cap="rnd">
                <a:solidFill>
                  <a:srgbClr val="800000"/>
                </a:solidFill>
                <a:round/>
                <a:tailEnd w="med" len="med"/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38100" cap="rnd" cmpd="sng">
              <a:solidFill>
                <a:srgbClr val="F49E86"/>
              </a:solidFill>
              <a:prstDash val="sysDash"/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chemeClr val="accent2">
                    <a:tint val="650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8703312"/>
        <c:axId val="488705392"/>
      </c:line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dbaec95-d211-43a2-aae2-9d754da0c099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6E12E-97A2-40B7-A362-065E30B989D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43C561-CBA4-45D6-BD55-1C5FFEC034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659CD4FC-624D-AB4E-9533-E6A468B0E056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z="199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microsoft.com/office/2007/relationships/hdphoto" Target="../media/image7.wdp"/><Relationship Id="rId4" Type="http://schemas.openxmlformats.org/officeDocument/2006/relationships/image" Target="../media/image6.png"/><Relationship Id="rId3" Type="http://schemas.microsoft.com/office/2007/relationships/hdphoto" Target="../media/image5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533" y="0"/>
            <a:ext cx="12204533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热爱"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69819" y="0"/>
            <a:ext cx="12018615" cy="6858000"/>
            <a:chOff x="63375" y="-155701"/>
            <a:chExt cx="12018615" cy="685800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20"/>
            <a:stretch>
              <a:fillRect/>
            </a:stretch>
          </p:blipFill>
          <p:spPr>
            <a:xfrm>
              <a:off x="63375" y="-155701"/>
              <a:ext cx="5800210" cy="6013009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6736" y="876394"/>
              <a:ext cx="5145254" cy="5825905"/>
            </a:xfrm>
            <a:prstGeom prst="rect">
              <a:avLst/>
            </a:prstGeom>
          </p:spPr>
        </p:pic>
      </p:grpSp>
      <p:sp>
        <p:nvSpPr>
          <p:cNvPr id="7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大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灯片编号占位符 5"/>
          <p:cNvSpPr txBox="1"/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背景-黑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image" Target="../media/image10.tiff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3.png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svg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sv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7.xml"/><Relationship Id="rId2" Type="http://schemas.openxmlformats.org/officeDocument/2006/relationships/image" Target="../media/image18.svg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8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9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tags" Target="../tags/tag23.xml"/><Relationship Id="rId2" Type="http://schemas.openxmlformats.org/officeDocument/2006/relationships/image" Target="../media/image23.svg"/><Relationship Id="rId1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tags" Target="../tags/tag24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svg"/><Relationship Id="rId1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svg"/><Relationship Id="rId1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tags" Target="../tags/tag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9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image" Target="../media/image28.svg"/><Relationship Id="rId1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9.svg"/><Relationship Id="rId3" Type="http://schemas.openxmlformats.org/officeDocument/2006/relationships/image" Target="../media/image13.png"/><Relationship Id="rId2" Type="http://schemas.openxmlformats.org/officeDocument/2006/relationships/hyperlink" Target="mailto:hzyangwei@corp.netease.com" TargetMode="External"/><Relationship Id="rId1" Type="http://schemas.openxmlformats.org/officeDocument/2006/relationships/hyperlink" Target="mailto:hzxuejingting@crop.netease.com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9.svg"/><Relationship Id="rId1" Type="http://schemas.openxmlformats.org/officeDocument/2006/relationships/image" Target="../media/image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9.svg"/><Relationship Id="rId1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tif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9.svg"/><Relationship Id="rId1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30.tiff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10.tiff"/></Relationships>
</file>

<file path=ppt/slides/_rels/slide5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3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1" Type="http://schemas.openxmlformats.org/officeDocument/2006/relationships/image" Target="../media/image13.png"/></Relationships>
</file>

<file path=ppt/slides/_rels/slide5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4.tiff"/><Relationship Id="rId2" Type="http://schemas.openxmlformats.org/officeDocument/2006/relationships/image" Target="../media/image13.png"/><Relationship Id="rId1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6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tiff"/><Relationship Id="rId2" Type="http://schemas.openxmlformats.org/officeDocument/2006/relationships/image" Target="../media/image35.jpeg"/><Relationship Id="rId1" Type="http://schemas.openxmlformats.org/officeDocument/2006/relationships/tags" Target="../tags/tag2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chart" Target="../charts/char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chart" Target="../charts/char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1" Type="http://schemas.openxmlformats.org/officeDocument/2006/relationships/image" Target="../media/image13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8.svg"/><Relationship Id="rId1" Type="http://schemas.openxmlformats.org/officeDocument/2006/relationships/image" Target="../media/image3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svg"/><Relationship Id="rId1" Type="http://schemas.openxmlformats.org/officeDocument/2006/relationships/image" Target="../media/image37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jpe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1" Type="http://schemas.openxmlformats.org/officeDocument/2006/relationships/notesSlide" Target="../notesSlides/notesSlide55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29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Relationship Id="rId3" Type="http://schemas.openxmlformats.org/officeDocument/2006/relationships/image" Target="../media/image38.sv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8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配表助手</a:t>
            </a:r>
            <a:endParaRPr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94155" y="3690620"/>
            <a:ext cx="9309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自然语言驱动配表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三方合并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20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721980" y="4293258"/>
            <a:ext cx="453165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吴植贤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2026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年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9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月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日</a:t>
            </a:r>
            <a:endParaRPr kumimoji="1" lang="zh-CN" altLang="en-US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11" name="直线连接符 10"/>
          <p:cNvCxnSpPr/>
          <p:nvPr/>
        </p:nvCxnSpPr>
        <p:spPr>
          <a:xfrm>
            <a:off x="1608060" y="4363295"/>
            <a:ext cx="0" cy="413100"/>
          </a:xfrm>
          <a:prstGeom prst="line">
            <a:avLst/>
          </a:prstGeom>
          <a:ln w="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1582645" y="2194103"/>
            <a:ext cx="1377981" cy="393832"/>
            <a:chOff x="1870051" y="-461450"/>
            <a:chExt cx="1377981" cy="393832"/>
          </a:xfrm>
        </p:grpSpPr>
        <p:sp>
          <p:nvSpPr>
            <p:cNvPr id="15" name="对角圆角矩形 14"/>
            <p:cNvSpPr/>
            <p:nvPr/>
          </p:nvSpPr>
          <p:spPr>
            <a:xfrm>
              <a:off x="1870051" y="-461450"/>
              <a:ext cx="1377981" cy="393832"/>
            </a:xfrm>
            <a:prstGeom prst="round2DiagRect">
              <a:avLst>
                <a:gd name="adj1" fmla="val 4901"/>
                <a:gd name="adj2" fmla="val 428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928491" y="-461450"/>
              <a:ext cx="131954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900" spc="300" dirty="0">
                  <a:solidFill>
                    <a:srgbClr val="A30B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规范模版</a:t>
              </a:r>
              <a:endParaRPr kumimoji="1" lang="zh-CN" altLang="en-US" sz="1900" spc="300" dirty="0">
                <a:solidFill>
                  <a:srgbClr val="A30B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700" cy="127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>
            <p:custDataLst>
              <p:tags r:id="rId1"/>
            </p:custDataLst>
          </p:nvPr>
        </p:nvGrpSpPr>
        <p:grpSpPr>
          <a:xfrm>
            <a:off x="787620" y="2029437"/>
            <a:ext cx="1957218" cy="2326895"/>
            <a:chOff x="2372291" y="6696934"/>
            <a:chExt cx="1957218" cy="2179449"/>
          </a:xfrm>
        </p:grpSpPr>
        <p:sp>
          <p:nvSpPr>
            <p:cNvPr id="59" name="文本框 58"/>
            <p:cNvSpPr txBox="1"/>
            <p:nvPr>
              <p:custDataLst>
                <p:tags r:id="rId2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文本框 65"/>
            <p:cNvSpPr txBox="1"/>
            <p:nvPr>
              <p:custDataLst>
                <p:tags r:id="rId3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业务背景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/>
            <p:cNvSpPr txBox="1"/>
            <p:nvPr>
              <p:custDataLst>
                <p:tags r:id="rId4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组合 18"/>
          <p:cNvGrpSpPr/>
          <p:nvPr>
            <p:custDataLst>
              <p:tags r:id="rId5"/>
            </p:custDataLst>
          </p:nvPr>
        </p:nvGrpSpPr>
        <p:grpSpPr>
          <a:xfrm>
            <a:off x="3452372" y="2029437"/>
            <a:ext cx="2399665" cy="2348485"/>
            <a:chOff x="2186871" y="6696934"/>
            <a:chExt cx="2399665" cy="2199671"/>
          </a:xfrm>
        </p:grpSpPr>
        <p:sp>
          <p:nvSpPr>
            <p:cNvPr id="20" name="文本框 19"/>
            <p:cNvSpPr txBox="1"/>
            <p:nvPr>
              <p:custDataLst>
                <p:tags r:id="rId6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7"/>
              </p:custDataLst>
            </p:nvPr>
          </p:nvSpPr>
          <p:spPr>
            <a:xfrm>
              <a:off x="2186871" y="7942962"/>
              <a:ext cx="2399665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实现方案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8"/>
              </p:custDataLst>
            </p:nvPr>
          </p:nvSpPr>
          <p:spPr>
            <a:xfrm>
              <a:off x="2458016" y="8344379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9"/>
            </p:custDataLst>
          </p:nvPr>
        </p:nvGrpSpPr>
        <p:grpSpPr>
          <a:xfrm>
            <a:off x="6487964" y="2029437"/>
            <a:ext cx="1999615" cy="2774315"/>
            <a:chOff x="2372291" y="6696934"/>
            <a:chExt cx="1999615" cy="2598518"/>
          </a:xfrm>
        </p:grpSpPr>
        <p:sp>
          <p:nvSpPr>
            <p:cNvPr id="25" name="文本框 24"/>
            <p:cNvSpPr txBox="1"/>
            <p:nvPr>
              <p:custDataLst>
                <p:tags r:id="rId10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11"/>
              </p:custDataLst>
            </p:nvPr>
          </p:nvSpPr>
          <p:spPr>
            <a:xfrm>
              <a:off x="2372291" y="7941772"/>
              <a:ext cx="1999615" cy="1353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成果数据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			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>
              <p:custDataLst>
                <p:tags r:id="rId12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8" name="组合 27"/>
          <p:cNvGrpSpPr/>
          <p:nvPr>
            <p:custDataLst>
              <p:tags r:id="rId13"/>
            </p:custDataLst>
          </p:nvPr>
        </p:nvGrpSpPr>
        <p:grpSpPr>
          <a:xfrm>
            <a:off x="9338136" y="2029437"/>
            <a:ext cx="1957218" cy="2326895"/>
            <a:chOff x="2372291" y="6696934"/>
            <a:chExt cx="1957218" cy="2179449"/>
          </a:xfrm>
        </p:grpSpPr>
        <p:sp>
          <p:nvSpPr>
            <p:cNvPr id="29" name="文本框 28"/>
            <p:cNvSpPr txBox="1"/>
            <p:nvPr>
              <p:custDataLst>
                <p:tags r:id="rId14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/>
            <p:cNvSpPr txBox="1"/>
            <p:nvPr>
              <p:custDataLst>
                <p:tags r:id="rId15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总结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Demo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>
              <p:custDataLst>
                <p:tags r:id="rId16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pic>
        <p:nvPicPr>
          <p:cNvPr id="18" name="图形 1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目录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1325880"/>
            <a:ext cx="9418320" cy="42519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01 业务背景与任务目标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02 Excel-Agent：4-Step 多 Agent 配表流水线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03 Merge：面向 SVN 目录分支的三方合并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04 工程质量：校验、公式保护、性能与回归</a:t>
            </a:r>
          </a:p>
          <a:p>
            <a:pPr>
              <a:lnSpc>
                <a:spcPct val="128000"/>
              </a:lnSpc>
              <a:defRPr sz="22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05 总结与后续优化方向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一、业务背景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复杂 Excel 配表不是单表编辑问题，而是跨表、跨目录、跨版本的一致性工程。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表格 2"/>
          <p:cNvGraphicFramePr>
            <a:graphicFrameLocks noGrp="1"/>
          </p:cNvGraphicFramePr>
          <p:nvPr/>
        </p:nvGraphicFramePr>
        <p:xfrm>
          <a:off x="960120" y="2162810"/>
          <a:ext cx="9351645" cy="42405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33475"/>
                <a:gridCol w="4580890"/>
                <a:gridCol w="36372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889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业务背景：真实配表的复杂性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2338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CA 配表规模大：表多、字段多、跨表引用密集，人工维护成本高。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当前生产仍依赖 SVN 外链和目录隔离，缺少真正的 Git 分支语义。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策划表达通常是自然语言：新增活动、绑定奖励、配置技能、调整数值。</a:t>
            </a:r>
            <a:endParaRPr sz="1600"/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600"/>
              <a:t>难点不只是“写单元格”，而是先理解目标表、字段、外键、枚举和依赖顺序。</a:t>
            </a:r>
            <a:endParaRPr sz="1600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04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047115" y="2662555"/>
          <a:ext cx="8986520" cy="32404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89025"/>
                <a:gridCol w="4401820"/>
                <a:gridCol w="3495675"/>
              </a:tblGrid>
              <a:tr h="442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943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94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880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任务目标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kumimoji="1" lang="en-US" altLang="zh-CN" sz="1600" b="1" dirty="0">
                <a:solidFill>
                  <a:srgbClr val="C00000"/>
                </a:solidFill>
                <a:ea typeface="微软雅黑" panose="020B0503020204020204" pitchFamily="34" charset="-122"/>
              </a:rPr>
              <a:t>Excel-Agent</a:t>
            </a:r>
            <a:r>
              <a:t>：用自然语言完成多表配表，输出可校验、可执行、可追踪的结构化意图</a:t>
            </a:r>
            <a:r>
              <a:t>，正确应用到表格体中；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kumimoji="1" lang="en-US" altLang="zh-CN" sz="1600" b="1" dirty="0">
                <a:solidFill>
                  <a:srgbClr val="C00000"/>
                </a:solidFill>
                <a:ea typeface="微软雅黑" panose="020B0503020204020204" pitchFamily="34" charset="-122"/>
              </a:rPr>
              <a:t>Merge</a:t>
            </a:r>
            <a:r>
              <a:t>：在目录分支模式下完成 Excel 三方合并，保护公式、ID 引用和冲突可解释性。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共同目标：把模型理解、规则校验、确定性写盘和工程回归串成可落地闭环。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05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047115" y="2662555"/>
          <a:ext cx="10144760" cy="20548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24685"/>
                <a:gridCol w="4371975"/>
                <a:gridCol w="3848100"/>
              </a:tblGrid>
              <a:tr h="442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引擎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关键约束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16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Excel-Agent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输入自然语言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-&gt;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结构化意图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+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多表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配表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存在校验、可执行、可跟踪的结构化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意图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401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目标目录分支模式实现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Excel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三方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保护公式、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ID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引用、冲突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可解释性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7086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二、</a:t>
            </a:r>
            <a:r>
              <a:rPr lang="en-US"/>
              <a:t>4Step Excel-Agent</a:t>
            </a: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4260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89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Excel-Agent 总体定位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389" y="1170432"/>
            <a:ext cx="10058400" cy="108775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Excel-Agent是面向用户提供复杂输入，能够将复杂输入进行解析，正确应用到表格的一个工具，不要求用户先知道表名和字段名。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系统先定位候选表，再让 LLM 在真实 schema 下拆解 JSON，随后由规则层做质量门禁。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最终目标是</a:t>
            </a:r>
            <a:r>
              <a:rPr sz="1400">
                <a:highlight>
                  <a:srgbClr val="FFFF00"/>
                </a:highlight>
              </a:rPr>
              <a:t>让 Step1 的 JSON 足够</a:t>
            </a:r>
            <a:r>
              <a:rPr lang="zh-CN" sz="1400">
                <a:highlight>
                  <a:srgbClr val="FFFF00"/>
                </a:highlight>
              </a:rPr>
              <a:t>准确</a:t>
            </a:r>
            <a:r>
              <a:rPr sz="1400"/>
              <a:t>，因为后续 Step2/Step3/Step4 都依赖它。</a:t>
            </a:r>
            <a:endParaRPr sz="1400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07</a:t>
            </a:r>
          </a:p>
        </p:txBody>
      </p:sp>
      <p:sp>
        <p:nvSpPr>
          <p:cNvPr id="2" name="TextBox 20"/>
          <p:cNvSpPr txBox="1"/>
          <p:nvPr/>
        </p:nvSpPr>
        <p:spPr>
          <a:xfrm>
            <a:off x="699389" y="2413762"/>
            <a:ext cx="10058400" cy="10509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b="1"/>
              <a:t>架构总览：</a:t>
            </a:r>
            <a:endParaRPr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LangGraph 编排 TableAgent 4-Ste</a:t>
            </a:r>
            <a:r>
              <a:rPr lang="en-US"/>
              <a:t>p,</a:t>
            </a:r>
            <a:r>
              <a:rPr lang="zh-CN" altLang="en-US"/>
              <a:t>具体如下：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/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699135" y="3176905"/>
          <a:ext cx="7781290" cy="3053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3082925"/>
                <a:gridCol w="4698365"/>
              </a:tblGrid>
              <a:tr h="54356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Step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、解析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对输入执行：分段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-&gt;schema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注入拆解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-&gt;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语义计划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校验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根据业务规则进行字段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依赖等的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校验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执行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依赖顺序确定性写盘、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分配、引用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27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、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变更归纳、错误总结、自学习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反模式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Step1：全链路的核心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914" y="1051687"/>
            <a:ext cx="10058400" cy="3981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Step1</a:t>
            </a:r>
            <a:r>
              <a:rPr lang="zh-CN" altLang="en-US"/>
              <a:t>：自然语言</a:t>
            </a:r>
            <a:r>
              <a:rPr lang="en-US" altLang="zh-CN"/>
              <a:t>-&gt;</a:t>
            </a:r>
            <a:r>
              <a:rPr lang="zh-CN" altLang="en-US" b="1"/>
              <a:t>可执行计划</a:t>
            </a:r>
            <a:r>
              <a:rPr lang="en-US" altLang="zh-CN" b="1"/>
              <a:t>intent</a:t>
            </a:r>
            <a:endParaRPr lang="en-US" altLang="zh-CN" b="1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09</a:t>
            </a:r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708660" y="1605280"/>
          <a:ext cx="8644255" cy="37401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73200"/>
                <a:gridCol w="3106420"/>
                <a:gridCol w="4064635"/>
              </a:tblGrid>
              <a:tr h="47180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顺序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操作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说明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448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分段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多意图规则切段，一段一次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48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候选表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规则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检索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+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关系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扩展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schema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注入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真实表结构注入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prompt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41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拆解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产生各种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intents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54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语义计划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intents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结构化为可执行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5441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后处理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修复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设立质量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门禁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0" y="0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55015" y="5575300"/>
            <a:ext cx="9914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LocatorAgent</a:t>
            </a:r>
            <a:r>
              <a:rPr lang="zh-CN" altLang="en-US"/>
              <a:t>三级定位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625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定位方式：优先规则</a:t>
            </a:r>
            <a:r>
              <a:rPr lang="en-US" altLang="zh-CN" sz="1600"/>
              <a:t>-&gt;</a:t>
            </a:r>
            <a:r>
              <a:rPr lang="zh-CN" altLang="en-US" sz="1600"/>
              <a:t>检索</a:t>
            </a:r>
            <a:r>
              <a:rPr lang="en-US" altLang="zh-CN" sz="1600"/>
              <a:t>-&gt;</a:t>
            </a:r>
            <a:r>
              <a:rPr lang="zh-CN" altLang="en-US" sz="1600"/>
              <a:t>关系扩展，当出现歧义时由模型裁决，旨在</a:t>
            </a:r>
            <a:r>
              <a:rPr lang="zh-CN" altLang="en-US" sz="1600" b="1"/>
              <a:t>表名实现模糊匹配</a:t>
            </a:r>
            <a:endParaRPr lang="zh-CN" altLang="en-US" sz="1600" b="1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10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786130" y="1630045"/>
          <a:ext cx="9679940" cy="349377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36420"/>
                <a:gridCol w="4171315"/>
                <a:gridCol w="3672205"/>
              </a:tblGrid>
              <a:tr h="4140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作用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226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L1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规则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表名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中文表头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别名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字段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关键词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直接命中可以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零成本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L2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模糊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通道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rapidfuzz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混合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拼写、命名等变体兜底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867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L3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关系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扩展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外键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(FK)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一跳进行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扩展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命中主表带上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绑定表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8549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L4 </a:t>
                      </a: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RAG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BM25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语义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召回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规则未命中时补召回语义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近邻</a:t>
                      </a:r>
                      <a:endParaRPr lang="zh-CN" altLang="en-US" sz="120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LocatorAgent</a:t>
            </a:r>
            <a:r>
              <a:rPr lang="zh-CN" altLang="en-US"/>
              <a:t>三级定位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10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90550" y="1175385"/>
            <a:ext cx="106216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rapidfuzz</a:t>
            </a:r>
            <a:r>
              <a:rPr lang="zh-CN" altLang="en-US"/>
              <a:t>混合</a:t>
            </a:r>
            <a:r>
              <a:rPr lang="zh-CN" altLang="en-US"/>
              <a:t>指标：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DecomposeAgent schema</a:t>
            </a:r>
            <a:r>
              <a:rPr lang="zh-CN" altLang="en-US"/>
              <a:t>注入</a:t>
            </a:r>
            <a:r>
              <a:rPr lang="zh-CN" altLang="en-US"/>
              <a:t>拆解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749" y="1051687"/>
            <a:ext cx="10058400" cy="442912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sz="1600"/>
              <a:t>输入：候选表真实结构</a:t>
            </a:r>
            <a:r>
              <a:rPr lang="en-US" altLang="zh-CN" sz="1600"/>
              <a:t>+</a:t>
            </a:r>
            <a:r>
              <a:rPr lang="zh-CN" altLang="en-US" sz="1600"/>
              <a:t>多级表头</a:t>
            </a:r>
            <a:r>
              <a:rPr lang="en-US" altLang="zh-CN" sz="1600"/>
              <a:t>+</a:t>
            </a:r>
            <a:r>
              <a:rPr lang="zh-CN" altLang="en-US" sz="1600"/>
              <a:t>字段类型</a:t>
            </a:r>
            <a:r>
              <a:rPr lang="en-US" altLang="zh-CN" sz="1600"/>
              <a:t>+</a:t>
            </a:r>
            <a:r>
              <a:rPr lang="zh-CN" altLang="en-US" sz="1600"/>
              <a:t>外键</a:t>
            </a:r>
            <a:r>
              <a:rPr lang="en-US" altLang="zh-CN" sz="1600"/>
              <a:t>FK+</a:t>
            </a:r>
            <a:r>
              <a:rPr lang="zh-CN" altLang="en-US" sz="1600"/>
              <a:t>填表规则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输出：结构化</a:t>
            </a:r>
            <a:r>
              <a:rPr lang="en-US" altLang="zh-CN" sz="1600"/>
              <a:t>json</a:t>
            </a:r>
            <a:r>
              <a:rPr lang="zh-CN" altLang="en-US" sz="1600"/>
              <a:t>的</a:t>
            </a:r>
            <a:r>
              <a:rPr lang="en-US" altLang="zh-CN" sz="1600"/>
              <a:t>intents</a:t>
            </a: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样例：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输入：</a:t>
            </a:r>
            <a:r>
              <a:rPr lang="en-US" altLang="zh-CN" sz="1600"/>
              <a:t>Ability</a:t>
            </a:r>
            <a:r>
              <a:rPr lang="zh-CN" altLang="en-US" sz="1600"/>
              <a:t>表格</a:t>
            </a:r>
            <a:r>
              <a:rPr lang="en-US" altLang="zh-CN" sz="1600"/>
              <a:t>row1</a:t>
            </a:r>
            <a:r>
              <a:rPr lang="zh-CN" altLang="en-US" sz="1600"/>
              <a:t>列名、</a:t>
            </a:r>
            <a:r>
              <a:rPr lang="en-US" altLang="zh-CN" sz="1600"/>
              <a:t>row2</a:t>
            </a:r>
            <a:r>
              <a:rPr lang="zh-CN" altLang="en-US" sz="1600"/>
              <a:t>类型、字段类型、外键、</a:t>
            </a:r>
            <a:r>
              <a:rPr lang="zh-CN" altLang="en-US" sz="1600"/>
              <a:t>填表规则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输出：</a:t>
            </a:r>
            <a:r>
              <a:rPr lang="en-US" altLang="zh-CN" sz="1600"/>
              <a:t>{action:add,table:Ability,fields:{id:100,name:”TEST”},produces:[&lt;aid&gt;]}</a:t>
            </a: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600"/>
              <a:t>schema</a:t>
            </a:r>
            <a:r>
              <a:rPr lang="zh-CN" altLang="en-US" sz="1600"/>
              <a:t>注入</a:t>
            </a:r>
            <a:r>
              <a:rPr lang="en-US" altLang="zh-CN" sz="1600"/>
              <a:t>:</a:t>
            </a:r>
            <a:r>
              <a:rPr lang="zh-CN" altLang="en-US" sz="1600"/>
              <a:t>模型只能从真实列名中进行选择，可以从源头解决幻觉列名的</a:t>
            </a:r>
            <a:r>
              <a:rPr lang="zh-CN" altLang="en-US" sz="1600"/>
              <a:t>问题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 sz="1600"/>
              <a:t>few-shot</a:t>
            </a:r>
            <a:r>
              <a:rPr lang="zh-CN" altLang="en-US" sz="1600"/>
              <a:t>：提示中附上正确</a:t>
            </a:r>
            <a:r>
              <a:rPr lang="en-US" altLang="zh-CN" sz="1600"/>
              <a:t>ID/</a:t>
            </a:r>
            <a:r>
              <a:rPr lang="zh-CN" altLang="en-US" sz="1600"/>
              <a:t>占位符的示例，禁止伪造占位符如</a:t>
            </a:r>
            <a:r>
              <a:rPr lang="en-US" altLang="zh-CN" sz="1600"/>
              <a:t>&lt;resolved_form_xxx&gt;</a:t>
            </a:r>
            <a:r>
              <a:rPr lang="zh-CN" altLang="en-US" sz="1600"/>
              <a:t>，同时超时降级逐表格</a:t>
            </a:r>
            <a:r>
              <a:rPr lang="zh-CN" altLang="en-US" sz="1600"/>
              <a:t>重拆；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altLang="en-US" sz="1600"/>
              <a:t>规则安全网：</a:t>
            </a:r>
            <a:r>
              <a:rPr lang="en-US" altLang="zh-CN" sz="1600"/>
              <a:t>LLM</a:t>
            </a:r>
            <a:r>
              <a:rPr lang="zh-CN" altLang="en-US" sz="1600"/>
              <a:t>为主，当</a:t>
            </a:r>
            <a:r>
              <a:rPr lang="en-US" altLang="zh-CN" sz="1600"/>
              <a:t>LLM</a:t>
            </a:r>
            <a:r>
              <a:rPr lang="zh-CN" altLang="en-US" sz="1600"/>
              <a:t>产生</a:t>
            </a:r>
            <a:r>
              <a:rPr lang="en-US" altLang="zh-CN" sz="1600"/>
              <a:t>intent</a:t>
            </a:r>
            <a:r>
              <a:rPr lang="zh-CN" altLang="en-US" sz="1600"/>
              <a:t>小于</a:t>
            </a:r>
            <a:r>
              <a:rPr lang="en-US" altLang="zh-CN" sz="1600"/>
              <a:t>2</a:t>
            </a:r>
            <a:r>
              <a:rPr lang="zh-CN" altLang="en-US" sz="1600"/>
              <a:t>条或者畸形时回退模板</a:t>
            </a:r>
            <a:endParaRPr lang="zh-CN" altLang="en-US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en-US" altLang="zh-CN" sz="1600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增强：</a:t>
            </a:r>
            <a:r>
              <a:rPr lang="en-US" altLang="zh-CN"/>
              <a:t>produces/consumes</a:t>
            </a:r>
            <a:r>
              <a:rPr lang="zh-CN" altLang="en-US"/>
              <a:t>依赖契约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12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51815" y="1087755"/>
            <a:ext cx="10699115" cy="42767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跨表新增的时候，后续表格依赖钱买你新建行的</a:t>
            </a:r>
            <a:r>
              <a:rPr lang="en-US" altLang="zh-CN" sz="1600"/>
              <a:t>ID</a:t>
            </a:r>
            <a:r>
              <a:rPr lang="zh-CN" altLang="en-US" sz="1600"/>
              <a:t>，需要靠依赖契约将其确定下来，而不是靠模型记忆</a:t>
            </a:r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样例：</a:t>
            </a:r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根据</a:t>
            </a:r>
            <a:r>
              <a:rPr lang="en-US" altLang="zh-CN" sz="1600"/>
              <a:t>produces</a:t>
            </a:r>
            <a:r>
              <a:rPr lang="zh-CN" altLang="en-US" sz="1600"/>
              <a:t>和</a:t>
            </a:r>
            <a:r>
              <a:rPr lang="en-US" altLang="zh-CN" sz="1600"/>
              <a:t>consumes</a:t>
            </a:r>
            <a:r>
              <a:rPr lang="zh-CN" altLang="en-US" sz="1600"/>
              <a:t>，后续</a:t>
            </a:r>
            <a:r>
              <a:rPr lang="en-US" altLang="zh-CN" sz="1600"/>
              <a:t>step3</a:t>
            </a:r>
            <a:r>
              <a:rPr lang="zh-CN" altLang="en-US" sz="1600"/>
              <a:t>的执行可以得到排序顺序，成功分配</a:t>
            </a:r>
            <a:r>
              <a:rPr lang="en-US" altLang="zh-CN" sz="1600"/>
              <a:t>ID</a:t>
            </a:r>
            <a:r>
              <a:rPr lang="zh-CN" altLang="en-US" sz="1600"/>
              <a:t>、回填</a:t>
            </a:r>
            <a:r>
              <a:rPr lang="zh-CN" altLang="en-US" sz="1600"/>
              <a:t>外键</a:t>
            </a:r>
            <a:endParaRPr lang="zh-CN" altLang="en-US" sz="1600"/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708660" y="1605280"/>
          <a:ext cx="8914765" cy="185229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456815"/>
                <a:gridCol w="3627120"/>
                <a:gridCol w="283083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术语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含义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作用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4787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produces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本意图产生的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记录生成的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94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consumes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本意图消费的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记录使用的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87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占位符</a:t>
                      </a: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placeholder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写表时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临时标记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执行时替换为真实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ID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07949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Step1 </a:t>
            </a:r>
            <a:r>
              <a:rPr lang="zh-CN" altLang="en-US"/>
              <a:t>质量</a:t>
            </a:r>
            <a:r>
              <a:rPr lang="zh-CN" altLang="en-US"/>
              <a:t>门禁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LLM</a:t>
            </a:r>
            <a:r>
              <a:rPr lang="zh-CN" altLang="en-US"/>
              <a:t>结束产生</a:t>
            </a:r>
            <a:r>
              <a:rPr lang="en-US" altLang="zh-CN"/>
              <a:t>intents</a:t>
            </a:r>
            <a:r>
              <a:rPr lang="zh-CN" altLang="en-US"/>
              <a:t>以后</a:t>
            </a:r>
            <a:r>
              <a:rPr lang="en-US" altLang="zh-CN"/>
              <a:t>ParseAgent</a:t>
            </a:r>
            <a:r>
              <a:rPr lang="zh-CN" altLang="en-US"/>
              <a:t>继续</a:t>
            </a:r>
            <a:r>
              <a:rPr lang="en-US" altLang="zh-CN" b="1"/>
              <a:t>schema-aware</a:t>
            </a:r>
            <a:r>
              <a:rPr lang="zh-CN" altLang="en-US" b="1"/>
              <a:t>编译，进行再一次检验</a:t>
            </a: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14</a:t>
            </a:r>
          </a:p>
        </p:txBody>
      </p:sp>
      <p:graphicFrame>
        <p:nvGraphicFramePr>
          <p:cNvPr id="2" name="表格 1"/>
          <p:cNvGraphicFramePr/>
          <p:nvPr/>
        </p:nvGraphicFramePr>
        <p:xfrm>
          <a:off x="841375" y="1814830"/>
          <a:ext cx="917194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375"/>
                <a:gridCol w="42665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检查内容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修复</a:t>
                      </a:r>
                      <a:r>
                        <a:rPr lang="zh-CN" altLang="en-US"/>
                        <a:t>方式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0">
                          <a:sym typeface="+mn-ea"/>
                        </a:rPr>
                        <a:t>删除孤立</a:t>
                      </a:r>
                      <a:r>
                        <a:rPr lang="en-US" altLang="zh-CN" sz="1800" b="0">
                          <a:sym typeface="+mn-ea"/>
                        </a:rPr>
                        <a:t>add intent</a:t>
                      </a:r>
                      <a:r>
                        <a:rPr lang="zh-CN" altLang="en-US" sz="1800" b="0">
                          <a:sym typeface="+mn-ea"/>
                        </a:rPr>
                        <a:t>、同</a:t>
                      </a:r>
                      <a:r>
                        <a:rPr lang="en-US" altLang="zh-CN" sz="1800" b="0">
                          <a:sym typeface="+mn-ea"/>
                        </a:rPr>
                        <a:t>sheet </a:t>
                      </a:r>
                      <a:r>
                        <a:rPr lang="zh-CN" altLang="en-US" sz="1800" b="0">
                          <a:sym typeface="+mn-ea"/>
                        </a:rPr>
                        <a:t>稀疏影子重复</a:t>
                      </a:r>
                      <a:endParaRPr lang="zh-CN" altLang="en-US" sz="18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删除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0">
                          <a:sym typeface="+mn-ea"/>
                        </a:rPr>
                        <a:t>修字段不再</a:t>
                      </a:r>
                      <a:r>
                        <a:rPr lang="en-US" altLang="zh-CN" sz="1800" b="0">
                          <a:sym typeface="+mn-ea"/>
                        </a:rPr>
                        <a:t>schema</a:t>
                      </a:r>
                      <a:r>
                        <a:rPr lang="zh-CN" altLang="en-US" sz="1800" b="0">
                          <a:sym typeface="+mn-ea"/>
                        </a:rPr>
                        <a:t>、</a:t>
                      </a:r>
                      <a:r>
                        <a:rPr lang="en-US" altLang="zh-CN" sz="1800" b="0">
                          <a:sym typeface="+mn-ea"/>
                        </a:rPr>
                        <a:t>sheet</a:t>
                      </a:r>
                      <a:r>
                        <a:rPr lang="zh-CN" altLang="en-US" sz="1800" b="0">
                          <a:sym typeface="+mn-ea"/>
                        </a:rPr>
                        <a:t>或者</a:t>
                      </a:r>
                      <a:r>
                        <a:rPr lang="en-US" altLang="zh-CN" sz="1800" b="0">
                          <a:sym typeface="+mn-ea"/>
                        </a:rPr>
                        <a:t>name</a:t>
                      </a:r>
                      <a:r>
                        <a:rPr lang="zh-CN" altLang="en-US" sz="1800" b="0">
                          <a:sym typeface="+mn-ea"/>
                        </a:rPr>
                        <a:t>混用、目标表格大小写差异</a:t>
                      </a:r>
                      <a:endParaRPr lang="en-US" altLang="en-US" sz="18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修正到真实</a:t>
                      </a:r>
                      <a:r>
                        <a:rPr lang="zh-CN" altLang="en-US"/>
                        <a:t>列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检查</a:t>
                      </a:r>
                      <a:r>
                        <a:rPr lang="en-US" altLang="zh-CN" sz="1800">
                          <a:sym typeface="+mn-ea"/>
                        </a:rPr>
                        <a:t>produces</a:t>
                      </a:r>
                      <a:r>
                        <a:rPr lang="zh-CN" altLang="en-US" sz="1800">
                          <a:sym typeface="+mn-ea"/>
                        </a:rPr>
                        <a:t>和</a:t>
                      </a:r>
                      <a:r>
                        <a:rPr lang="en-US" altLang="zh-CN" sz="1800">
                          <a:sym typeface="+mn-ea"/>
                        </a:rPr>
                        <a:t>consumes</a:t>
                      </a:r>
                      <a:endParaRPr lang="zh-CN" altLang="en-US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从已存在资源或新行解析出真实</a:t>
                      </a:r>
                      <a:r>
                        <a:rPr lang="en-US" altLang="zh-CN"/>
                        <a:t>ID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07949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en-US"/>
              <a:t>Step1 </a:t>
            </a:r>
            <a:r>
              <a:rPr lang="zh-CN" altLang="en-US"/>
              <a:t>质量</a:t>
            </a:r>
            <a:r>
              <a:rPr lang="zh-CN" altLang="en-US"/>
              <a:t>门禁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/>
              <a:t>LLM</a:t>
            </a:r>
            <a:r>
              <a:rPr lang="zh-CN" altLang="en-US"/>
              <a:t>结束产生</a:t>
            </a:r>
            <a:r>
              <a:rPr lang="en-US" altLang="zh-CN"/>
              <a:t>intents</a:t>
            </a:r>
            <a:r>
              <a:rPr lang="zh-CN" altLang="en-US"/>
              <a:t>以后</a:t>
            </a:r>
            <a:r>
              <a:rPr lang="en-US" altLang="zh-CN"/>
              <a:t>ParseAgent</a:t>
            </a:r>
            <a:r>
              <a:rPr lang="zh-CN" altLang="en-US"/>
              <a:t>继续</a:t>
            </a:r>
            <a:r>
              <a:rPr lang="en-US" altLang="zh-CN" b="1"/>
              <a:t>schema-aware</a:t>
            </a:r>
            <a:r>
              <a:rPr lang="zh-CN" altLang="en-US" b="1"/>
              <a:t>编译，进行再一次检验</a:t>
            </a: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 b="1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14</a:t>
            </a:r>
          </a:p>
        </p:txBody>
      </p:sp>
      <p:graphicFrame>
        <p:nvGraphicFramePr>
          <p:cNvPr id="2" name="表格 1"/>
          <p:cNvGraphicFramePr/>
          <p:nvPr/>
        </p:nvGraphicFramePr>
        <p:xfrm>
          <a:off x="841375" y="1814830"/>
          <a:ext cx="917194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375"/>
                <a:gridCol w="42665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检查内容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修复</a:t>
                      </a:r>
                      <a:r>
                        <a:rPr lang="zh-CN" altLang="en-US"/>
                        <a:t>方式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0">
                          <a:sym typeface="+mn-ea"/>
                        </a:rPr>
                        <a:t>删除孤立</a:t>
                      </a:r>
                      <a:r>
                        <a:rPr lang="en-US" altLang="zh-CN" sz="1800" b="0">
                          <a:sym typeface="+mn-ea"/>
                        </a:rPr>
                        <a:t>add intent</a:t>
                      </a:r>
                      <a:r>
                        <a:rPr lang="zh-CN" altLang="en-US" sz="1800" b="0">
                          <a:sym typeface="+mn-ea"/>
                        </a:rPr>
                        <a:t>、同</a:t>
                      </a:r>
                      <a:r>
                        <a:rPr lang="en-US" altLang="zh-CN" sz="1800" b="0">
                          <a:sym typeface="+mn-ea"/>
                        </a:rPr>
                        <a:t>sheet </a:t>
                      </a:r>
                      <a:r>
                        <a:rPr lang="zh-CN" altLang="en-US" sz="1800" b="0">
                          <a:sym typeface="+mn-ea"/>
                        </a:rPr>
                        <a:t>稀疏影子重复</a:t>
                      </a:r>
                      <a:endParaRPr lang="zh-CN" altLang="en-US" sz="18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删除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 b="0">
                          <a:sym typeface="+mn-ea"/>
                        </a:rPr>
                        <a:t>修字段不再</a:t>
                      </a:r>
                      <a:r>
                        <a:rPr lang="en-US" altLang="zh-CN" sz="1800" b="0">
                          <a:sym typeface="+mn-ea"/>
                        </a:rPr>
                        <a:t>schema</a:t>
                      </a:r>
                      <a:r>
                        <a:rPr lang="zh-CN" altLang="en-US" sz="1800" b="0">
                          <a:sym typeface="+mn-ea"/>
                        </a:rPr>
                        <a:t>、</a:t>
                      </a:r>
                      <a:r>
                        <a:rPr lang="en-US" altLang="zh-CN" sz="1800" b="0">
                          <a:sym typeface="+mn-ea"/>
                        </a:rPr>
                        <a:t>sheet</a:t>
                      </a:r>
                      <a:r>
                        <a:rPr lang="zh-CN" altLang="en-US" sz="1800" b="0">
                          <a:sym typeface="+mn-ea"/>
                        </a:rPr>
                        <a:t>或者</a:t>
                      </a:r>
                      <a:r>
                        <a:rPr lang="en-US" altLang="zh-CN" sz="1800" b="0">
                          <a:sym typeface="+mn-ea"/>
                        </a:rPr>
                        <a:t>name</a:t>
                      </a:r>
                      <a:r>
                        <a:rPr lang="zh-CN" altLang="en-US" sz="1800" b="0">
                          <a:sym typeface="+mn-ea"/>
                        </a:rPr>
                        <a:t>混用、目标表格大小写差异</a:t>
                      </a:r>
                      <a:endParaRPr lang="en-US" altLang="en-US" sz="1800" b="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修正到真实</a:t>
                      </a:r>
                      <a:r>
                        <a:rPr lang="zh-CN" altLang="en-US"/>
                        <a:t>列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检查</a:t>
                      </a:r>
                      <a:r>
                        <a:rPr lang="en-US" altLang="zh-CN" sz="1800">
                          <a:sym typeface="+mn-ea"/>
                        </a:rPr>
                        <a:t>produces</a:t>
                      </a:r>
                      <a:r>
                        <a:rPr lang="zh-CN" altLang="en-US" sz="1800">
                          <a:sym typeface="+mn-ea"/>
                        </a:rPr>
                        <a:t>和</a:t>
                      </a:r>
                      <a:r>
                        <a:rPr lang="en-US" altLang="zh-CN" sz="1800">
                          <a:sym typeface="+mn-ea"/>
                        </a:rPr>
                        <a:t>consumes</a:t>
                      </a:r>
                      <a:endParaRPr lang="zh-CN" altLang="en-US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从已存在资源或新行解析出真实</a:t>
                      </a:r>
                      <a:r>
                        <a:rPr lang="en-US" altLang="zh-CN"/>
                        <a:t>ID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增强</a:t>
            </a:r>
            <a:r>
              <a:rPr lang="en-US" altLang="zh-CN"/>
              <a:t>:Step2 L0/L1/L2</a:t>
            </a:r>
            <a:r>
              <a:rPr lang="zh-CN" altLang="en-US"/>
              <a:t>三层</a:t>
            </a:r>
            <a:r>
              <a:rPr lang="zh-CN" altLang="en-US"/>
              <a:t>校验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ParseAgent 在 LLM 输出后继续做 schema-aware 编译：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删除孤立空壳 add 和同 sheet 稀疏影子重复。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修复字段不在 schema、sheet/name 混用、目标表大小写差异。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检查 produces/consumes：悬空 placeholder、自产自消、依赖环、FK 目标错表。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对中文名 FK 尝试从已存在资源或本批次新行中解析为真实 ID/占位符。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Step2：写盘前校验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Step2 是执行前的硬门禁：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字段是否存在，中文表头是否能映射到真实列。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值类型是否可转换，枚举值是否合法。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FK 是否指向正确表和正确主键，placeholder 是否有 producer。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- Step1 质量报告如果有 hard error，阻断写盘并生成可交互修正。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Step2 交互修正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当前已有列名批量修正卡片，下一步应升级为“全字段可编辑表格”。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用户可以改列名、改值、删除字段或删除整条 intent，然后 POST /api/agent/reply 续跑。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后端应把用户编辑回写到原 intent，再重新跑 Step2，而不是只绕过错误。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Step3：确定性执行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Step3 不再调用模型，只做可解释写盘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/>
              <a:t>执行</a:t>
            </a:r>
            <a:r>
              <a:rPr lang="zh-CN"/>
              <a:t>动作：</a:t>
            </a: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17</a:t>
            </a:r>
          </a:p>
        </p:txBody>
      </p:sp>
      <p:graphicFrame>
        <p:nvGraphicFramePr>
          <p:cNvPr id="2" name="表格 1"/>
          <p:cNvGraphicFramePr/>
          <p:nvPr/>
        </p:nvGraphicFramePr>
        <p:xfrm>
          <a:off x="2073910" y="1846580"/>
          <a:ext cx="8533765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6565"/>
                <a:gridCol w="42665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动作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说明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拓扑</a:t>
                      </a:r>
                      <a:r>
                        <a:rPr lang="zh-CN" altLang="en-US"/>
                        <a:t>排序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按</a:t>
                      </a:r>
                      <a:r>
                        <a:rPr lang="en-US" altLang="zh-CN"/>
                        <a:t>produces</a:t>
                      </a:r>
                      <a:r>
                        <a:rPr lang="zh-CN" altLang="en-US"/>
                        <a:t>和</a:t>
                      </a:r>
                      <a:r>
                        <a:rPr lang="en-US" altLang="zh-CN"/>
                        <a:t>consumes</a:t>
                      </a:r>
                      <a:r>
                        <a:rPr lang="zh-CN" altLang="en-US"/>
                        <a:t>依赖执行</a:t>
                      </a:r>
                      <a:r>
                        <a:rPr lang="zh-CN" altLang="en-US"/>
                        <a:t>先后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ID</a:t>
                      </a:r>
                      <a:r>
                        <a:rPr lang="zh-CN" altLang="en-US"/>
                        <a:t>分配、占位符</a:t>
                      </a:r>
                      <a:r>
                        <a:rPr lang="zh-CN" altLang="en-US"/>
                        <a:t>替换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新增行分配主键，替换后续</a:t>
                      </a:r>
                      <a:r>
                        <a:rPr lang="en-US" altLang="zh-CN"/>
                        <a:t>placeholder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失败结构化归</a:t>
                      </a:r>
                      <a:r>
                        <a:rPr lang="zh-CN" altLang="en-US"/>
                        <a:t>因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缺字段、</a:t>
                      </a:r>
                      <a:r>
                        <a:rPr lang="en-US" altLang="zh-CN"/>
                        <a:t>PK</a:t>
                      </a:r>
                      <a:r>
                        <a:rPr lang="zh-CN" altLang="en-US"/>
                        <a:t>冲突、类型错误</a:t>
                      </a:r>
                      <a:r>
                        <a:rPr lang="zh-CN" altLang="en-US"/>
                        <a:t>等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可恢复边界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失败停于可恢复点，避免半写入</a:t>
                      </a:r>
                      <a:r>
                        <a:rPr lang="zh-CN" altLang="en-US"/>
                        <a:t>污染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 altLang="en-US"/>
              <a:t>增强</a:t>
            </a:r>
            <a:r>
              <a:rPr lang="en-US" altLang="zh-CN"/>
              <a:t>:Step4</a:t>
            </a:r>
            <a:r>
              <a:rPr lang="zh-CN" altLang="en-US"/>
              <a:t>自学习</a:t>
            </a:r>
            <a:r>
              <a:rPr lang="zh-CN" altLang="en-US"/>
              <a:t>闭环</a:t>
            </a:r>
            <a:endParaRPr lang="zh-CN" altLang="en-US"/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3981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Step4</a:t>
            </a:r>
            <a:r>
              <a:rPr lang="zh-CN"/>
              <a:t>汇总最终成功或失败情况，同时还将失败的情况进行</a:t>
            </a:r>
            <a:r>
              <a:rPr lang="zh-CN"/>
              <a:t>沉淀</a:t>
            </a:r>
            <a:endParaRPr lang="zh-CN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00278" y="255270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三、Merge 合并方案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986900" y="1591365"/>
            <a:ext cx="2722227" cy="398780"/>
            <a:chOff x="3462868" y="3718731"/>
            <a:chExt cx="2722227" cy="398780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三方合并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062608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2569210" y="251079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Merge-base</a:t>
            </a:r>
            <a:endParaRPr lang="en-US" altLang="zh-CN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3" name="矩形: 圆角 12"/>
          <p:cNvSpPr/>
          <p:nvPr>
            <p:custDataLst>
              <p:tags r:id="rId3"/>
            </p:custDataLst>
          </p:nvPr>
        </p:nvSpPr>
        <p:spPr>
          <a:xfrm>
            <a:off x="1622425" y="3259455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From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4" name="矩形: 圆角 12"/>
          <p:cNvSpPr/>
          <p:nvPr>
            <p:custDataLst>
              <p:tags r:id="rId4"/>
            </p:custDataLst>
          </p:nvPr>
        </p:nvSpPr>
        <p:spPr>
          <a:xfrm>
            <a:off x="3483610" y="324993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To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7" name="矩形: 圆角 12"/>
          <p:cNvSpPr/>
          <p:nvPr>
            <p:custDataLst>
              <p:tags r:id="rId5"/>
            </p:custDataLst>
          </p:nvPr>
        </p:nvSpPr>
        <p:spPr>
          <a:xfrm>
            <a:off x="2397760" y="3916045"/>
            <a:ext cx="1996440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合并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结果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6695440" y="1990090"/>
          <a:ext cx="4398010" cy="243395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03630"/>
                <a:gridCol w="1672590"/>
                <a:gridCol w="1621790"/>
              </a:tblGrid>
              <a:tr h="528955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模式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过程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40080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跨分支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From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分支比对合并到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vMerge="1"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分支合回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，内容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集成在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gridSpan="2"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目录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将子目录的生产内容合并回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cxnSp>
        <p:nvCxnSpPr>
          <p:cNvPr id="16" name="直接箭头连接符 15"/>
          <p:cNvCxnSpPr>
            <a:stCxn id="13" idx="2"/>
            <a:endCxn id="3" idx="0"/>
          </p:cNvCxnSpPr>
          <p:nvPr/>
        </p:nvCxnSpPr>
        <p:spPr>
          <a:xfrm flipH="1">
            <a:off x="2412365" y="2903220"/>
            <a:ext cx="946785" cy="3562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3" idx="2"/>
            <a:endCxn id="4" idx="0"/>
          </p:cNvCxnSpPr>
          <p:nvPr/>
        </p:nvCxnSpPr>
        <p:spPr>
          <a:xfrm>
            <a:off x="3359150" y="2903220"/>
            <a:ext cx="914400" cy="3467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>
            <a:stCxn id="3" idx="2"/>
            <a:endCxn id="7" idx="0"/>
          </p:cNvCxnSpPr>
          <p:nvPr/>
        </p:nvCxnSpPr>
        <p:spPr>
          <a:xfrm>
            <a:off x="2412365" y="3651885"/>
            <a:ext cx="983615" cy="264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4" idx="2"/>
            <a:endCxn id="7" idx="0"/>
          </p:cNvCxnSpPr>
          <p:nvPr/>
        </p:nvCxnSpPr>
        <p:spPr>
          <a:xfrm flipH="1">
            <a:off x="3395980" y="3642360"/>
            <a:ext cx="877570" cy="2736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Merge 总体流程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235648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1. 选择From/To</a:t>
            </a:r>
            <a:r>
              <a:rPr lang="zh-CN"/>
              <a:t>两</a:t>
            </a:r>
            <a:r>
              <a:t>个目录。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2. 通过SVN copyfrom定位 merge-base。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3. 提取 Excel 数据、表头、公式、样式和文件元信息。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4. 比较变更并识别冲突。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5. ID 重映射与引用更新。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6. AI 辅助冲突建议。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7. LibreOffice 重算、公式保护、安全写回。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20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86130" y="4002405"/>
            <a:ext cx="6817360" cy="883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两套</a:t>
            </a:r>
            <a:r>
              <a:rPr lang="en-US" altLang="zh-CN"/>
              <a:t>Merge</a:t>
            </a:r>
            <a:r>
              <a:rPr lang="zh-CN" altLang="en-US"/>
              <a:t>模式除了分支、</a:t>
            </a:r>
            <a:r>
              <a:rPr lang="en-US" altLang="zh-CN"/>
              <a:t>base</a:t>
            </a:r>
            <a:r>
              <a:rPr lang="zh-CN" altLang="en-US"/>
              <a:t>确定上有差异，核心</a:t>
            </a:r>
            <a:r>
              <a:rPr lang="en-US" altLang="zh-CN"/>
              <a:t>diff</a:t>
            </a:r>
            <a:r>
              <a:rPr lang="zh-CN" altLang="en-US"/>
              <a:t>逻辑</a:t>
            </a:r>
            <a:r>
              <a:rPr lang="zh-CN" altLang="en-US"/>
              <a:t>一致。</a:t>
            </a:r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2978785"/>
          <a:ext cx="4479290" cy="1543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14095"/>
                <a:gridCol w="1859280"/>
                <a:gridCol w="1605915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copyfrom-</a:t>
                      </a:r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标记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正常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切分支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trunk@r1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inferred=false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新建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路径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inferred=true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05" y="3050540"/>
            <a:ext cx="6392545" cy="18478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模拟生产环境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421703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SVN demo 目录模拟真实项目结构：trunk、branches配表目录。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重点不是复制 Git 分支，而是在 SVN 的历史信息里还原“共同祖先”。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这样 Merge 才能判断谁改了什么，而不是简单覆盖文件。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 sz="1400"/>
              <a:t>目前的</a:t>
            </a:r>
            <a:r>
              <a:rPr lang="en-US" altLang="zh-CN" sz="1400"/>
              <a:t>SVN</a:t>
            </a:r>
            <a:r>
              <a:rPr lang="zh-CN" altLang="en-US" sz="1400"/>
              <a:t>目录如下所示：</a:t>
            </a:r>
            <a:endParaRPr lang="zh-CN" altLang="en-US" sz="1400"/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merge/svn/demo_svn/</a:t>
            </a:r>
            <a:endParaRPr kumimoji="1" lang="en-US" altLang="zh-CN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├── repo/                      # svnadmin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仓库（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file://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直连，无需 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svnserve）</a:t>
            </a:r>
            <a:endParaRPr kumimoji="1" lang="en-US" altLang="zh-CN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└── wc/                        #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工作副本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├── trunk/                 # 74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张 + 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subdev_1/2/3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子目录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│   ├── subdev_1/          # ability/const/item_drop/monster/reward（5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私有表）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│   ├── subdev_2/          # const/fabao/guild/mail/tips（5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小表）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│   └── subdev_3/          # ability/reward/map/interaction/world_buff（5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小表）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└── branches/</a:t>
            </a:r>
            <a:endParaRPr kumimoji="1" lang="en-US" altLang="zh-CN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    ├── dev1/              #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全量（跨分支 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source/target）</a:t>
            </a:r>
            <a:endParaRPr kumimoji="1" lang="en-US" altLang="zh-CN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    ├── dev2/              #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全量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    ├── dev3/              #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小表（删了大表，改 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ability/reward/tips）</a:t>
            </a:r>
            <a:endParaRPr kumimoji="1" lang="en-US" altLang="zh-CN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        └── dev4/              # 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小表（删了大表，改 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const/fabao/guild）</a:t>
            </a:r>
            <a:endParaRPr lang="zh-CN" altLang="en-US" sz="1400"/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514350" y="2126615"/>
          <a:ext cx="10118090" cy="38201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01140"/>
                <a:gridCol w="3488690"/>
                <a:gridCol w="2045970"/>
                <a:gridCol w="3082290"/>
              </a:tblGrid>
              <a:tr h="52133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方法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性能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提升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三重循环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——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10w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*100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列会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根据哈希建立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row_idx_maps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O(n)线性扫描卡死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哈希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定位实现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O(n)-&gt;O(1)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sparse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稀疏化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全表建立哈希内存过大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级别降至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numpy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逐单元格p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thon函数调用需要单一化，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消耗高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纯数据大表提升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10-50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倍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公式、批注在sheet回退逐单元格循环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解决公式、批注向量化出错的问题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保证性能同时保证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正确性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SVN merge-base 定位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53352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三方合并如何确定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SVN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版本以及确定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分支与版本</a:t>
            </a:r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在选择分支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/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目录后，找到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分支与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版本的核心方法：</a:t>
            </a:r>
            <a:r>
              <a:rPr kumimoji="1" lang="en-US" altLang="zh-CN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反查</a:t>
            </a:r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1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、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From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分支和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To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分支各自寻找自身的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；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微软雅黑" panose="020B0503020204020204" pitchFamily="34" charset="-122"/>
              <a:sym typeface="+mn-ea"/>
            </a:endParaRPr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</a:p>
          <a:p>
            <a:pPr algn="l"/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、沿着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链上溯，寻找完整的祖先链；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、两条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链交叉寻找最近公共祖先</a:t>
            </a:r>
            <a:r>
              <a:rPr kumimoji="1" lang="en-US" altLang="zh-CN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(LCA)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</a:p>
          <a:p>
            <a:pPr algn="l"/>
          </a:p>
          <a:p>
            <a:pPr algn="l"/>
          </a:p>
        </p:txBody>
      </p:sp>
      <p:sp>
        <p:nvSpPr>
          <p:cNvPr id="65" name="TextBox 64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22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2968625"/>
          <a:ext cx="4479290" cy="155321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14095"/>
                <a:gridCol w="1859280"/>
                <a:gridCol w="1605915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copyfrom-</a:t>
                      </a:r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标记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正常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切分支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trunk@r1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inferred=false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新建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路径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inferred=true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05" y="2968625"/>
            <a:ext cx="6392545" cy="184785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Compare 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225042"/>
            <a:ext cx="10058400" cy="17037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比较过程分为四层：</a:t>
            </a: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文件层：新增、删除、重命名、移动。</a:t>
            </a: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Sheet 层：新增 sheet、删除 sheet、表头变化。</a:t>
            </a: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行列层：主键匹配、行新增删除、字段变更。</a:t>
            </a:r>
          </a:p>
          <a:p>
            <a:pPr marL="285750" indent="-285750">
              <a:lnSpc>
                <a:spcPct val="118000"/>
              </a:lnSpc>
              <a:buFont typeface="Arial" panose="020B0604020202020204" pitchFamily="34" charset="0"/>
              <a:buChar char="•"/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语义层：公式、外键引用、ID 冲突和可合并性判断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性能优化：稀疏化与向量化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大表不能逐单元格 Python 循环。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系统把变更表示为 sparse diff，只处理真正变化的行列区域。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数值和字符串比较尽量向量化，减少 Python 层循环。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实测 10w 级行表比较可从分钟级降到秒级。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ID 重映射与引用完整性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7037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多分支同时新增行时，主键可能冲突。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Merge 会识别同主键不同来源</a:t>
            </a:r>
            <a:r>
              <a:rPr lang="zh-CN"/>
              <a:t>分支</a:t>
            </a:r>
            <a:r>
              <a:t>新增。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随后同步更新引用列，避免只改主表 ID 却留下悬空外键</a:t>
            </a:r>
            <a:r>
              <a:rPr lang="zh-CN"/>
              <a:t>，保证引用一致性</a:t>
            </a:r>
            <a:r>
              <a:t>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这一层和 Excel-Agent思路一致：先建立依赖契约，再执行替换</a:t>
            </a:r>
            <a:r>
              <a:rPr lang="zh-CN"/>
              <a:t>，否则会出现引用链</a:t>
            </a:r>
            <a:r>
              <a:rPr lang="zh-CN"/>
              <a:t>断裂。</a:t>
            </a:r>
            <a:endParaRPr lang="zh-CN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25</a:t>
            </a:r>
          </a:p>
        </p:txBody>
      </p:sp>
      <p:pic>
        <p:nvPicPr>
          <p:cNvPr id="2" name="图片 1" descr="b7906200430bcbf1ba0c6de8c92964a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4455" y="3077845"/>
            <a:ext cx="2658745" cy="265874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公式缓存保护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137731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Excel 文件内部公式和缓存值分离，直接写盘容易造成缓存丢失或公式失效。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系统</a:t>
            </a:r>
            <a:r>
              <a:rPr lang="zh-CN" altLang="en-US">
                <a:sym typeface="+mn-ea"/>
              </a:rPr>
              <a:t>通过使用</a:t>
            </a:r>
            <a:r>
              <a:rPr lang="en-US" altLang="zh-CN" b="1">
                <a:sym typeface="+mn-ea"/>
              </a:rPr>
              <a:t>zip</a:t>
            </a:r>
            <a:r>
              <a:rPr lang="zh-CN" altLang="en-US" b="1">
                <a:sym typeface="+mn-ea"/>
              </a:rPr>
              <a:t>扫描</a:t>
            </a:r>
            <a:r>
              <a:rPr lang="en-US" altLang="zh-CN" b="1">
                <a:sym typeface="+mn-ea"/>
              </a:rPr>
              <a:t>excel</a:t>
            </a:r>
            <a:r>
              <a:rPr lang="zh-CN" altLang="en-US" b="1">
                <a:sym typeface="+mn-ea"/>
              </a:rPr>
              <a:t>文件底层的</a:t>
            </a:r>
            <a:r>
              <a:rPr lang="en-US" altLang="zh-CN" b="1">
                <a:sym typeface="+mn-ea"/>
              </a:rPr>
              <a:t>XML</a:t>
            </a:r>
            <a:r>
              <a:rPr lang="zh-CN" altLang="en-US" b="1">
                <a:sym typeface="+mn-ea"/>
              </a:rPr>
              <a:t>字节流</a:t>
            </a:r>
            <a:r>
              <a:rPr lang="zh-CN" altLang="en-US">
                <a:sym typeface="+mn-ea"/>
              </a:rPr>
              <a:t>，查找</a:t>
            </a:r>
            <a:r>
              <a:rPr lang="en-US" altLang="zh-CN" b="1">
                <a:sym typeface="+mn-ea"/>
              </a:rPr>
              <a:t>&lt;f&gt;</a:t>
            </a:r>
            <a:r>
              <a:rPr lang="zh-CN" altLang="en-US" b="1">
                <a:sym typeface="+mn-ea"/>
              </a:rPr>
              <a:t>公式标签</a:t>
            </a:r>
            <a:r>
              <a:rPr lang="zh-CN" altLang="en-US">
                <a:sym typeface="+mn-ea"/>
              </a:rPr>
              <a:t>判断表格中是否存在公式</a:t>
            </a:r>
            <a:endParaRPr lang="zh-CN" altLang="en-US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zh-CN"/>
              <a:t>，</a:t>
            </a:r>
            <a:r>
              <a:t>定位 changed/lost 公式。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>
                <a:sym typeface="+mn-ea"/>
              </a:rPr>
              <a:t>10w</a:t>
            </a:r>
            <a:r>
              <a:rPr lang="zh-CN" altLang="en-US">
                <a:sym typeface="+mn-ea"/>
              </a:rPr>
              <a:t>行的表格，</a:t>
            </a:r>
            <a:r>
              <a:rPr lang="en-US" altLang="zh-CN">
                <a:sym typeface="+mn-ea"/>
              </a:rPr>
              <a:t>openpyxl</a:t>
            </a:r>
            <a:r>
              <a:rPr lang="zh-CN" altLang="en-US">
                <a:sym typeface="+mn-ea"/>
              </a:rPr>
              <a:t>全量读取需要</a:t>
            </a:r>
            <a:r>
              <a:rPr lang="en-US" altLang="zh-CN">
                <a:sym typeface="+mn-ea"/>
              </a:rPr>
              <a:t>6.1s</a:t>
            </a:r>
            <a:r>
              <a:rPr lang="zh-CN" altLang="en-US">
                <a:sym typeface="+mn-ea"/>
              </a:rPr>
              <a:t>，使用</a:t>
            </a:r>
            <a:r>
              <a:rPr lang="en-US" altLang="zh-CN">
                <a:sym typeface="+mn-ea"/>
              </a:rPr>
              <a:t>zip</a:t>
            </a:r>
            <a:r>
              <a:rPr lang="zh-CN" altLang="en-US">
                <a:sym typeface="+mn-ea"/>
              </a:rPr>
              <a:t>扫描</a:t>
            </a:r>
            <a:r>
              <a:t>降到 0.05s，减少大文件处理开销。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26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86130" y="2880995"/>
            <a:ext cx="917765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校验与修复全流程：</a:t>
            </a:r>
            <a:endParaRPr lang="zh-CN" altLang="en-US"/>
          </a:p>
          <a:p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、表中无公式则走最快速路径；</a:t>
            </a:r>
            <a:endParaRPr lang="zh-CN" altLang="en-US"/>
          </a:p>
          <a:p>
            <a:r>
              <a:rPr lang="en-US" altLang="zh-CN">
                <a:sym typeface="+mn-ea"/>
              </a:rPr>
              <a:t>2</a:t>
            </a:r>
            <a:r>
              <a:rPr lang="zh-CN" altLang="en-US">
                <a:sym typeface="+mn-ea"/>
              </a:rPr>
              <a:t>、将保存后文件读回，并与保存前快照做比较，若保存前后出现缓存值消失，则为缓存丢失，标记为</a:t>
            </a:r>
            <a:r>
              <a:rPr lang="en-US" altLang="zh-CN">
                <a:sym typeface="+mn-ea"/>
              </a:rPr>
              <a:t>lost</a:t>
            </a:r>
            <a:r>
              <a:rPr lang="zh-CN" altLang="en-US">
                <a:sym typeface="+mn-ea"/>
              </a:rPr>
              <a:t>；若前后值不一致，则属于正常的缓存更新，标记为</a:t>
            </a:r>
            <a:r>
              <a:rPr lang="en-US" altLang="zh-CN">
                <a:sym typeface="+mn-ea"/>
              </a:rPr>
              <a:t>changed</a:t>
            </a:r>
            <a:r>
              <a:rPr lang="zh-CN" altLang="en-US">
                <a:sym typeface="+mn-ea"/>
              </a:rPr>
              <a:t>；</a:t>
            </a:r>
            <a:endParaRPr lang="zh-CN" altLang="en-US"/>
          </a:p>
          <a:p>
            <a:r>
              <a:rPr lang="en-US" altLang="zh-CN">
                <a:sym typeface="+mn-ea"/>
              </a:rPr>
              <a:t>3</a:t>
            </a:r>
            <a:r>
              <a:rPr lang="zh-CN" altLang="en-US">
                <a:sym typeface="+mn-ea"/>
              </a:rPr>
              <a:t>、对于</a:t>
            </a:r>
            <a:r>
              <a:rPr lang="en-US" altLang="zh-CN">
                <a:sym typeface="+mn-ea"/>
              </a:rPr>
              <a:t>changed</a:t>
            </a:r>
            <a:r>
              <a:rPr lang="zh-CN" altLang="en-US">
                <a:sym typeface="+mn-ea"/>
              </a:rPr>
              <a:t>情况，无需修复；</a:t>
            </a:r>
            <a:endParaRPr lang="zh-CN" altLang="en-US"/>
          </a:p>
          <a:p>
            <a:r>
              <a:rPr lang="en-US" altLang="zh-CN">
                <a:sym typeface="+mn-ea"/>
              </a:rPr>
              <a:t>4</a:t>
            </a:r>
            <a:r>
              <a:rPr lang="zh-CN" altLang="en-US">
                <a:sym typeface="+mn-ea"/>
              </a:rPr>
              <a:t>、对于</a:t>
            </a:r>
            <a:r>
              <a:rPr lang="en-US" altLang="zh-CN">
                <a:sym typeface="+mn-ea"/>
              </a:rPr>
              <a:t>lost</a:t>
            </a:r>
            <a:r>
              <a:rPr lang="zh-CN" altLang="en-US">
                <a:sym typeface="+mn-ea"/>
              </a:rPr>
              <a:t>情况，调用</a:t>
            </a:r>
            <a:r>
              <a:rPr lang="en-US" altLang="zh-CN">
                <a:sym typeface="+mn-ea"/>
              </a:rPr>
              <a:t>LibreOffice</a:t>
            </a:r>
            <a:r>
              <a:rPr lang="zh-CN" altLang="en-US">
                <a:sym typeface="+mn-ea"/>
              </a:rPr>
              <a:t>对文件进行重算，进行再度校验。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2" name="表格 1"/>
          <p:cNvGraphicFramePr/>
          <p:nvPr/>
        </p:nvGraphicFramePr>
        <p:xfrm>
          <a:off x="2112645" y="2660015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LibreOffice 重算与安全写回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7840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设置保护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:</a:t>
            </a:r>
            <a:endParaRPr kumimoji="1" lang="en-US" altLang="zh-CN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60s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超时上限，避免单文件卡死全流程；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文件添加互斥锁，保护文件不被损坏；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重算结果先输出到临时目录，再替换掉源文件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对于大数据量表格，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fast_apply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快路径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+zip+XML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的形式直接修改目标单元格，不触碰公式单元格，不会破坏公式缓存。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 algn="l"/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公式单元格冲突解决：</a:t>
            </a:r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对于公式单元格，系统会将其识别为公式列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(diff_type=formula)</a:t>
            </a:r>
            <a:endParaRPr kumimoji="1" lang="en-US" altLang="zh-CN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公式写法一致但缓存值不一致，视为不冲突，如果公式引用的输入值发生变化，会有标记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formula_changed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，调用内置求值器预览重算结果进行展示；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公式写法不一致则视为公式冲突，这时在冲突显示界面会显示单元格原有的公式，供用户比对选择。</a:t>
            </a:r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选择写回</a:t>
            </a:r>
            <a:endParaRPr kumimoji="1" lang="zh-CN" altLang="en-US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用户选择公式版本以后，系统回打上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formula_resolved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标记，在</a:t>
            </a:r>
            <a:r>
              <a:rPr kumimoji="1" lang="en-US" altLang="zh-CN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apply</a:t>
            </a:r>
            <a:r>
              <a:rPr kumimoji="1" lang="zh-CN" altLang="en-US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微软雅黑" panose="020B0503020204020204" pitchFamily="34" charset="-122"/>
                <a:sym typeface="+mn-ea"/>
              </a:rPr>
              <a:t>写回阶段根据标记将用户选择的公式文本写回单元格。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AI 辅助冲突处理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130" y="1170305"/>
            <a:ext cx="10407015" cy="435165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AI 只提供冲突建议，其完整的建议链路为：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>
                <a:sym typeface="+mn-ea"/>
              </a:rPr>
              <a:t>点击AI建议前端发送请求-&gt;调用线程池进行运行-&gt;根据LLM输入拼成prompt发送给模型-&gt;LLM返回Json输出-&gt;防幻觉校验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lang="en-US" altLang="zh-CN"/>
              <a:t>AI</a:t>
            </a:r>
            <a:r>
              <a:rPr lang="zh-CN" altLang="en-US"/>
              <a:t>建议</a:t>
            </a:r>
            <a:r>
              <a:rPr lang="en-US" altLang="zh-CN"/>
              <a:t> </a:t>
            </a:r>
            <a:r>
              <a:rPr lang="zh-CN" altLang="en-US"/>
              <a:t>相关的因子</a:t>
            </a:r>
            <a:r>
              <a:rPr lang="en-US" altLang="zh-CN"/>
              <a:t>:</a:t>
            </a: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lang="zh-CN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400"/>
              <a:t>输出</a:t>
            </a:r>
            <a:r>
              <a:rPr lang="en-US" sz="1400"/>
              <a:t>json</a:t>
            </a:r>
            <a:r>
              <a:rPr lang="zh-CN" altLang="en-US" sz="1400"/>
              <a:t>：</a:t>
            </a:r>
            <a:r>
              <a:rPr sz="1400"/>
              <a:t>建议保留来源、理由和置信度，最终由用户确认。</a:t>
            </a:r>
            <a:endParaRPr sz="14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endParaRPr sz="1400"/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28</a:t>
            </a:r>
          </a:p>
        </p:txBody>
      </p:sp>
      <p:graphicFrame>
        <p:nvGraphicFramePr>
          <p:cNvPr id="2" name="表格 1"/>
          <p:cNvGraphicFramePr/>
          <p:nvPr/>
        </p:nvGraphicFramePr>
        <p:xfrm>
          <a:off x="843915" y="2816860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085840" y="2018665"/>
            <a:ext cx="5681980" cy="3764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置信度结合规则一致性、字段风险、冲突复杂度和模型解释质量。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</a:rPr>
              <a:t>置信度相关的因子: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LLM自评因子llm_conf:LLM自行评价得出指标；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修订号领先度因子rev_conf:版本越领先取值越高；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值域合理性因子value_conf:取值越合理分支越高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</a:rPr>
              <a:t>AI建议并行操作使用的技术：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缓存优先：缓存键由表名、sheet名、列名和版本哈希组成，命中且未过期则返回；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批量LLM：将为缓存的单元格拼接进prompt，让LLM一次调用返回json，根据index返回位置；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>
                <a:solidFill>
                  <a:srgbClr val="262626"/>
                </a:solidFill>
                <a:latin typeface="微软雅黑" panose="020B0503020204020204" pitchFamily="34" charset="-122"/>
                <a:sym typeface="+mn-ea"/>
              </a:rPr>
              <a:t>回退并行：在批量操作失败的情况下用线程池并发逐格调用。</a:t>
            </a:r>
            <a:endParaRPr sz="1400">
              <a:solidFill>
                <a:srgbClr val="262626"/>
              </a:solidFill>
              <a:latin typeface="微软雅黑" panose="020B0503020204020204" pitchFamily="34" charset="-122"/>
            </a:endParaRPr>
          </a:p>
          <a:p>
            <a:endParaRPr lang="zh-CN" altLang="en-US" sz="1400" b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514350" y="2068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0" name="Rectangle 59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" y="137160"/>
            <a:ext cx="10607040" cy="3898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rPr lang="zh-CN"/>
              <a:t>大表格比对</a:t>
            </a:r>
            <a:r>
              <a:rPr lang="zh-CN"/>
              <a:t>性能</a:t>
            </a:r>
            <a:endParaRPr lang="zh-CN"/>
          </a:p>
        </p:txBody>
      </p:sp>
      <p:sp>
        <p:nvSpPr>
          <p:cNvPr id="63" name="Rectangle 62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6384" y="1170432"/>
            <a:ext cx="10058400" cy="94170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Compare 和写回阶段按文件/Sheet 粒度并行。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CPU 密集比较使用 ProcessPool，I/O 和解析任务使用 ThreadPool。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worker 上限跟 CPU、文件数和内存占用绑定，避免并行越多越慢。</a:t>
            </a:r>
            <a:endParaRPr sz="1200"/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rPr sz="1200"/>
              <a:t>fast_apply 让无冲突、低风险文件快速落盘。</a:t>
            </a:r>
            <a:endParaRPr sz="1200"/>
          </a:p>
        </p:txBody>
      </p:sp>
      <p:sp>
        <p:nvSpPr>
          <p:cNvPr id="66" name="TextBox 65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29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>
            <p:custDataLst>
              <p:tags r:id="rId4"/>
            </p:custDataLst>
          </p:nvPr>
        </p:nvGraphicFramePr>
        <p:xfrm>
          <a:off x="641350" y="2195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94944"/>
            <a:ext cx="12191695" cy="5468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37160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1800" b="1">
                <a:solidFill>
                  <a:srgbClr val="FFFFFF"/>
                </a:solidFill>
                <a:latin typeface="微软雅黑" panose="020B0503020204020204" pitchFamily="34" charset="-122"/>
              </a:defRPr>
            </a:pPr>
            <a:r>
              <a:t>当前验证结论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850392"/>
            <a:ext cx="1325880" cy="45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1170432"/>
            <a:ext cx="10058400" cy="4828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最新代码合并后，核心回归通过 71 项；此前相关 agent 回归通过 109 项。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这次更新对智能化有正向价值：enum resolver、schema-aware parse 修复、locator 调整都在减少模型幻觉。</a:t>
            </a:r>
          </a:p>
          <a:p>
            <a:pPr>
              <a:lnSpc>
                <a:spcPct val="118000"/>
              </a:lnSpc>
              <a:defRPr sz="1800" b="0">
                <a:solidFill>
                  <a:srgbClr val="262626"/>
                </a:solidFill>
                <a:latin typeface="微软雅黑" panose="020B0503020204020204" pitchFamily="34" charset="-122"/>
              </a:defRPr>
            </a:pPr>
            <a:r>
              <a:t>剩余风险集中在复杂链路：跨段代词、省略主语、枚举口语化、资源缺必填字段。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2240280"/>
            <a:ext cx="9966960" cy="80467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3600" b="1">
                <a:solidFill>
                  <a:srgbClr val="C00000"/>
                </a:solidFill>
                <a:latin typeface="微软雅黑" panose="020B0503020204020204" pitchFamily="34" charset="-122"/>
              </a:defRPr>
            </a:pPr>
            <a:r>
              <a:t>四、总结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127248"/>
            <a:ext cx="91440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Excel-Agent 的正确方向不是堆 prompt，而是“LLM 理解 + schema 编译 + 规则校验 + 确定执行”。</a:t>
            </a:r>
          </a:p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Merge 的正确方向是“可信 Base + 稀疏 diff + 引用保护 + 安全写回”。</a:t>
            </a:r>
          </a:p>
          <a:p>
            <a:pPr algn="ctr">
              <a:lnSpc>
                <a:spcPct val="115000"/>
              </a:lnSpc>
              <a:defRPr sz="20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后续重点：全字段交互修正、复杂链路上下文继承、经验沉淀、更多端到端回归和可观测指标。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327648"/>
            <a:ext cx="4663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ExcelAgent_And_Merge 技术答辩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2764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>
            <a:spAutoFit/>
          </a:bodyPr>
          <a:lstStyle/>
          <a:p>
            <a:pPr algn="r">
              <a:lnSpc>
                <a:spcPct val="115000"/>
              </a:lnSpc>
              <a:defRPr sz="800" b="0">
                <a:solidFill>
                  <a:srgbClr val="696969"/>
                </a:solidFill>
                <a:latin typeface="微软雅黑" panose="020B0503020204020204" pitchFamily="34" charset="-122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模板使用说明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80579" y="1486264"/>
            <a:ext cx="10336696" cy="4706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、本模板为通用模板，仅适用于基础性制作需求，使用时请根据工作实际需求进行微调。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模板中的背景版式、辅助图形、文字内容、配图等，可进行相应替换、删减。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模板中的公司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，仅适用于可代表公司层面的相关商务洽谈、合作、展示场景。非必要情况，请勿使用，或可替换为其它适用的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、如您在使用中对此模板有任何问题及建议，请添加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群沟通反馈（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群号：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1587248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）。本模板将基于使用者建议定期优化更新。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联系人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总裁办 薛婧婷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1"/>
              </a:rPr>
              <a:t>hzxuejingting@crop.netease.com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UEDC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杨魏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hzyangwei@corp.netease.com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5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、基本背景样式</a:t>
            </a:r>
            <a:endParaRPr lang="zh-CN" altLang="en-US" dirty="0"/>
          </a:p>
        </p:txBody>
      </p:sp>
      <p:pic>
        <p:nvPicPr>
          <p:cNvPr id="4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、基本版面样式</a:t>
            </a:r>
            <a:endParaRPr lang="zh-CN" alt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文本框 31"/>
          <p:cNvSpPr txBox="1"/>
          <p:nvPr/>
        </p:nvSpPr>
        <p:spPr>
          <a:xfrm>
            <a:off x="2666878" y="1916597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666878" y="2382893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3" name="对角圆角矩形 2"/>
          <p:cNvSpPr/>
          <p:nvPr/>
        </p:nvSpPr>
        <p:spPr>
          <a:xfrm>
            <a:off x="1877057" y="1981184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870775" y="202662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2666878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2666878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7882580" y="1913902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882580" y="238019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8" name="对角圆角矩形 2"/>
          <p:cNvSpPr/>
          <p:nvPr/>
        </p:nvSpPr>
        <p:spPr>
          <a:xfrm>
            <a:off x="7092759" y="1978489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086478" y="203908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7882580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7882580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22" name="对角圆角矩形 2"/>
          <p:cNvSpPr/>
          <p:nvPr/>
        </p:nvSpPr>
        <p:spPr>
          <a:xfrm>
            <a:off x="1878320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72039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4" name="对角圆角矩形 2"/>
          <p:cNvSpPr/>
          <p:nvPr/>
        </p:nvSpPr>
        <p:spPr>
          <a:xfrm>
            <a:off x="7092759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086478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形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1409626" y="1587488"/>
            <a:ext cx="5719380" cy="1015663"/>
            <a:chOff x="3034476" y="6900502"/>
            <a:chExt cx="5719380" cy="1015663"/>
          </a:xfrm>
        </p:grpSpPr>
        <p:sp>
          <p:nvSpPr>
            <p:cNvPr id="31" name="文本框 30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34" name="直线连接符 33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6705241" y="1587488"/>
            <a:ext cx="5719380" cy="1015663"/>
            <a:chOff x="3034476" y="6900502"/>
            <a:chExt cx="5719380" cy="1015663"/>
          </a:xfrm>
        </p:grpSpPr>
        <p:sp>
          <p:nvSpPr>
            <p:cNvPr id="37" name="文本框 36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40" name="直线连接符 3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组合 40"/>
          <p:cNvGrpSpPr/>
          <p:nvPr/>
        </p:nvGrpSpPr>
        <p:grpSpPr>
          <a:xfrm>
            <a:off x="1409626" y="4206168"/>
            <a:ext cx="5719380" cy="1015663"/>
            <a:chOff x="3034476" y="6900502"/>
            <a:chExt cx="5719380" cy="1015663"/>
          </a:xfrm>
        </p:grpSpPr>
        <p:sp>
          <p:nvSpPr>
            <p:cNvPr id="42" name="文本框 4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0" name="直线连接符 5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/>
          <p:cNvGrpSpPr/>
          <p:nvPr/>
        </p:nvGrpSpPr>
        <p:grpSpPr>
          <a:xfrm>
            <a:off x="6705241" y="4206168"/>
            <a:ext cx="5719380" cy="1015663"/>
            <a:chOff x="3034476" y="6900502"/>
            <a:chExt cx="5719380" cy="1015663"/>
          </a:xfrm>
        </p:grpSpPr>
        <p:sp>
          <p:nvSpPr>
            <p:cNvPr id="62" name="文本框 6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5" name="直线连接符 64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/>
          <p:nvPr/>
        </p:nvSpPr>
        <p:spPr>
          <a:xfrm>
            <a:off x="597712" y="3120437"/>
            <a:ext cx="7927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97712" y="3654249"/>
            <a:ext cx="7489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97712" y="4188061"/>
            <a:ext cx="748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97713" y="4721873"/>
            <a:ext cx="748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7712" y="5255686"/>
            <a:ext cx="7489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4719920" y="364242"/>
            <a:ext cx="763893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0000" dirty="0">
                <a:solidFill>
                  <a:srgbClr val="C21C1C"/>
                </a:solidFill>
                <a:ea typeface="PingFang SC Regular" panose="020B0300000000000000" pitchFamily="34" charset="-128"/>
                <a:cs typeface="Arial" panose="020B0604020202020204" pitchFamily="34" charset="0"/>
              </a:rPr>
              <a:t>CONTENTS</a:t>
            </a:r>
            <a:endParaRPr kumimoji="1" lang="zh-CN" altLang="en-US" sz="10000" dirty="0">
              <a:solidFill>
                <a:srgbClr val="C21C1C"/>
              </a:solidFill>
              <a:ea typeface="PingFang SC Regular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67" name="直接连接符 66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4770526" y="1277040"/>
            <a:ext cx="2722227" cy="2714683"/>
            <a:chOff x="3462868" y="3718731"/>
            <a:chExt cx="2722227" cy="2714683"/>
          </a:xfrm>
        </p:grpSpPr>
        <p:sp>
          <p:nvSpPr>
            <p:cNvPr id="21" name="文本框 20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3462868" y="4537895"/>
              <a:ext cx="2722227" cy="18955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而是看到了这句话在当下的价值。当时推出句话“网聚人的力量”。我们将这句话写入公司使命。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4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组合 24"/>
          <p:cNvGrpSpPr/>
          <p:nvPr/>
        </p:nvGrpSpPr>
        <p:grpSpPr>
          <a:xfrm>
            <a:off x="1325990" y="1277040"/>
            <a:ext cx="2722227" cy="4561342"/>
            <a:chOff x="3462868" y="3718731"/>
            <a:chExt cx="2722227" cy="4561342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3462868" y="4537895"/>
              <a:ext cx="2722227" cy="3742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而是看到这句句话在当下的价值互联网怎么改变未来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/>
          <p:cNvGrpSpPr/>
          <p:nvPr/>
        </p:nvGrpSpPr>
        <p:grpSpPr>
          <a:xfrm>
            <a:off x="8217236" y="1277040"/>
            <a:ext cx="2722227" cy="3453347"/>
            <a:chOff x="3462868" y="3718731"/>
            <a:chExt cx="2722227" cy="3453347"/>
          </a:xfrm>
        </p:grpSpPr>
        <p:sp>
          <p:nvSpPr>
            <p:cNvPr id="30" name="文本框 29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3462868" y="4537895"/>
              <a:ext cx="2722227" cy="263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2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、小标题页</a:t>
            </a:r>
            <a:endParaRPr lang="zh-CN" alt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三、成果</a:t>
            </a:r>
            <a:r>
              <a:rPr lang="zh-CN" altLang="en-US" dirty="0"/>
              <a:t>数据</a:t>
            </a:r>
            <a:endParaRPr lang="zh-CN" alt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7592838" y="-350089"/>
            <a:ext cx="5211427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0" dirty="0">
                <a:solidFill>
                  <a:srgbClr val="C21C1C"/>
                </a:solidFill>
                <a:latin typeface="+mj-ea"/>
                <a:ea typeface="+mj-ea"/>
                <a:cs typeface="Arial" panose="020B0604020202020204" pitchFamily="34" charset="0"/>
              </a:rPr>
              <a:t>2</a:t>
            </a:r>
            <a:endParaRPr kumimoji="1" lang="zh-CN" altLang="en-US" sz="40000" dirty="0">
              <a:solidFill>
                <a:srgbClr val="C21C1C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2265" y="3809846"/>
            <a:ext cx="52913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50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50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2265" y="5361290"/>
            <a:ext cx="39506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57150">
            <a:solidFill>
              <a:srgbClr val="A80D0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形 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直线连接符 33"/>
          <p:cNvCxnSpPr/>
          <p:nvPr/>
        </p:nvCxnSpPr>
        <p:spPr>
          <a:xfrm>
            <a:off x="-234980" y="8379851"/>
            <a:ext cx="0" cy="6105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5267774" y="2986000"/>
            <a:ext cx="44196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5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35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对角圆角矩形 10"/>
          <p:cNvSpPr/>
          <p:nvPr/>
        </p:nvSpPr>
        <p:spPr>
          <a:xfrm>
            <a:off x="4274301" y="3029400"/>
            <a:ext cx="875172" cy="875172"/>
          </a:xfrm>
          <a:prstGeom prst="roundRect">
            <a:avLst>
              <a:gd name="adj" fmla="val 4695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274301" y="3153333"/>
            <a:ext cx="8751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294668" y="3594861"/>
            <a:ext cx="42044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769718" y="583704"/>
            <a:ext cx="13162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5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5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9718" y="2268547"/>
            <a:ext cx="6602632" cy="205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07818" y="4321417"/>
            <a:ext cx="829376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914400" y="1594961"/>
            <a:ext cx="35254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、单图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文字页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3168336" y="3154632"/>
            <a:ext cx="58553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11"/>
          <p:cNvCxnSpPr/>
          <p:nvPr/>
        </p:nvCxnSpPr>
        <p:spPr>
          <a:xfrm>
            <a:off x="5842042" y="3969280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/>
          <a:srcRect t="24036" b="46067"/>
          <a:stretch>
            <a:fillRect/>
          </a:stretch>
        </p:blipFill>
        <p:spPr>
          <a:xfrm>
            <a:off x="0" y="0"/>
            <a:ext cx="12192000" cy="2406642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333339" y="4475447"/>
            <a:ext cx="7550779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</a:t>
            </a:r>
            <a:endParaRPr kumimoji="1"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7435" y="6327573"/>
            <a:ext cx="886932" cy="165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59587" y="0"/>
            <a:ext cx="4831335" cy="6858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058933" y="1255747"/>
            <a:ext cx="4979917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" name="直线连接符 11"/>
          <p:cNvCxnSpPr/>
          <p:nvPr/>
        </p:nvCxnSpPr>
        <p:spPr>
          <a:xfrm>
            <a:off x="1155948" y="2756952"/>
            <a:ext cx="533375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58933" y="3171958"/>
            <a:ext cx="5037067" cy="152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互联网怎么改变未来，当时推出了一句话“网聚人的力量”。我们将这句话写了这句而是到了这句话互联网怎么改变未来，当时推当改变未来，当时推当时推出出时推出出了一句话“网聚人的力量”。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965433" y="1244171"/>
            <a:ext cx="4175180" cy="4369659"/>
          </a:xfrm>
          <a:prstGeom prst="roundRect">
            <a:avLst>
              <a:gd name="adj" fmla="val 2910"/>
            </a:avLst>
          </a:prstGeom>
        </p:spPr>
      </p:pic>
      <p:pic>
        <p:nvPicPr>
          <p:cNvPr id="6" name="图形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49693" y="1095428"/>
            <a:ext cx="5304160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959218" y="3025376"/>
            <a:ext cx="5304160" cy="2264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228600" indent="-228600">
              <a:lnSpc>
                <a:spcPct val="150000"/>
              </a:lnSpc>
              <a:buFont typeface="+mj-ea"/>
              <a:buAutoNum type="circleNumDbPlain"/>
              <a:defRPr kumimoji="1" sz="1600">
                <a:solidFill>
                  <a:schemeClr val="tx1">
                    <a:lumMod val="75000"/>
                    <a:lumOff val="25000"/>
                  </a:schemeClr>
                </a:solidFill>
                <a:latin typeface="PingFang SC Light" panose="020B0300000000000000" pitchFamily="34" charset="-122"/>
                <a:ea typeface="PingFang SC Light" panose="020B0300000000000000" pitchFamily="34" charset="-122"/>
              </a:defRPr>
            </a:lvl1pPr>
          </a:lstStyle>
          <a:p>
            <a:r>
              <a:rPr lang="zh-CN" altLang="en-US" dirty="0">
                <a:latin typeface="+mj-ea"/>
                <a:ea typeface="+mj-ea"/>
              </a:rPr>
              <a:t>互联网怎么改变未来当时推出了一句话“网聚人的力量”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互联网怎么改变未来，我们将这句话写了这句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互联网怎么改变未来，当时推出了一句话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</p:txBody>
      </p:sp>
      <p:cxnSp>
        <p:nvCxnSpPr>
          <p:cNvPr id="9" name="直线连接符 11"/>
          <p:cNvCxnSpPr/>
          <p:nvPr/>
        </p:nvCxnSpPr>
        <p:spPr>
          <a:xfrm>
            <a:off x="1051418" y="2593639"/>
            <a:ext cx="533375" cy="0"/>
          </a:xfrm>
          <a:prstGeom prst="line">
            <a:avLst/>
          </a:prstGeom>
          <a:ln w="25400">
            <a:solidFill>
              <a:srgbClr val="C21C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形 2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4603300" y="4000412"/>
            <a:ext cx="2985400" cy="1564116"/>
            <a:chOff x="872806" y="3520575"/>
            <a:chExt cx="2985400" cy="1564116"/>
          </a:xfrm>
        </p:grpSpPr>
        <p:sp>
          <p:nvSpPr>
            <p:cNvPr id="29" name="文本框 28"/>
            <p:cNvSpPr txBox="1"/>
            <p:nvPr/>
          </p:nvSpPr>
          <p:spPr>
            <a:xfrm>
              <a:off x="872806" y="429716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8241850" y="4000412"/>
            <a:ext cx="2985400" cy="1561136"/>
            <a:chOff x="872806" y="3520575"/>
            <a:chExt cx="2985400" cy="1561136"/>
          </a:xfrm>
        </p:grpSpPr>
        <p:sp>
          <p:nvSpPr>
            <p:cNvPr id="34" name="文本框 33"/>
            <p:cNvSpPr txBox="1"/>
            <p:nvPr/>
          </p:nvSpPr>
          <p:spPr>
            <a:xfrm>
              <a:off x="872806" y="429418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847632" y="1235714"/>
            <a:ext cx="2985400" cy="4325834"/>
            <a:chOff x="872806" y="757367"/>
            <a:chExt cx="2985400" cy="4325834"/>
          </a:xfrm>
        </p:grpSpPr>
        <p:sp>
          <p:nvSpPr>
            <p:cNvPr id="39" name="文本框 38"/>
            <p:cNvSpPr txBox="1"/>
            <p:nvPr/>
          </p:nvSpPr>
          <p:spPr>
            <a:xfrm>
              <a:off x="872806" y="429567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1" name="图片 4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114892" y="757367"/>
              <a:ext cx="2501227" cy="245274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42" name="文本框 4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4538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8393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圆角 34"/>
          <p:cNvSpPr/>
          <p:nvPr/>
        </p:nvSpPr>
        <p:spPr>
          <a:xfrm>
            <a:off x="890269" y="1918886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7" name="图片 4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9528" y="1918887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50" name="文本框 49"/>
          <p:cNvSpPr txBox="1"/>
          <p:nvPr/>
        </p:nvSpPr>
        <p:spPr>
          <a:xfrm>
            <a:off x="945291" y="4309138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9" name="直线连接符 48"/>
          <p:cNvCxnSpPr/>
          <p:nvPr/>
        </p:nvCxnSpPr>
        <p:spPr>
          <a:xfrm>
            <a:off x="1046601" y="4697477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945291" y="4777126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" y="657160"/>
            <a:ext cx="1219199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" y="1206917"/>
            <a:ext cx="12191999" cy="377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我们将写入写入这句话写入公司使命不是说要重</a:t>
            </a:r>
            <a:r>
              <a:rPr kumimoji="1" lang="en-US" alt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,</a:t>
            </a: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而是看到了这句话在当下的价值。</a:t>
            </a:r>
            <a:endParaRPr kumimoji="1" lang="en-US" altLang="zh-CN" sz="14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34" name="图形 3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2" name="矩形: 圆角 71"/>
          <p:cNvSpPr/>
          <p:nvPr/>
        </p:nvSpPr>
        <p:spPr>
          <a:xfrm>
            <a:off x="361359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3" name="图片 7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13593" y="1913572"/>
            <a:ext cx="2271589" cy="2272329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74" name="文本框 73"/>
          <p:cNvSpPr txBox="1"/>
          <p:nvPr/>
        </p:nvSpPr>
        <p:spPr>
          <a:xfrm>
            <a:off x="3668616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5" name="直线连接符 48"/>
          <p:cNvCxnSpPr/>
          <p:nvPr/>
        </p:nvCxnSpPr>
        <p:spPr>
          <a:xfrm>
            <a:off x="3769926" y="4698024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3668616" y="4768148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6336176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6391198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48"/>
          <p:cNvCxnSpPr/>
          <p:nvPr/>
        </p:nvCxnSpPr>
        <p:spPr>
          <a:xfrm>
            <a:off x="6492508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6391198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8" name="矩形: 圆角 47"/>
          <p:cNvSpPr/>
          <p:nvPr/>
        </p:nvSpPr>
        <p:spPr>
          <a:xfrm>
            <a:off x="906024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/>
          <p:cNvSpPr txBox="1"/>
          <p:nvPr/>
        </p:nvSpPr>
        <p:spPr>
          <a:xfrm>
            <a:off x="9115265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线连接符 48"/>
          <p:cNvCxnSpPr/>
          <p:nvPr/>
        </p:nvCxnSpPr>
        <p:spPr>
          <a:xfrm>
            <a:off x="9216575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9115265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51024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75091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、多文字页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列表页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文本框 52"/>
          <p:cNvSpPr txBox="1"/>
          <p:nvPr/>
        </p:nvSpPr>
        <p:spPr>
          <a:xfrm>
            <a:off x="-25066" y="1051577"/>
            <a:ext cx="1221706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-12533" y="1605575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14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4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grpSp>
        <p:nvGrpSpPr>
          <p:cNvPr id="3" name="组合 2"/>
          <p:cNvGrpSpPr/>
          <p:nvPr/>
        </p:nvGrpSpPr>
        <p:grpSpPr>
          <a:xfrm>
            <a:off x="1104125" y="2428806"/>
            <a:ext cx="2818861" cy="3155079"/>
            <a:chOff x="1104125" y="2428806"/>
            <a:chExt cx="2818861" cy="3155079"/>
          </a:xfrm>
        </p:grpSpPr>
        <p:sp>
          <p:nvSpPr>
            <p:cNvPr id="26" name="矩形: 圆角 2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4674036" y="2428806"/>
            <a:ext cx="2818861" cy="3155079"/>
            <a:chOff x="1104125" y="2428806"/>
            <a:chExt cx="2818861" cy="3155079"/>
          </a:xfrm>
        </p:grpSpPr>
        <p:sp>
          <p:nvSpPr>
            <p:cNvPr id="31" name="矩形: 圆角 30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8269014" y="2428806"/>
            <a:ext cx="2818861" cy="3155079"/>
            <a:chOff x="1104125" y="2428806"/>
            <a:chExt cx="2818861" cy="3155079"/>
          </a:xfrm>
        </p:grpSpPr>
        <p:sp>
          <p:nvSpPr>
            <p:cNvPr id="36" name="矩形: 圆角 3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图片 36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76"/>
          <a:stretch>
            <a:fillRect/>
          </a:stretch>
        </p:blipFill>
        <p:spPr>
          <a:xfrm>
            <a:off x="0" y="3747221"/>
            <a:ext cx="12192000" cy="2566542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575872" y="591376"/>
            <a:ext cx="7121068" cy="768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时间轴标题内容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线连接符 11"/>
          <p:cNvCxnSpPr/>
          <p:nvPr/>
        </p:nvCxnSpPr>
        <p:spPr>
          <a:xfrm>
            <a:off x="683058" y="1704938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75872" y="1320563"/>
            <a:ext cx="36074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5046" y="5879704"/>
            <a:ext cx="747798" cy="139201"/>
          </a:xfrm>
          <a:prstGeom prst="rect">
            <a:avLst/>
          </a:prstGeom>
        </p:spPr>
      </p:pic>
      <p:cxnSp>
        <p:nvCxnSpPr>
          <p:cNvPr id="25" name="直线连接符 11"/>
          <p:cNvCxnSpPr/>
          <p:nvPr/>
        </p:nvCxnSpPr>
        <p:spPr>
          <a:xfrm>
            <a:off x="-826" y="3737492"/>
            <a:ext cx="12192000" cy="0"/>
          </a:xfrm>
          <a:prstGeom prst="line">
            <a:avLst/>
          </a:prstGeom>
          <a:ln w="1905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571597" y="3068862"/>
            <a:ext cx="2458507" cy="1973604"/>
            <a:chOff x="615987" y="3619287"/>
            <a:chExt cx="2458507" cy="1973604"/>
          </a:xfrm>
        </p:grpSpPr>
        <p:sp>
          <p:nvSpPr>
            <p:cNvPr id="39" name="文本框 38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椭圆 40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40919" y="3068862"/>
            <a:ext cx="2458507" cy="2296769"/>
            <a:chOff x="615987" y="3619287"/>
            <a:chExt cx="2458507" cy="2296769"/>
          </a:xfrm>
        </p:grpSpPr>
        <p:sp>
          <p:nvSpPr>
            <p:cNvPr id="43" name="文本框 42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 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6310241" y="3068862"/>
            <a:ext cx="2458507" cy="2296769"/>
            <a:chOff x="615987" y="3619287"/>
            <a:chExt cx="2458507" cy="2296769"/>
          </a:xfrm>
        </p:grpSpPr>
        <p:sp>
          <p:nvSpPr>
            <p:cNvPr id="47" name="文本框 46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椭圆 48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9179564" y="3068862"/>
            <a:ext cx="2458507" cy="1973604"/>
            <a:chOff x="615987" y="3619287"/>
            <a:chExt cx="2458507" cy="1973604"/>
          </a:xfrm>
        </p:grpSpPr>
        <p:sp>
          <p:nvSpPr>
            <p:cNvPr id="51" name="文本框 50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椭圆 52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77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组合 78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80" name="组合 7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85" name="文本框 8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82" name="椭圆 8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3" name="椭圆 8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4" name="直接连接符 8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1" name="文本框 10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107" name="组合 106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12" name="文本框 111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3" name="文本框 112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08" name="组合 107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09" name="椭圆 108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0" name="椭圆 109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1" name="直接连接符 110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4" name="组合 113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115" name="组合 114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20" name="文本框 11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1" name="文本框 120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17" name="椭圆 116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8" name="椭圆 11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9" name="直接连接符 118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组合 121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123" name="组合 122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136" name="文本框 135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8" name="文本框 137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24" name="组合 12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6" name="椭圆 12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27" name="直接连接符 126"/>
              <p:cNvCxnSpPr>
                <a:stCxn id="12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9" name="组合 138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140" name="组合 139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145" name="文本框 14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1" name="组合 140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42" name="椭圆 141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3" name="椭圆 14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44" name="直接连接符 143"/>
              <p:cNvCxnSpPr>
                <a:stCxn id="142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8" name="组合 127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129" name="组合 128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34" name="文本框 133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5" name="文本框 134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31" name="椭圆 130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椭圆 131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3" name="直接连接符 132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1" name="文本框 5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60" name="组合 5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65" name="文本框 6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6" name="文本框 65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62" name="椭圆 6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3" name="椭圆 6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64" name="直接连接符 6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7" name="组合 66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68" name="组合 67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73" name="文本框 72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文本框 73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9" name="组合 68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70" name="椭圆 69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2" name="直接连接符 71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5" name="组合 74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76" name="组合 75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90" name="文本框 8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6" name="组合 85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87" name="椭圆 86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9" name="直接连接符 88"/>
              <p:cNvCxnSpPr>
                <a:stCxn id="87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2" name="组合 91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93" name="组合 92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98" name="文本框 97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94" name="组合 9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95" name="椭圆 9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6" name="椭圆 9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7" name="直接连接符 96"/>
              <p:cNvCxnSpPr>
                <a:stCxn id="9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、图表页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33749"/>
          <a:ext cx="9738509" cy="368236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5911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14064"/>
          <a:ext cx="9738509" cy="370178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6108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图表配色建议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1778646" y="2490810"/>
            <a:ext cx="8634707" cy="2078734"/>
            <a:chOff x="3885094" y="264500"/>
            <a:chExt cx="4755130" cy="1144758"/>
          </a:xfrm>
        </p:grpSpPr>
        <p:sp>
          <p:nvSpPr>
            <p:cNvPr id="6" name="矩形: 圆角 5"/>
            <p:cNvSpPr/>
            <p:nvPr/>
          </p:nvSpPr>
          <p:spPr>
            <a:xfrm>
              <a:off x="3885094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  <a:ea typeface="+mj-ea"/>
                </a:rPr>
                <a:t>#800000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  <a:ea typeface="+mj-ea"/>
              </a:endParaRPr>
            </a:p>
          </p:txBody>
        </p:sp>
        <p:sp>
          <p:nvSpPr>
            <p:cNvPr id="14" name="矩形: 圆角 13"/>
            <p:cNvSpPr/>
            <p:nvPr/>
          </p:nvSpPr>
          <p:spPr>
            <a:xfrm>
              <a:off x="4836120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#C00000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: 圆角 14"/>
            <p:cNvSpPr/>
            <p:nvPr/>
          </p:nvSpPr>
          <p:spPr>
            <a:xfrm>
              <a:off x="5787146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12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#EE1212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: 圆角 15"/>
            <p:cNvSpPr/>
            <p:nvPr/>
          </p:nvSpPr>
          <p:spPr>
            <a:xfrm>
              <a:off x="6738172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6E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#EE6E4A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7" name="矩形: 圆角 16"/>
            <p:cNvSpPr/>
            <p:nvPr/>
          </p:nvSpPr>
          <p:spPr>
            <a:xfrm>
              <a:off x="7689198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49E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#F49E86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3885094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A64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#A64D00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9" name="矩形: 圆角 18"/>
            <p:cNvSpPr/>
            <p:nvPr/>
          </p:nvSpPr>
          <p:spPr>
            <a:xfrm>
              <a:off x="4836120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BF7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#BF7230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0" name="矩形: 圆角 19"/>
            <p:cNvSpPr/>
            <p:nvPr/>
          </p:nvSpPr>
          <p:spPr>
            <a:xfrm>
              <a:off x="5787146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#FF7600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6738172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98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#FF9840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7689198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B4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#FFB473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图表 3"/>
          <p:cNvGraphicFramePr/>
          <p:nvPr/>
        </p:nvGraphicFramePr>
        <p:xfrm>
          <a:off x="1226746" y="1417864"/>
          <a:ext cx="9738509" cy="4681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6" name="图表 5"/>
          <p:cNvGraphicFramePr/>
          <p:nvPr/>
        </p:nvGraphicFramePr>
        <p:xfrm>
          <a:off x="1238249" y="1323976"/>
          <a:ext cx="9738509" cy="4775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饼状图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pic>
        <p:nvPicPr>
          <p:cNvPr id="4" name="图表 3"/>
          <p:cNvPicPr>
            <a:picLocks noGrp="1" noRot="1" noChangeAspect="1" noMove="1" noResize="1" noEditPoints="1" noAdjustHandles="1" noChangeArrowheads="1" noChangeShapeType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895" y="1400435"/>
            <a:ext cx="7572210" cy="469925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、尾页</a:t>
            </a:r>
            <a:endParaRPr lang="zh-CN" alt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形 1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、背景辅助图形</a:t>
            </a:r>
            <a:endParaRPr lang="zh-CN" altLang="en-US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320573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附：网易公司品牌标识</a:t>
            </a:r>
            <a:endParaRPr lang="zh-CN" alt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05790" y="60431"/>
            <a:ext cx="3428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bg1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网易品牌色</a:t>
            </a:r>
            <a:endParaRPr kumimoji="1" lang="zh-CN" altLang="en-US" b="1" dirty="0">
              <a:solidFill>
                <a:schemeClr val="bg1"/>
              </a:solidFill>
              <a:latin typeface="PingFang SC Medium" panose="020B0400000000000000" pitchFamily="34" charset="-122"/>
              <a:ea typeface="PingFang SC Medium" panose="020B0400000000000000" pitchFamily="34" charset="-122"/>
            </a:endParaRPr>
          </a:p>
        </p:txBody>
      </p:sp>
      <p:sp>
        <p:nvSpPr>
          <p:cNvPr id="13" name="矩形: 圆角 12"/>
          <p:cNvSpPr/>
          <p:nvPr>
            <p:custDataLst>
              <p:tags r:id="rId1"/>
            </p:custDataLst>
          </p:nvPr>
        </p:nvSpPr>
        <p:spPr>
          <a:xfrm>
            <a:off x="1247775" y="3145959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561948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3"/>
            </p:custDataLst>
          </p:nvPr>
        </p:nvSpPr>
        <p:spPr>
          <a:xfrm>
            <a:off x="1727978" y="2167104"/>
            <a:ext cx="16258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</a:t>
            </a:r>
            <a:endParaRPr kumimoji="1"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917231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白色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: 圆角 17"/>
          <p:cNvSpPr/>
          <p:nvPr>
            <p:custDataLst>
              <p:tags r:id="rId5"/>
            </p:custDataLst>
          </p:nvPr>
        </p:nvSpPr>
        <p:spPr>
          <a:xfrm>
            <a:off x="4797471" y="3145958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1A1A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9" name="矩形: 圆角 18"/>
          <p:cNvSpPr/>
          <p:nvPr>
            <p:custDataLst>
              <p:tags r:id="rId6"/>
            </p:custDataLst>
          </p:nvPr>
        </p:nvSpPr>
        <p:spPr>
          <a:xfrm>
            <a:off x="8331636" y="3145957"/>
            <a:ext cx="2586297" cy="1594016"/>
          </a:xfrm>
          <a:prstGeom prst="roundRect">
            <a:avLst>
              <a:gd name="adj" fmla="val 3307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1727978" y="2629207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5277674" y="2631676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#1A1A1B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9"/>
            </p:custDataLst>
          </p:nvPr>
        </p:nvSpPr>
        <p:spPr>
          <a:xfrm>
            <a:off x="8811839" y="2644158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#FFFFFF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网易品牌色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6564139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黑色文字颜色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881187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#404040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015638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红色文字颜色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332686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564139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正文字体字号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722662" y="4132591"/>
            <a:ext cx="194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12-16</a:t>
            </a:r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3015638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标题字体字号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332686" y="4132591"/>
            <a:ext cx="1625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 加粗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字体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字号要求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1" y="1677906"/>
            <a:ext cx="12192000" cy="4594160"/>
            <a:chOff x="1" y="1344441"/>
            <a:chExt cx="12192000" cy="5513558"/>
          </a:xfrm>
        </p:grpSpPr>
        <p:sp>
          <p:nvSpPr>
            <p:cNvPr id="19" name="矩形 18"/>
            <p:cNvSpPr/>
            <p:nvPr/>
          </p:nvSpPr>
          <p:spPr>
            <a:xfrm>
              <a:off x="6096001" y="1344441"/>
              <a:ext cx="6096000" cy="27567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1" y="1344441"/>
              <a:ext cx="6095999" cy="27567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1" y="4101220"/>
              <a:ext cx="6095999" cy="2756779"/>
            </a:xfrm>
            <a:prstGeom prst="rect">
              <a:avLst/>
            </a:prstGeom>
            <a:solidFill>
              <a:srgbClr val="1C1C1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dirty="0">
                <a:ln>
                  <a:solidFill>
                    <a:schemeClr val="bg1"/>
                  </a:solidFill>
                </a:ln>
              </a:endParaRPr>
            </a:p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6096001" y="4101220"/>
              <a:ext cx="6096000" cy="2756779"/>
            </a:xfrm>
            <a:prstGeom prst="rect">
              <a:avLst/>
            </a:prstGeom>
            <a:solidFill>
              <a:srgbClr val="AB110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" name="图形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62" y="2988116"/>
            <a:ext cx="4029075" cy="676275"/>
          </a:xfrm>
          <a:prstGeom prst="rect">
            <a:avLst/>
          </a:prstGeom>
        </p:spPr>
      </p:pic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8080" y="5371322"/>
            <a:ext cx="4029075" cy="676275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6008" y="2988116"/>
            <a:ext cx="4029075" cy="676275"/>
          </a:xfrm>
          <a:prstGeom prst="rect">
            <a:avLst/>
          </a:prstGeom>
        </p:spPr>
      </p:pic>
      <p:pic>
        <p:nvPicPr>
          <p:cNvPr id="2" name="图形 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461" y="5323296"/>
            <a:ext cx="4029075" cy="67627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: 圆顶角 14"/>
          <p:cNvSpPr/>
          <p:nvPr/>
        </p:nvSpPr>
        <p:spPr>
          <a:xfrm rot="16200000">
            <a:off x="1582045" y="900015"/>
            <a:ext cx="3476531" cy="5551382"/>
          </a:xfrm>
          <a:prstGeom prst="round2SameRect">
            <a:avLst>
              <a:gd name="adj1" fmla="val 1872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矩形: 圆顶角 12"/>
          <p:cNvSpPr/>
          <p:nvPr/>
        </p:nvSpPr>
        <p:spPr>
          <a:xfrm rot="5400000">
            <a:off x="7130289" y="900016"/>
            <a:ext cx="3476532" cy="5551381"/>
          </a:xfrm>
          <a:prstGeom prst="round2SameRect">
            <a:avLst>
              <a:gd name="adj1" fmla="val 2146"/>
              <a:gd name="adj2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255" y="2599138"/>
            <a:ext cx="3753327" cy="2087404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5027" y="2599138"/>
            <a:ext cx="3753327" cy="2087404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其他辅助图形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网易大楼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7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8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9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0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7.xml><?xml version="1.0" encoding="utf-8"?>
<p:tagLst xmlns:p="http://schemas.openxmlformats.org/presentationml/2006/main">
  <p:tag name="TABLE_ENDDRAG_ORIGIN_RECT" val="680*294"/>
  <p:tag name="TABLE_ENDDRAG_RECT" val="55*126*680*294"/>
</p:tagLst>
</file>

<file path=ppt/tags/tag18.xml><?xml version="1.0" encoding="utf-8"?>
<p:tagLst xmlns:p="http://schemas.openxmlformats.org/presentationml/2006/main">
  <p:tag name="TABLE_ENDDRAG_ORIGIN_RECT" val="701*145"/>
  <p:tag name="TABLE_ENDDRAG_RECT" val="55*126*701*145"/>
</p:tagLst>
</file>

<file path=ppt/tags/tag1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3.xml><?xml version="1.0" encoding="utf-8"?>
<p:tagLst xmlns:p="http://schemas.openxmlformats.org/presentationml/2006/main">
  <p:tag name="TABLE_ENDDRAG_ORIGIN_RECT" val="352*121"/>
  <p:tag name="TABLE_ENDDRAG_RECT" val="46*247*352*121"/>
</p:tagLst>
</file>

<file path=ppt/tags/tag24.xml><?xml version="1.0" encoding="utf-8"?>
<p:tagLst xmlns:p="http://schemas.openxmlformats.org/presentationml/2006/main">
  <p:tag name="TABLE_ENDDRAG_ORIGIN_RECT" val="352*121"/>
  <p:tag name="TABLE_ENDDRAG_RECT" val="46*247*352*121"/>
</p:tagLst>
</file>

<file path=ppt/tags/tag25.xml><?xml version="1.0" encoding="utf-8"?>
<p:tagLst xmlns:p="http://schemas.openxmlformats.org/presentationml/2006/main">
  <p:tag name="KSO_DOCER_RESOURCE_TRACE_INFO" val="{&quot;id&quot;:&quot;50062481&quot;,&quot;origin&quot;:0,&quot;type&quot;:&quot;icons&quot;,&quot;user&quot;:&quot;1667416467&quot;}"/>
</p:tagLst>
</file>

<file path=ppt/tags/tag26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27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28.xml><?xml version="1.0" encoding="utf-8"?>
<p:tagLst xmlns:p="http://schemas.openxmlformats.org/presentationml/2006/main">
  <p:tag name="KSO_WM_UNIT_PLACING_PICTURE_USER_VIEWPORT" val="{&quot;height&quot;:4041.7984251968505,&quot;width&quot;:19200}"/>
</p:tagLst>
</file>

<file path=ppt/tags/tag2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3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4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5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6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8.xml><?xml version="1.0" encoding="utf-8"?>
<p:tagLst xmlns:p="http://schemas.openxmlformats.org/presentationml/2006/main">
  <p:tag name="COMMONDATA" val="eyJoZGlkIjoiMzA3YmEwZTZiZTcwOGUxNGRjZDIwNzAwMzQ1ZGJkNWEifQ=="/>
  <p:tag name="resource_record_key" val="{&quot;10&quot;:[50062481]}"/>
</p:tagLst>
</file>

<file path=ppt/theme/theme1.xml><?xml version="1.0" encoding="utf-8"?>
<a:theme xmlns:a="http://schemas.openxmlformats.org/drawingml/2006/main" name="Office 主题​​">
  <a:themeElements>
    <a:clrScheme name="红色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11437</Words>
  <Application>WPS 演示</Application>
  <PresentationFormat>宽屏</PresentationFormat>
  <Paragraphs>1403</Paragraphs>
  <Slides>81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81</vt:i4>
      </vt:variant>
    </vt:vector>
  </HeadingPairs>
  <TitlesOfParts>
    <vt:vector size="92" baseType="lpstr">
      <vt:lpstr>Arial</vt:lpstr>
      <vt:lpstr>宋体</vt:lpstr>
      <vt:lpstr>Wingdings</vt:lpstr>
      <vt:lpstr>微软雅黑</vt:lpstr>
      <vt:lpstr>Arial Unicode MS</vt:lpstr>
      <vt:lpstr>Arial Black</vt:lpstr>
      <vt:lpstr>黑体</vt:lpstr>
      <vt:lpstr>PingFang SC Regular</vt:lpstr>
      <vt:lpstr>PingFang SC Light</vt:lpstr>
      <vt:lpstr>PingFang SC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网易集团PPT模板</dc:title>
  <dc:creator>Netease</dc:creator>
  <cp:lastModifiedBy>吴植贤</cp:lastModifiedBy>
  <cp:revision>299</cp:revision>
  <dcterms:created xsi:type="dcterms:W3CDTF">2020-10-23T08:28:00Z</dcterms:created>
  <dcterms:modified xsi:type="dcterms:W3CDTF">2026-08-31T11:30:04Z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CBF6EA77B58649A69751C5AC90853E80</vt:lpwstr>
  </property>
  <property fmtid="{D5CDD505-2E9C-101B-9397-08002B2CF9AE}" pid="3" name="KSOProductBuildVer">
    <vt:lpwstr>2052-12.1.0.28043</vt:lpwstr>
  </property>
</Properties>
</file>