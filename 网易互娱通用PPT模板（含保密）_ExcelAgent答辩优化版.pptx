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36.svg" ContentType="image/svg+xml"/>
  <Override PartName="/ppt/media/image40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83"/>
  </p:handoutMasterIdLst>
  <p:sldIdLst>
    <p:sldId id="261" r:id="rId3"/>
    <p:sldId id="339" r:id="rId5"/>
    <p:sldId id="284" r:id="rId6"/>
    <p:sldId id="426" r:id="rId7"/>
    <p:sldId id="427" r:id="rId8"/>
    <p:sldId id="428" r:id="rId9"/>
    <p:sldId id="434" r:id="rId10"/>
    <p:sldId id="447" r:id="rId11"/>
    <p:sldId id="435" r:id="rId12"/>
    <p:sldId id="464" r:id="rId13"/>
    <p:sldId id="466" r:id="rId14"/>
    <p:sldId id="465" r:id="rId15"/>
    <p:sldId id="437" r:id="rId16"/>
    <p:sldId id="467" r:id="rId17"/>
    <p:sldId id="438" r:id="rId18"/>
    <p:sldId id="440" r:id="rId19"/>
    <p:sldId id="439" r:id="rId20"/>
    <p:sldId id="441" r:id="rId21"/>
    <p:sldId id="456" r:id="rId22"/>
    <p:sldId id="453" r:id="rId23"/>
    <p:sldId id="454" r:id="rId24"/>
    <p:sldId id="445" r:id="rId25"/>
    <p:sldId id="446" r:id="rId26"/>
    <p:sldId id="458" r:id="rId27"/>
    <p:sldId id="459" r:id="rId28"/>
    <p:sldId id="460" r:id="rId29"/>
    <p:sldId id="461" r:id="rId30"/>
    <p:sldId id="462" r:id="rId31"/>
    <p:sldId id="451" r:id="rId32"/>
    <p:sldId id="463" r:id="rId33"/>
    <p:sldId id="431" r:id="rId34"/>
    <p:sldId id="425" r:id="rId35"/>
    <p:sldId id="266" r:id="rId36"/>
    <p:sldId id="257" r:id="rId37"/>
    <p:sldId id="262" r:id="rId38"/>
    <p:sldId id="273" r:id="rId39"/>
    <p:sldId id="306" r:id="rId40"/>
    <p:sldId id="377" r:id="rId41"/>
    <p:sldId id="412" r:id="rId42"/>
    <p:sldId id="321" r:id="rId43"/>
    <p:sldId id="263" r:id="rId44"/>
    <p:sldId id="277" r:id="rId45"/>
    <p:sldId id="374" r:id="rId46"/>
    <p:sldId id="293" r:id="rId47"/>
    <p:sldId id="269" r:id="rId48"/>
    <p:sldId id="430" r:id="rId49"/>
    <p:sldId id="361" r:id="rId50"/>
    <p:sldId id="403" r:id="rId51"/>
    <p:sldId id="260" r:id="rId52"/>
    <p:sldId id="267" r:id="rId53"/>
    <p:sldId id="341" r:id="rId54"/>
    <p:sldId id="379" r:id="rId55"/>
    <p:sldId id="342" r:id="rId56"/>
    <p:sldId id="356" r:id="rId57"/>
    <p:sldId id="301" r:id="rId58"/>
    <p:sldId id="303" r:id="rId59"/>
    <p:sldId id="327" r:id="rId60"/>
    <p:sldId id="395" r:id="rId61"/>
    <p:sldId id="396" r:id="rId62"/>
    <p:sldId id="423" r:id="rId63"/>
    <p:sldId id="309" r:id="rId64"/>
    <p:sldId id="393" r:id="rId65"/>
    <p:sldId id="394" r:id="rId66"/>
    <p:sldId id="404" r:id="rId67"/>
    <p:sldId id="405" r:id="rId68"/>
    <p:sldId id="406" r:id="rId69"/>
    <p:sldId id="407" r:id="rId70"/>
    <p:sldId id="368" r:id="rId71"/>
    <p:sldId id="371" r:id="rId72"/>
    <p:sldId id="369" r:id="rId73"/>
    <p:sldId id="270" r:id="rId74"/>
    <p:sldId id="281" r:id="rId75"/>
    <p:sldId id="337" r:id="rId76"/>
    <p:sldId id="264" r:id="rId77"/>
    <p:sldId id="362" r:id="rId78"/>
    <p:sldId id="398" r:id="rId79"/>
    <p:sldId id="424" r:id="rId80"/>
    <p:sldId id="363" r:id="rId81"/>
    <p:sldId id="365" r:id="rId82"/>
  </p:sldIdLst>
  <p:sldSz cx="12192000" cy="6858000"/>
  <p:notesSz cx="6858000" cy="9144000"/>
  <p:custDataLst>
    <p:tags r:id="rId8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徐小欢" initials="徐小欢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80D0B"/>
    <a:srgbClr val="C21C1C"/>
    <a:srgbClr val="CB1313"/>
    <a:srgbClr val="DB1F1F"/>
    <a:srgbClr val="E12F2F"/>
    <a:srgbClr val="1A1A1B"/>
    <a:srgbClr val="313134"/>
    <a:srgbClr val="181819"/>
    <a:srgbClr val="A50A09"/>
    <a:srgbClr val="DF39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083E6E3-FA7D-4D7B-A595-EF9225AFEA82}" styleName="浅色样式 1 - 强调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61"/>
    <p:restoredTop sz="94270" autoAdjust="0"/>
  </p:normalViewPr>
  <p:slideViewPr>
    <p:cSldViewPr snapToGrid="0">
      <p:cViewPr varScale="1">
        <p:scale>
          <a:sx n="108" d="100"/>
          <a:sy n="108" d="100"/>
        </p:scale>
        <p:origin x="1026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handoutMaster" Target="handoutMasters/handout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ableStyles" Target="tableStyles.xml"/><Relationship Id="rId87" Type="http://schemas.openxmlformats.org/officeDocument/2006/relationships/commentAuthors" Target="commentAuthors.xml"/><Relationship Id="rId88" Type="http://schemas.openxmlformats.org/officeDocument/2006/relationships/tags" Target="tags/tag3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274031977886822"/>
          <c:y val="0.0196258937486984"/>
          <c:w val="0.95713786501325"/>
          <c:h val="0.82434798395924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8000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0.43</c:v>
                </c:pt>
                <c:pt idx="1">
                  <c:v>0.25</c:v>
                </c:pt>
                <c:pt idx="2">
                  <c:v>0.35</c:v>
                </c:pt>
                <c:pt idx="3">
                  <c:v>0.45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rgbClr val="C000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0.24</c:v>
                </c:pt>
                <c:pt idx="1">
                  <c:v>0.44</c:v>
                </c:pt>
                <c:pt idx="2">
                  <c:v>0.18</c:v>
                </c:pt>
                <c:pt idx="3">
                  <c:v>0.28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rgbClr val="F49E8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0.2</c:v>
                </c:pt>
                <c:pt idx="1">
                  <c:v>0.2</c:v>
                </c:pt>
                <c:pt idx="2">
                  <c:v>0.3</c:v>
                </c:pt>
                <c:pt idx="3">
                  <c:v>0.5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8703312"/>
        <c:axId val="488705392"/>
      </c:barChart>
      <c:catAx>
        <c:axId val="4887033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2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pPr>
          </a:p>
        </c:txPr>
        <c:crossAx val="488705392"/>
        <c:crosses val="autoZero"/>
        <c:auto val="1"/>
        <c:lblAlgn val="ctr"/>
        <c:lblOffset val="100"/>
        <c:noMultiLvlLbl val="0"/>
      </c:catAx>
      <c:valAx>
        <c:axId val="4887053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887033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97524541316393"/>
          <c:y val="0.950236072471739"/>
          <c:w val="0.210081748653721"/>
          <c:h val="0.049763927528260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zh-CN" sz="1195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f9cc197-071f-46e1-be8d-3c3f76481305}"/>
      </c:ext>
    </c:extLst>
  </c:chart>
  <c:spPr>
    <a:noFill/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85515893654768"/>
          <c:y val="0.0165807667712095"/>
          <c:w val="0.95713786501325"/>
          <c:h val="0.824347983959247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38100" cap="rnd">
              <a:solidFill>
                <a:srgbClr val="EE1212"/>
              </a:solidFill>
              <a:round/>
            </a:ln>
            <a:effectLst/>
          </c:spPr>
          <c:marker>
            <c:symbol val="circle"/>
            <c:size val="9"/>
            <c:spPr>
              <a:solidFill>
                <a:schemeClr val="bg1"/>
              </a:solidFill>
              <a:ln w="25400">
                <a:solidFill>
                  <a:srgbClr val="EE1212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0.43</c:v>
                </c:pt>
                <c:pt idx="1">
                  <c:v>0.25</c:v>
                </c:pt>
                <c:pt idx="2">
                  <c:v>0.35</c:v>
                </c:pt>
                <c:pt idx="3">
                  <c:v>0.45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50800" cap="rnd">
              <a:solidFill>
                <a:srgbClr val="800000"/>
              </a:solidFill>
              <a:round/>
              <a:tailEnd w="med" len="med"/>
            </a:ln>
            <a:effectLst/>
          </c:spPr>
          <c:marker>
            <c:symbol val="circle"/>
            <c:size val="9"/>
            <c:spPr>
              <a:solidFill>
                <a:schemeClr val="bg1"/>
              </a:solidFill>
              <a:ln w="25400">
                <a:solidFill>
                  <a:srgbClr val="800000"/>
                </a:solidFill>
                <a:headEnd w="med" len="med"/>
              </a:ln>
              <a:effectLst/>
            </c:spPr>
          </c:marker>
          <c:dPt>
            <c:idx val="2"/>
            <c:marker>
              <c:symbol val="circle"/>
              <c:size val="9"/>
              <c:spPr>
                <a:solidFill>
                  <a:schemeClr val="bg1"/>
                </a:solidFill>
                <a:ln w="25400">
                  <a:solidFill>
                    <a:srgbClr val="800000"/>
                  </a:solidFill>
                  <a:headEnd w="med" len="med"/>
                </a:ln>
                <a:effectLst/>
              </c:spPr>
            </c:marker>
            <c:bubble3D val="0"/>
            <c:spPr>
              <a:ln w="38100" cap="rnd">
                <a:solidFill>
                  <a:srgbClr val="800000"/>
                </a:solidFill>
                <a:round/>
                <a:tailEnd w="med" len="med"/>
              </a:ln>
              <a:effectLst/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0.24</c:v>
                </c:pt>
                <c:pt idx="1">
                  <c:v>0.44</c:v>
                </c:pt>
                <c:pt idx="2">
                  <c:v>0.18</c:v>
                </c:pt>
                <c:pt idx="3">
                  <c:v>0.28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38100" cap="rnd" cmpd="sng">
              <a:solidFill>
                <a:srgbClr val="F49E86"/>
              </a:solidFill>
              <a:prstDash val="sysDash"/>
              <a:round/>
            </a:ln>
            <a:effectLst/>
          </c:spPr>
          <c:marker>
            <c:symbol val="circle"/>
            <c:size val="9"/>
            <c:spPr>
              <a:solidFill>
                <a:schemeClr val="bg1"/>
              </a:solidFill>
              <a:ln w="25400">
                <a:solidFill>
                  <a:schemeClr val="accent2">
                    <a:tint val="65000"/>
                  </a:schemeClr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0.2</c:v>
                </c:pt>
                <c:pt idx="1">
                  <c:v>0.2</c:v>
                </c:pt>
                <c:pt idx="2">
                  <c:v>0.3</c:v>
                </c:pt>
                <c:pt idx="3">
                  <c:v>0.5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488703312"/>
        <c:axId val="488705392"/>
      </c:lineChart>
      <c:catAx>
        <c:axId val="4887033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88705392"/>
        <c:crosses val="autoZero"/>
        <c:auto val="1"/>
        <c:lblAlgn val="ctr"/>
        <c:lblOffset val="100"/>
        <c:noMultiLvlLbl val="0"/>
      </c:catAx>
      <c:valAx>
        <c:axId val="4887053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887033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zh-CN" sz="1195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dbaec95-d211-43a2-aae2-9d754da0c099}"/>
      </c:ext>
    </c:extLst>
  </c:chart>
  <c:spPr>
    <a:noFill/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zh-CN" altLang="en-US"/>
              <a:t>网易内部资料，请勿外传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26E12E-97A2-40B7-A362-065E30B989DB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zh-CN" altLang="en-US"/>
              <a:t>网易内部资料，请勿外传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43C561-CBA4-45D6-BD55-1C5FFEC0346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659CD4FC-624D-AB4E-9533-E6A468B0E056}" type="datetimeFigureOut">
              <a:rPr kumimoji="1" lang="zh-CN" altLang="en-US" smtClean="0"/>
            </a:fld>
            <a:endParaRPr kumimoji="1"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zh-CN" altLang="en-US"/>
              <a:t>编辑母版文本样式
第二级
第三级
第四级
第五级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8D024F85-CB1C-7445-9B98-7B8479DF2CF8}" type="slidenum">
              <a:rPr kumimoji="1" lang="zh-CN" altLang="en-US" smtClean="0"/>
            </a:fld>
            <a:endParaRPr kumimoji="1"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slide" Target="../slides/slide76.xml"/><Relationship Id="rId2" Type="http://schemas.openxmlformats.org/officeDocument/2006/relationships/notesMaster" Target="../notesMasters/notesMaster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slide" Target="../slides/slide77.xml"/><Relationship Id="rId2" Type="http://schemas.openxmlformats.org/officeDocument/2006/relationships/notesMaster" Target="../notesMasters/notesMaster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slide" Target="../slides/slide78.xml"/><Relationship Id="rId2" Type="http://schemas.openxmlformats.org/officeDocument/2006/relationships/notesMaster" Target="../notesMasters/notesMaster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slide" Target="../slides/slide7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sz="1990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kumimoji="1" lang="zh-CN" altLang="en-US" smtClean="0"/>
              <a:t>网易内部资料，请勿外传</a:t>
            </a:r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zh-CN" altLang="en-US" smtClean="0"/>
              <a:t>网易内部资料，请勿外传</a:t>
            </a:r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 dirty="0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image5.wdp"/><Relationship Id="rId4" Type="http://schemas.openxmlformats.org/officeDocument/2006/relationships/image" Target="../media/image6.png"/><Relationship Id="rId5" Type="http://schemas.microsoft.com/office/2007/relationships/hdphoto" Target="../media/image7.wdp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2533" y="0"/>
            <a:ext cx="12204533" cy="6858000"/>
          </a:xfrm>
          <a:prstGeom prst="rect">
            <a:avLst/>
          </a:prstGeom>
        </p:spPr>
      </p:pic>
      <p:sp>
        <p:nvSpPr>
          <p:cNvPr id="3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热爱">
    <p:bg>
      <p:bgPr>
        <a:solidFill>
          <a:srgbClr val="A80D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 userDrawn="1"/>
        </p:nvGrpSpPr>
        <p:grpSpPr>
          <a:xfrm>
            <a:off x="169819" y="0"/>
            <a:ext cx="12018615" cy="6858000"/>
            <a:chOff x="63375" y="-155701"/>
            <a:chExt cx="12018615" cy="6858000"/>
          </a:xfrm>
        </p:grpSpPr>
        <p:pic>
          <p:nvPicPr>
            <p:cNvPr id="5" name="图片 4"/>
            <p:cNvPicPr>
              <a:picLocks noChangeAspect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20"/>
            <a:stretch>
              <a:fillRect/>
            </a:stretch>
          </p:blipFill>
          <p:spPr>
            <a:xfrm>
              <a:off x="63375" y="-155701"/>
              <a:ext cx="5800210" cy="6013009"/>
            </a:xfrm>
            <a:prstGeom prst="rect">
              <a:avLst/>
            </a:prstGeom>
          </p:spPr>
        </p:pic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6736" y="876394"/>
              <a:ext cx="5145254" cy="5825905"/>
            </a:xfrm>
            <a:prstGeom prst="rect">
              <a:avLst/>
            </a:prstGeom>
          </p:spPr>
        </p:pic>
      </p:grpSp>
      <p:sp>
        <p:nvSpPr>
          <p:cNvPr id="7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大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8" name="灯片编号占位符 5"/>
          <p:cNvSpPr txBox="1"/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  <p:sp>
        <p:nvSpPr>
          <p:cNvPr id="9" name="文本框 8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背景-黑色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tiff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image" Target="../media/image13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6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7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8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8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9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9.svg"/><Relationship Id="rId3" Type="http://schemas.openxmlformats.org/officeDocument/2006/relationships/tags" Target="../tags/tag17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0.svg"/><Relationship Id="rId3" Type="http://schemas.openxmlformats.org/officeDocument/2006/relationships/tags" Target="../tags/tag18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19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19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tags" Target="../tags/tag22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2.svg"/><Relationship Id="rId3" Type="http://schemas.openxmlformats.org/officeDocument/2006/relationships/tags" Target="../tags/tag23.xml"/><Relationship Id="rId4" Type="http://schemas.openxmlformats.org/officeDocument/2006/relationships/image" Target="../media/image2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4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5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6.svg"/><Relationship Id="rId3" Type="http://schemas.openxmlformats.org/officeDocument/2006/relationships/tags" Target="../tags/tag24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hyperlink" Target="mailto:hzxuejingting@crop.netease.com" TargetMode="External"/><Relationship Id="rId2" Type="http://schemas.openxmlformats.org/officeDocument/2006/relationships/hyperlink" Target="mailto:hzyangwei@corp.netease.com" TargetMode="External"/><Relationship Id="rId3" Type="http://schemas.openxmlformats.org/officeDocument/2006/relationships/image" Target="../media/image13.png"/><Relationship Id="rId4" Type="http://schemas.openxmlformats.org/officeDocument/2006/relationships/image" Target="../media/image27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27.svg"/><Relationship Id="rId3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27.svg"/><Relationship Id="rId3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tiff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tiff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27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tiff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tif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tif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tif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tif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image" Target="../media/image28.tiff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tiff"/><Relationship Id="rId2" Type="http://schemas.openxmlformats.org/officeDocument/2006/relationships/image" Target="../media/image29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30.png"/><Relationship Id="rId3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13.png"/><Relationship Id="rId3" Type="http://schemas.openxmlformats.org/officeDocument/2006/relationships/image" Target="../media/image32.tiff"/><Relationship Id="rId4" Type="http://schemas.openxmlformats.org/officeDocument/2006/relationships/slideLayout" Target="../slideLayouts/slideLayout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tif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image" Target="../media/image33.jpeg"/><Relationship Id="rId3" Type="http://schemas.openxmlformats.org/officeDocument/2006/relationships/image" Target="../media/image10.tiff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tif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tiff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4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34.png"/><Relationship Id="rId3" Type="http://schemas.openxmlformats.org/officeDocument/2006/relationships/slideLayout" Target="../slideLayouts/slideLayout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sv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4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svg"/><Relationship Id="rId3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image" Target="../media/image33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tags" Target="../tags/tag30.xml"/><Relationship Id="rId6" Type="http://schemas.openxmlformats.org/officeDocument/2006/relationships/tags" Target="../tags/tag31.xml"/><Relationship Id="rId7" Type="http://schemas.openxmlformats.org/officeDocument/2006/relationships/tags" Target="../tags/tag32.xml"/><Relationship Id="rId8" Type="http://schemas.openxmlformats.org/officeDocument/2006/relationships/tags" Target="../tags/tag33.xml"/><Relationship Id="rId9" Type="http://schemas.openxmlformats.org/officeDocument/2006/relationships/tags" Target="../tags/tag34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38.png"/><Relationship Id="rId3" Type="http://schemas.openxmlformats.org/officeDocument/2006/relationships/image" Target="../media/image36.svg"/><Relationship Id="rId4" Type="http://schemas.openxmlformats.org/officeDocument/2006/relationships/image" Target="../media/image39.png"/><Relationship Id="rId5" Type="http://schemas.openxmlformats.org/officeDocument/2006/relationships/image" Target="../media/image40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image" Target="../media/image4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80D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直线连接符 10"/>
          <p:cNvCxnSpPr/>
          <p:nvPr/>
        </p:nvCxnSpPr>
        <p:spPr>
          <a:xfrm>
            <a:off x="1608060" y="4363295"/>
            <a:ext cx="0" cy="413100"/>
          </a:xfrm>
          <a:prstGeom prst="line">
            <a:avLst/>
          </a:prstGeom>
          <a:ln w="0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/>
        </p:nvGrpSpPr>
        <p:grpSpPr>
          <a:xfrm>
            <a:off x="1582645" y="2194103"/>
            <a:ext cx="1377981" cy="393832"/>
            <a:chOff x="1870051" y="-461450"/>
            <a:chExt cx="1377981" cy="393832"/>
          </a:xfrm>
        </p:grpSpPr>
        <p:sp>
          <p:nvSpPr>
            <p:cNvPr id="15" name="对角圆角矩形 14"/>
            <p:cNvSpPr/>
            <p:nvPr/>
          </p:nvSpPr>
          <p:spPr>
            <a:xfrm>
              <a:off x="1870051" y="-461450"/>
              <a:ext cx="1377981" cy="393832"/>
            </a:xfrm>
            <a:prstGeom prst="round2DiagRect">
              <a:avLst>
                <a:gd name="adj1" fmla="val 4901"/>
                <a:gd name="adj2" fmla="val 4289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928491" y="-461450"/>
              <a:ext cx="1319541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1900" spc="300" dirty="0">
                  <a:solidFill>
                    <a:srgbClr val="A30B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规范模版</a:t>
              </a:r>
              <a:endParaRPr kumimoji="1" lang="zh-CN" altLang="en-US" sz="1900" spc="300" dirty="0">
                <a:solidFill>
                  <a:srgbClr val="A30B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700" cy="127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8368" y="1463040"/>
            <a:ext cx="10241280" cy="85953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lnSpc>
                <a:spcPct val="115000"/>
              </a:lnSpc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AI 配表助手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2487168"/>
            <a:ext cx="9235440" cy="1005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lnSpc>
                <a:spcPct val="115000"/>
              </a:lnSpc>
              <a:defRPr sz="2000" b="0">
                <a:solidFill>
                  <a:srgbClr val="FFFFFF"/>
                </a:solidFill>
                <a:latin typeface="Microsoft YaHei"/>
              </a:defRPr>
            </a:pPr>
            <a:r>
              <a:t>自然语言驱动配表 + Excel 三方合并 Merge</a:t>
            </a:r>
          </a:p>
          <a:p>
            <a:pPr algn="ctr">
              <a:lnSpc>
                <a:spcPct val="115000"/>
              </a:lnSpc>
              <a:defRPr sz="2000" b="0">
                <a:solidFill>
                  <a:srgbClr val="FFFFFF"/>
                </a:solidFill>
                <a:latin typeface="Microsoft YaHei"/>
              </a:defRPr>
            </a:pPr>
            <a:r>
              <a:t>吴植贤｜2026 年 9 月 4 日｜Beta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/>
          <p:cNvGrpSpPr/>
          <p:nvPr>
            <p:custDataLst>
              <p:tags r:id="rId1"/>
            </p:custDataLst>
          </p:nvPr>
        </p:nvGrpSpPr>
        <p:grpSpPr>
          <a:xfrm>
            <a:off x="787620" y="2029437"/>
            <a:ext cx="1957218" cy="2326895"/>
            <a:chOff x="2372291" y="6696934"/>
            <a:chExt cx="1957218" cy="2179449"/>
          </a:xfrm>
        </p:grpSpPr>
        <p:sp>
          <p:nvSpPr>
            <p:cNvPr id="59" name="文本框 58"/>
            <p:cNvSpPr txBox="1"/>
            <p:nvPr>
              <p:custDataLst>
                <p:tags r:id="rId2"/>
              </p:custDataLst>
            </p:nvPr>
          </p:nvSpPr>
          <p:spPr>
            <a:xfrm>
              <a:off x="2695207" y="6696934"/>
              <a:ext cx="1287967" cy="11242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7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kumimoji="1" lang="zh-CN" altLang="en-US" sz="7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6" name="文本框 65"/>
            <p:cNvSpPr txBox="1"/>
            <p:nvPr>
              <p:custDataLst>
                <p:tags r:id="rId3"/>
              </p:custDataLst>
            </p:nvPr>
          </p:nvSpPr>
          <p:spPr>
            <a:xfrm>
              <a:off x="2544134" y="7941893"/>
              <a:ext cx="1590114" cy="4026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业务背景</a:t>
              </a:r>
              <a:endParaRPr kumimoji="1" lang="zh-CN" altLang="en-US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文本框 66"/>
            <p:cNvSpPr txBox="1"/>
            <p:nvPr>
              <p:custDataLst>
                <p:tags r:id="rId4"/>
              </p:custDataLst>
            </p:nvPr>
          </p:nvSpPr>
          <p:spPr>
            <a:xfrm>
              <a:off x="2372291" y="8324157"/>
              <a:ext cx="1957218" cy="5522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kumimoji="1" lang="zh-CN" altLang="en-US" sz="1200" dirty="0">
                  <a:latin typeface="+mj-ea"/>
                  <a:ea typeface="+mj-ea"/>
                </a:rPr>
                <a:t>具体事项简述内容分类项目关系具体事项简述内容</a:t>
              </a:r>
              <a:endParaRPr kumimoji="1" lang="zh-CN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19" name="组合 18"/>
          <p:cNvGrpSpPr/>
          <p:nvPr>
            <p:custDataLst>
              <p:tags r:id="rId5"/>
            </p:custDataLst>
          </p:nvPr>
        </p:nvGrpSpPr>
        <p:grpSpPr>
          <a:xfrm>
            <a:off x="3452372" y="2029437"/>
            <a:ext cx="2399665" cy="2348485"/>
            <a:chOff x="2186871" y="6696934"/>
            <a:chExt cx="2399665" cy="2199671"/>
          </a:xfrm>
        </p:grpSpPr>
        <p:sp>
          <p:nvSpPr>
            <p:cNvPr id="20" name="文本框 19"/>
            <p:cNvSpPr txBox="1"/>
            <p:nvPr>
              <p:custDataLst>
                <p:tags r:id="rId6"/>
              </p:custDataLst>
            </p:nvPr>
          </p:nvSpPr>
          <p:spPr>
            <a:xfrm>
              <a:off x="2695207" y="6696934"/>
              <a:ext cx="1287967" cy="11242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7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endParaRPr kumimoji="1" lang="zh-CN" altLang="en-US" sz="7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文本框 20"/>
            <p:cNvSpPr txBox="1"/>
            <p:nvPr>
              <p:custDataLst>
                <p:tags r:id="rId7"/>
              </p:custDataLst>
            </p:nvPr>
          </p:nvSpPr>
          <p:spPr>
            <a:xfrm>
              <a:off x="2186871" y="7942962"/>
              <a:ext cx="2399665" cy="4026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实现方案</a:t>
              </a:r>
              <a:endParaRPr kumimoji="1" lang="zh-CN" altLang="en-US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文本框 21"/>
            <p:cNvSpPr txBox="1"/>
            <p:nvPr>
              <p:custDataLst>
                <p:tags r:id="rId8"/>
              </p:custDataLst>
            </p:nvPr>
          </p:nvSpPr>
          <p:spPr>
            <a:xfrm>
              <a:off x="2458016" y="8344379"/>
              <a:ext cx="1957218" cy="5522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kumimoji="1" lang="zh-CN" altLang="en-US" sz="1200" dirty="0">
                  <a:latin typeface="+mj-ea"/>
                  <a:ea typeface="+mj-ea"/>
                </a:rPr>
                <a:t>具体事项简述内容分类项目关系具体事项简述内容</a:t>
              </a:r>
              <a:endParaRPr kumimoji="1" lang="zh-CN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23" name="组合 22"/>
          <p:cNvGrpSpPr/>
          <p:nvPr>
            <p:custDataLst>
              <p:tags r:id="rId9"/>
            </p:custDataLst>
          </p:nvPr>
        </p:nvGrpSpPr>
        <p:grpSpPr>
          <a:xfrm>
            <a:off x="6487964" y="2029437"/>
            <a:ext cx="1999615" cy="2774315"/>
            <a:chOff x="2372291" y="6696934"/>
            <a:chExt cx="1999615" cy="2598518"/>
          </a:xfrm>
        </p:grpSpPr>
        <p:sp>
          <p:nvSpPr>
            <p:cNvPr id="25" name="文本框 24"/>
            <p:cNvSpPr txBox="1"/>
            <p:nvPr>
              <p:custDataLst>
                <p:tags r:id="rId10"/>
              </p:custDataLst>
            </p:nvPr>
          </p:nvSpPr>
          <p:spPr>
            <a:xfrm>
              <a:off x="2695207" y="6696934"/>
              <a:ext cx="1287967" cy="11242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7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  <a:endParaRPr kumimoji="1" lang="zh-CN" altLang="en-US" sz="7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文本框 25"/>
            <p:cNvSpPr txBox="1"/>
            <p:nvPr>
              <p:custDataLst>
                <p:tags r:id="rId11"/>
              </p:custDataLst>
            </p:nvPr>
          </p:nvSpPr>
          <p:spPr>
            <a:xfrm>
              <a:off x="2372291" y="7941772"/>
              <a:ext cx="1999615" cy="13536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成果数据</a:t>
              </a:r>
              <a:r>
                <a:rPr kumimoji="1" lang="en-US" altLang="zh-CN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			</a:t>
              </a:r>
              <a:endParaRPr kumimoji="1" lang="en-US" altLang="zh-CN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文本框 26"/>
            <p:cNvSpPr txBox="1"/>
            <p:nvPr>
              <p:custDataLst>
                <p:tags r:id="rId12"/>
              </p:custDataLst>
            </p:nvPr>
          </p:nvSpPr>
          <p:spPr>
            <a:xfrm>
              <a:off x="2372291" y="8324157"/>
              <a:ext cx="1957218" cy="5522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kumimoji="1" lang="zh-CN" altLang="en-US" sz="1200" dirty="0">
                  <a:latin typeface="+mj-ea"/>
                  <a:ea typeface="+mj-ea"/>
                </a:rPr>
                <a:t>具体事项简述内容分类项目关系具体事项简述内容</a:t>
              </a:r>
              <a:endParaRPr kumimoji="1" lang="zh-CN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28" name="组合 27"/>
          <p:cNvGrpSpPr/>
          <p:nvPr>
            <p:custDataLst>
              <p:tags r:id="rId13"/>
            </p:custDataLst>
          </p:nvPr>
        </p:nvGrpSpPr>
        <p:grpSpPr>
          <a:xfrm>
            <a:off x="9338136" y="2029437"/>
            <a:ext cx="1957218" cy="2326895"/>
            <a:chOff x="2372291" y="6696934"/>
            <a:chExt cx="1957218" cy="2179449"/>
          </a:xfrm>
        </p:grpSpPr>
        <p:sp>
          <p:nvSpPr>
            <p:cNvPr id="29" name="文本框 28"/>
            <p:cNvSpPr txBox="1"/>
            <p:nvPr>
              <p:custDataLst>
                <p:tags r:id="rId14"/>
              </p:custDataLst>
            </p:nvPr>
          </p:nvSpPr>
          <p:spPr>
            <a:xfrm>
              <a:off x="2695207" y="6696934"/>
              <a:ext cx="1287967" cy="11242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7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  <a:endParaRPr kumimoji="1" lang="zh-CN" altLang="en-US" sz="7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/>
            <p:cNvSpPr txBox="1"/>
            <p:nvPr>
              <p:custDataLst>
                <p:tags r:id="rId15"/>
              </p:custDataLst>
            </p:nvPr>
          </p:nvSpPr>
          <p:spPr>
            <a:xfrm>
              <a:off x="2544134" y="7941893"/>
              <a:ext cx="1590114" cy="4026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总结</a:t>
              </a:r>
              <a:r>
                <a:rPr kumimoji="1" lang="en-US" altLang="zh-CN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Demo</a:t>
              </a:r>
              <a:endParaRPr kumimoji="1" lang="en-US" altLang="zh-CN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文本框 30"/>
            <p:cNvSpPr txBox="1"/>
            <p:nvPr>
              <p:custDataLst>
                <p:tags r:id="rId16"/>
              </p:custDataLst>
            </p:nvPr>
          </p:nvSpPr>
          <p:spPr>
            <a:xfrm>
              <a:off x="2372291" y="8324157"/>
              <a:ext cx="1957218" cy="5522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kumimoji="1" lang="zh-CN" altLang="en-US" sz="1200" dirty="0">
                  <a:latin typeface="+mj-ea"/>
                  <a:ea typeface="+mj-ea"/>
                </a:rPr>
                <a:t>具体事项简述内容分类项目关系具体事项简述内容</a:t>
              </a:r>
              <a:endParaRPr kumimoji="1" lang="zh-CN" altLang="en-US" sz="1200" dirty="0">
                <a:latin typeface="+mj-ea"/>
                <a:ea typeface="+mj-ea"/>
              </a:endParaRPr>
            </a:p>
          </p:txBody>
        </p:sp>
      </p:grpSp>
      <p:pic>
        <p:nvPicPr>
          <p:cNvPr id="18" name="图形 1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目录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234440" y="1325880"/>
            <a:ext cx="9418320" cy="4251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28000"/>
              </a:lnSpc>
              <a:defRPr sz="2200" b="0">
                <a:solidFill>
                  <a:srgbClr val="262626"/>
                </a:solidFill>
                <a:latin typeface="Microsoft YaHei"/>
              </a:defRPr>
            </a:pPr>
            <a:r>
              <a:t>01 业务背景与任务目标</a:t>
            </a:r>
          </a:p>
          <a:p>
            <a:pPr>
              <a:lnSpc>
                <a:spcPct val="128000"/>
              </a:lnSpc>
              <a:defRPr sz="2200" b="0">
                <a:solidFill>
                  <a:srgbClr val="262626"/>
                </a:solidFill>
                <a:latin typeface="Microsoft YaHei"/>
              </a:defRPr>
            </a:pPr>
            <a:r>
              <a:t>02 Excel-Agent：4-Step 多 Agent 配表流水线</a:t>
            </a:r>
          </a:p>
          <a:p>
            <a:pPr>
              <a:lnSpc>
                <a:spcPct val="128000"/>
              </a:lnSpc>
              <a:defRPr sz="2200" b="0">
                <a:solidFill>
                  <a:srgbClr val="262626"/>
                </a:solidFill>
                <a:latin typeface="Microsoft YaHei"/>
              </a:defRPr>
            </a:pPr>
            <a:r>
              <a:t>03 Merge：面向 SVN 目录分支的三方合并</a:t>
            </a:r>
          </a:p>
          <a:p>
            <a:pPr>
              <a:lnSpc>
                <a:spcPct val="128000"/>
              </a:lnSpc>
              <a:defRPr sz="2200" b="0">
                <a:solidFill>
                  <a:srgbClr val="262626"/>
                </a:solidFill>
                <a:latin typeface="Microsoft YaHei"/>
              </a:defRPr>
            </a:pPr>
            <a:r>
              <a:t>04 工程质量：校验、公式保护、性能与回归</a:t>
            </a:r>
          </a:p>
          <a:p>
            <a:pPr>
              <a:lnSpc>
                <a:spcPct val="128000"/>
              </a:lnSpc>
              <a:defRPr sz="2200" b="0">
                <a:solidFill>
                  <a:srgbClr val="262626"/>
                </a:solidFill>
                <a:latin typeface="Microsoft YaHei"/>
              </a:defRPr>
            </a:pPr>
            <a:r>
              <a:t>05 总结与后续优化方向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2240280"/>
            <a:ext cx="9966960" cy="80467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lnSpc>
                <a:spcPct val="115000"/>
              </a:lnSpc>
              <a:defRPr sz="3600" b="1">
                <a:solidFill>
                  <a:srgbClr val="C00000"/>
                </a:solidFill>
                <a:latin typeface="Microsoft YaHei"/>
              </a:defRPr>
            </a:pPr>
            <a:r>
              <a:t>一、业务背景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3127248"/>
            <a:ext cx="914400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lnSpc>
                <a:spcPct val="115000"/>
              </a:lnSpc>
              <a:defRPr sz="2000" b="0">
                <a:solidFill>
                  <a:srgbClr val="696969"/>
                </a:solidFill>
                <a:latin typeface="Microsoft YaHei"/>
              </a:defRPr>
            </a:pPr>
            <a:r>
              <a:t>复杂 Excel 配表不是单表编辑问题，而是跨表、跨目录、跨版本的一致性工程。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4" name="表格 2"/>
          <p:cNvGraphicFramePr>
            <a:graphicFrameLocks noGrp="1"/>
          </p:cNvGraphicFramePr>
          <p:nvPr/>
        </p:nvGraphicFramePr>
        <p:xfrm>
          <a:off x="960120" y="2162810"/>
          <a:ext cx="9351645" cy="424053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133475"/>
                <a:gridCol w="4580890"/>
                <a:gridCol w="36372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存在问题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后果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215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Merge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过程出现漏行丢数据情况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数据会静默消失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279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跨分支编号冲突，多分支创作过程新建同一编号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后提交的进行了覆盖导致线上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bug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21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公式缓存丢失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编表会出现输出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0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或者空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  <a:tr h="73279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改表慢、易错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效率低、易漏外键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AI 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误写不可逆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写坏数据找不回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业务背景：真实配表的复杂性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CA 配表规模大：表多、字段多、跨表引用密集，人工维护成本高。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当前生产仍依赖 SVN 外链和目录隔离，缺少真正的 Git 分支语义。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策划表达通常是自然语言：新增活动、绑定奖励、配置技能、调整数值。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难点不只是“写单元格”，而是先理解目标表、字段、外键、枚举和依赖顺序。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任务目标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Excel-Agent：让策划用自然语言完成多表配表，输出可校验、可执行、可追踪的结构化意图。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Merge：在目录分支模式下完成 Excel 三方合并，保护公式、ID 引用和冲突可解释性。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共同目标：把模型理解、规则校验、确定性写盘和工程回归串成可落地闭环。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2240280"/>
            <a:ext cx="9966960" cy="80467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lnSpc>
                <a:spcPct val="115000"/>
              </a:lnSpc>
              <a:defRPr sz="3600" b="1">
                <a:solidFill>
                  <a:srgbClr val="C00000"/>
                </a:solidFill>
                <a:latin typeface="Microsoft YaHei"/>
              </a:defRPr>
            </a:pPr>
            <a:r>
              <a:t>二、实现方案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3127248"/>
            <a:ext cx="914400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lnSpc>
                <a:spcPct val="115000"/>
              </a:lnSpc>
              <a:defRPr sz="2000" b="0">
                <a:solidFill>
                  <a:srgbClr val="696969"/>
                </a:solidFill>
                <a:latin typeface="Microsoft YaHei"/>
              </a:defRPr>
            </a:pPr>
            <a:r>
              <a:t>核心思路：模型负责理解，规则负责约束，执行层保持确定性。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Excel-Agent 总体定位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Excel-Agent 面向“策划口吻”的复杂输入，不要求用户先知道表名和字段名。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系统先定位候选表，再让 LLM 在真实 schema 下拆解 JSON，随后由规则层做质量门禁。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最终目标是让 Step1 的 JSON 足够干净，因为后续 Step2/Step3/Step4 都依赖它。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Excel-Agent 架构总览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LangGraph 编排 TableAgent 4-Step：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1. Step1 解析：ParseAgent / LocatorAgent / DecomposeAgent 输出结构化 intents。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2. Step2 校验：字段、类型、枚举、外键、占位符和依赖关系校验。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3. Step3 执行：按依赖排序确定性写盘，分配 ID 并回填引用。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4. Step4 汇总：归纳变更、错误、用户修正与可沉淀经验。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Step1：全链路的核心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Step1 的职责不是“把一句话变 JSON”这么简单，而是把自然语言转成可执行计划。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关键动作：分段、候选表定位、真实 schema 注入、LLM 拆解、语义计划编译、后处理修复。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当前优化重点：降低幻觉表、字段串表、重复影子行、自产自消依赖和 FK 错指向。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LocatorAgent：先定位，再让模型拆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规则通道：表名、中文表头、别名、字段关键词直接命中。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检索通道：RAG 找相近表，覆盖用户没有说准表名的情况。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关系扩展：通过 FK 一跳扩展相关表，避免只命中主表漏掉绑定表。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目标归一：把 CombatData 等 sheet 名规范化到 canonical table key。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RAG 定位召回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问题：用户说的是“神通、心法、活动奖励”，真实表可能叫 SchoolAbilityLevel / ActivityReward。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做法：用资源表结构和说明文本构建候选池，让模型只在候选 schema 中选择。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作用：减少全库 schema 带来的超时，也减少 LLM 在陌生表名上的自由发挥。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DecomposeAgent：看真实表结构拆 JSON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DecomposeAgent 的输入包含候选表 row1/row2、多级表头、字段类型、外键关系和填表规则。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输出必须是 add/update/delete intents，而不是自然语言摘要。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优化方向：让 few-shot 展示正确 ID/占位符模式，禁止模型伪造 &lt;resolved_from_xxx&gt;，并在超时时降级逐表重拆。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Step1 质量门禁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ParseAgent 在 LLM 输出后继续做 schema-aware 编译：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删除孤立空壳 add 和同 sheet 稀疏影子重复。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修复字段不在 schema、sheet/name 混用、目标表大小写差异。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检查 produces/consumes：悬空 placeholder、自产自消、依赖环、FK 目标错表。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对中文名 FK 尝试从已存在资源或本批次新行中解析为真实 ID/占位符。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produces / consumes：跨表依赖闭环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新增多表链路时，后续表常常依赖前面新建行的 ID。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produces 表示“本 intent 会生成的占位符”，consumes 表示“本 intent 要消费的占位符”。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这不是额外复杂度，而是 Step3 能否排序、分配 ID、回填外键的关键契约。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Step2：写盘前校验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Step2 是执行前的硬门禁：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字段是否存在，中文表头是否能映射到真实列。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值类型是否可转换，枚举值是否合法。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FK 是否指向正确表和正确主键，placeholder 是否有 producer。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Step1 质量报告如果有 hard error，阻断写盘并生成可交互修正。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Step2 交互修正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当前已有列名批量修正卡片，下一步应升级为“全字段可编辑表格”。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用户可以改列名、改值、删除字段或删除整条 intent，然后 POST /api/agent/reply 续跑。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后端应把用户编辑回写到原 intent，再重新跑 Step2，而不是只绕过错误。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Step3：确定性执行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Step3 不再调用模型，只做可解释写盘：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按 consumes/produces 拓扑排序。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为新增行分配主键 ID，并替换后续 placeholder。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对写盘失败做结构化归因：缺字段、PK 冲突、类型错误、FK 悬空。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保证失败时尽量停在可恢复边界，避免半写入污染。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Step4：总结与学习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Step4 不只是“告诉用户成功/失败”。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它应该汇总新增/修改/删除、用户修正、硬错误原因和系统自动修复动作。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可沉淀内容包括：字段别名、常见反模式、表定位误召回、FK 名称解析经验，后续进入 rules / examples / retrieval。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形 1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pSp>
        <p:nvGrpSpPr>
          <p:cNvPr id="25" name="组合 24"/>
          <p:cNvGrpSpPr/>
          <p:nvPr/>
        </p:nvGrpSpPr>
        <p:grpSpPr>
          <a:xfrm>
            <a:off x="986900" y="1262435"/>
            <a:ext cx="2722227" cy="398780"/>
            <a:chOff x="3462868" y="3718731"/>
            <a:chExt cx="2722227" cy="398780"/>
          </a:xfrm>
        </p:grpSpPr>
        <p:sp>
          <p:nvSpPr>
            <p:cNvPr id="26" name="文本框 25"/>
            <p:cNvSpPr txBox="1"/>
            <p:nvPr/>
          </p:nvSpPr>
          <p:spPr>
            <a:xfrm>
              <a:off x="3462868" y="3718731"/>
              <a:ext cx="2722227" cy="3987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三方合并</a:t>
              </a:r>
              <a:r>
                <a:rPr kumimoji="1" lang="zh-CN" altLang="en-US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模型</a:t>
              </a:r>
              <a:endParaRPr kumimoji="1"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8" name="直线连接符 101"/>
            <p:cNvCxnSpPr/>
            <p:nvPr/>
          </p:nvCxnSpPr>
          <p:spPr>
            <a:xfrm>
              <a:off x="3555678" y="4111329"/>
              <a:ext cx="533375" cy="0"/>
            </a:xfrm>
            <a:prstGeom prst="line">
              <a:avLst/>
            </a:prstGeom>
            <a:ln w="25400">
              <a:solidFill>
                <a:srgbClr val="A50A0D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" name="直线连接符 5"/>
          <p:cNvCxnSpPr/>
          <p:nvPr/>
        </p:nvCxnSpPr>
        <p:spPr>
          <a:xfrm>
            <a:off x="514179" y="1062608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9" name="表格 2"/>
          <p:cNvGraphicFramePr>
            <a:graphicFrameLocks noGrp="1"/>
          </p:cNvGraphicFramePr>
          <p:nvPr/>
        </p:nvGraphicFramePr>
        <p:xfrm>
          <a:off x="608965" y="3770630"/>
          <a:ext cx="4398010" cy="243395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103630"/>
                <a:gridCol w="1672590"/>
                <a:gridCol w="1621790"/>
              </a:tblGrid>
              <a:tr h="528955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Merge</a:t>
                      </a:r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模式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 hMerge="1"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过程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640080">
                <a:tc rowSpan="2"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跨分支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合并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合并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通过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From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分支与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To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分支比对合并到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To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32460">
                <a:tc vMerge="1"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合并回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分支合回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，内容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集成在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32460">
                <a:tc gridSpan="2"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目录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合并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将子目录的生产内容合并回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pSp>
        <p:nvGrpSpPr>
          <p:cNvPr id="10" name="组合 9"/>
          <p:cNvGrpSpPr/>
          <p:nvPr/>
        </p:nvGrpSpPr>
        <p:grpSpPr>
          <a:xfrm>
            <a:off x="6007845" y="1262435"/>
            <a:ext cx="2722227" cy="398780"/>
            <a:chOff x="3462868" y="3718731"/>
            <a:chExt cx="2722227" cy="398780"/>
          </a:xfrm>
        </p:grpSpPr>
        <p:sp>
          <p:nvSpPr>
            <p:cNvPr id="11" name="文本框 10"/>
            <p:cNvSpPr txBox="1"/>
            <p:nvPr/>
          </p:nvSpPr>
          <p:spPr>
            <a:xfrm>
              <a:off x="3462868" y="3718731"/>
              <a:ext cx="2722227" cy="3987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Merge</a:t>
              </a:r>
              <a:r>
                <a:rPr kumimoji="1" lang="zh-CN" altLang="en-US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总体框架</a:t>
              </a:r>
              <a:r>
                <a:rPr kumimoji="1" lang="zh-CN" altLang="en-US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流程</a:t>
              </a:r>
              <a:endParaRPr kumimoji="1"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2" name="直线连接符 101"/>
            <p:cNvCxnSpPr/>
            <p:nvPr/>
          </p:nvCxnSpPr>
          <p:spPr>
            <a:xfrm>
              <a:off x="3555678" y="4111329"/>
              <a:ext cx="533375" cy="0"/>
            </a:xfrm>
            <a:prstGeom prst="line">
              <a:avLst/>
            </a:prstGeom>
            <a:ln w="25400">
              <a:solidFill>
                <a:srgbClr val="A50A0D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直接箭头连接符 15"/>
          <p:cNvCxnSpPr>
            <a:stCxn id="13" idx="2"/>
            <a:endCxn id="3" idx="0"/>
          </p:cNvCxnSpPr>
          <p:nvPr/>
        </p:nvCxnSpPr>
        <p:spPr>
          <a:xfrm flipH="1">
            <a:off x="1727835" y="2129790"/>
            <a:ext cx="920115" cy="35623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直接箭头连接符 16"/>
          <p:cNvCxnSpPr>
            <a:stCxn id="13" idx="2"/>
            <a:endCxn id="4" idx="0"/>
          </p:cNvCxnSpPr>
          <p:nvPr/>
        </p:nvCxnSpPr>
        <p:spPr>
          <a:xfrm>
            <a:off x="2647950" y="2129790"/>
            <a:ext cx="941070" cy="34671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直接箭头连接符 17"/>
          <p:cNvCxnSpPr>
            <a:stCxn id="3" idx="2"/>
            <a:endCxn id="7" idx="0"/>
          </p:cNvCxnSpPr>
          <p:nvPr/>
        </p:nvCxnSpPr>
        <p:spPr>
          <a:xfrm>
            <a:off x="1727835" y="2878455"/>
            <a:ext cx="983615" cy="2641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直接箭头连接符 18"/>
          <p:cNvCxnSpPr>
            <a:stCxn id="4" idx="2"/>
            <a:endCxn id="7" idx="0"/>
          </p:cNvCxnSpPr>
          <p:nvPr/>
        </p:nvCxnSpPr>
        <p:spPr>
          <a:xfrm flipH="1">
            <a:off x="2711450" y="2868930"/>
            <a:ext cx="877570" cy="27368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49808" y="2240280"/>
            <a:ext cx="9966960" cy="80467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lnSpc>
                <a:spcPct val="115000"/>
              </a:lnSpc>
              <a:defRPr sz="3600" b="1">
                <a:solidFill>
                  <a:srgbClr val="C00000"/>
                </a:solidFill>
                <a:latin typeface="Microsoft YaHei"/>
              </a:defRPr>
            </a:pPr>
            <a:r>
              <a:t>三、Merge 合并方案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34440" y="3127248"/>
            <a:ext cx="914400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lnSpc>
                <a:spcPct val="115000"/>
              </a:lnSpc>
              <a:defRPr sz="2000" b="0">
                <a:solidFill>
                  <a:srgbClr val="696969"/>
                </a:solidFill>
                <a:latin typeface="Microsoft YaHei"/>
              </a:defRPr>
            </a:pPr>
            <a:r>
              <a:t>Merge 解决的是另一类高频痛点：多人、多目录、SVN 环境下的 Excel 稳定合并。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Merge 总体流程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1. 选择 From / To / Base 三个目录。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2. 通过 SVN copyfrom / log 定位 merge-base。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3. 提取 Excel 数据、表头、公式、样式和文件元信息。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4. 比较变更并识别冲突。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5. ID 重映射与引用更新。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6. AI 辅助冲突建议。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7. LibreOffice 重算、公式保护、安全写回。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59" name="表格 2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887095" y="2978785"/>
          <a:ext cx="4479290" cy="1543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014095"/>
                <a:gridCol w="1859280"/>
                <a:gridCol w="1605915"/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情况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copyfrom-</a:t>
                      </a:r>
                      <a:r>
                        <a:rPr lang="en-US" altLang="zh-CN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path</a:t>
                      </a:r>
                      <a:endParaRPr lang="en-US" altLang="zh-CN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标记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55308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正常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切分支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trunk@r1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inferred=false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530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新建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路径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本身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inferred=true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2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05" y="3050540"/>
            <a:ext cx="6392545" cy="184785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模拟生产环境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SVN demo 目录模拟真实项目结构：trunk、branches、external-like 配表目录。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重点不是复制 Git 分支，而是在 SVN 的历史信息里还原“共同祖先”。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这样 Merge 才能判断谁改了什么，而不是简单覆盖文件。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59" name="表格 2"/>
          <p:cNvGraphicFramePr>
            <a:graphicFrameLocks noGrp="1"/>
          </p:cNvGraphicFramePr>
          <p:nvPr/>
        </p:nvGraphicFramePr>
        <p:xfrm>
          <a:off x="514350" y="2126615"/>
          <a:ext cx="10118090" cy="382016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501140"/>
                <a:gridCol w="3488690"/>
                <a:gridCol w="2045970"/>
                <a:gridCol w="3082290"/>
              </a:tblGrid>
              <a:tr h="52133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版本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方法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解决</a:t>
                      </a:r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问题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性能</a:t>
                      </a:r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提升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6597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三重循环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——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10w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行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*100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列会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卡死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97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根据哈希建立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row_idx_maps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O(n)线性扫描卡死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哈希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定位实现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O(n)-&gt;O(1)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97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使用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sparse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稀疏化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全表建立哈希内存过大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内存从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级别降至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MB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级别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  <a:tr h="6597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numpy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向量化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逐单元格p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y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thon函数调用需要单一化，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消耗高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纯数据大表提升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10-50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倍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9765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公式、批注在sheet回退逐单元格循环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解决公式、批注向量化出错的问题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保证性能同时保证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正确性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0" name="Rectangle 59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SVN merge-base 定位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Git 可以直接 merge-base，SVN 需要从 copyfrom path/revision、log 历史和目录关系中推断。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系统优先使用 copyfrom 元数据，缺失时回退到路径和修订号扫描。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目标是为三方比较提供可信 Base。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Compare 全流程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比较过程分为四层：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文件层：新增、删除、重命名、移动。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Sheet 层：新增 sheet、删除 sheet、表头变化。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行列层：主键匹配、行新增删除、字段变更。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- 语义层：公式、外键引用、ID 冲突和可合并性判断。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性能优化：稀疏化与向量化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大表不能逐单元格 Python 循环。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系统把变更表示为 sparse diff，只处理真正变化的行列区域。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数值和字符串比较尽量向量化，减少 Python 层循环。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实测 10w 级行表比较可从分钟级降到秒级。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ID 重映射与引用完整性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多分支同时新增行时，主键可能冲突。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Merge 会识别同主键不同来源新增，并生成稳定 remap。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随后同步更新引用列，避免只改主表 ID 却留下悬空外键。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这一层和 Excel-Agent 的 placeholder 思路一致：先建立依赖契约，再执行替换。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公式缓存保护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Excel 文件内部公式和缓存值分离，直接写盘容易造成缓存丢失或公式失效。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系统通过 zip 结构扫描 &lt;f&gt; 公式节点，定位 changed / lost 公式。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快路径把常见扫描从约 6.1s 降到约 0.05s，减少大文件处理开销。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2" name="表格 1"/>
          <p:cNvGraphicFramePr/>
          <p:nvPr/>
        </p:nvGraphicFramePr>
        <p:xfrm>
          <a:off x="2112645" y="2660015"/>
          <a:ext cx="477901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5225"/>
                <a:gridCol w="234378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因子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作用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SVN rev/SVN date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版本越新倾向于采纳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列名语义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判断值是否合理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单元格值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判断值是否异常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基准值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提供</a:t>
                      </a:r>
                      <a:r>
                        <a:rPr lang="en-US" altLang="zh-CN" sz="1400"/>
                        <a:t>base</a:t>
                      </a:r>
                      <a:r>
                        <a:rPr lang="zh-CN" altLang="en-US" sz="1400"/>
                        <a:t>值供参考</a:t>
                      </a:r>
                      <a:endParaRPr lang="zh-CN" altLang="en-US" sz="14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LibreOffice 重算与安全写回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写回后用 LibreOffice headless 做公式重算和格式保持验证。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处理文件锁、临时输出、失败回滚和超时控制。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fast_apply 在无复杂公式/样式风险时走快路径，复杂表则走保守写回。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AI 辅助冲突处理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AI 只提供冲突建议，不直接覆盖确定性规则。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输入包括三方 diff、字段含义、历史修改和冲突类型。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输出建议保留来源、理由和置信度，最终由用户确认。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置信度结合规则一致性、字段风险、冲突复杂度和模型解释质量。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59" name="表格 2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514350" y="2068830"/>
          <a:ext cx="10299065" cy="395224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4553585"/>
                <a:gridCol w="574548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</a:t>
                      </a:r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项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受益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calamine Rust 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读引擎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222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次打开表格时长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从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17.5s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优化到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0.8s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64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svn info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批量预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填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192s-&gt;0.2s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ProcessPool/ThreadPool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并行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对于</a:t>
                      </a: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个表格时长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从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3.69s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优化到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1.84s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1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fast_apply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快路径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25MB的</a:t>
                      </a: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sheet XML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序列化从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3.4s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优化到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0.98s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165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未变更表跳过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可以跳过占大多数的表格体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0" name="Rectangle 59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并行与快路径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Compare 和写回阶段按文件/Sheet 粒度并行。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CPU 密集比较使用 ProcessPool，I/O 和解析任务使用 ThreadPool。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worker 上限跟 CPU、文件数和内存占用绑定，避免并行越多越慢。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fast_apply 让无冲突、低风险文件快速落盘。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当前验证结论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最新代码合并后，核心回归通过 71 项；此前相关 agent 回归通过 109 项。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这次更新对智能化有正向价值：enum resolver、schema-aware parse 修复、locator 调整都在减少模型幻觉。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Microsoft YaHei"/>
              </a:defRPr>
            </a:pPr>
            <a:r>
              <a:t>剩余风险集中在复杂链路：跨段代词、省略主语、枚举口语化、资源缺必填字段。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2240280"/>
            <a:ext cx="9966960" cy="80467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lnSpc>
                <a:spcPct val="115000"/>
              </a:lnSpc>
              <a:defRPr sz="3600" b="1">
                <a:solidFill>
                  <a:srgbClr val="C00000"/>
                </a:solidFill>
                <a:latin typeface="Microsoft YaHei"/>
              </a:defRPr>
            </a:pPr>
            <a:r>
              <a:t>四、总结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3127248"/>
            <a:ext cx="914400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ctr">
              <a:lnSpc>
                <a:spcPct val="115000"/>
              </a:lnSpc>
              <a:defRPr sz="2000" b="0">
                <a:solidFill>
                  <a:srgbClr val="696969"/>
                </a:solidFill>
                <a:latin typeface="Microsoft YaHei"/>
              </a:defRPr>
            </a:pPr>
            <a:r>
              <a:t>Excel-Agent 的正确方向不是堆 prompt，而是“LLM 理解 + schema 编译 + 规则校验 + 确定执行”。</a:t>
            </a:r>
          </a:p>
          <a:p>
            <a:pPr algn="ctr">
              <a:lnSpc>
                <a:spcPct val="115000"/>
              </a:lnSpc>
              <a:defRPr sz="2000" b="0">
                <a:solidFill>
                  <a:srgbClr val="696969"/>
                </a:solidFill>
                <a:latin typeface="Microsoft YaHei"/>
              </a:defRPr>
            </a:pPr>
            <a:r>
              <a:t>Merge 的正确方向是“可信 Base + 稀疏 diff + 引用保护 + 安全写回”。</a:t>
            </a:r>
          </a:p>
          <a:p>
            <a:pPr algn="ctr">
              <a:lnSpc>
                <a:spcPct val="115000"/>
              </a:lnSpc>
              <a:defRPr sz="2000" b="0">
                <a:solidFill>
                  <a:srgbClr val="696969"/>
                </a:solidFill>
                <a:latin typeface="Microsoft YaHei"/>
              </a:defRPr>
            </a:pPr>
            <a:r>
              <a:t>后续重点：全字段交互修正、复杂链路上下文继承、经验沉淀、更多端到端回归和可观测指标。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ExcelAgent_And_Merge 技术答辩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Microsoft YaHei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模板使用说明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直线连接符 5"/>
          <p:cNvCxnSpPr/>
          <p:nvPr/>
        </p:nvCxnSpPr>
        <p:spPr>
          <a:xfrm>
            <a:off x="514179" y="1101951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780579" y="1486264"/>
            <a:ext cx="10336696" cy="4706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、本模板为通用模板，仅适用于基础性制作需求，使用时请根据工作实际需求进行微调。</a:t>
            </a:r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 PPT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模板中的背景版式、辅助图形、文字内容、配图等，可进行相应替换、删减。</a:t>
            </a:r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 PPT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模板中的公司 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Logo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，仅适用于可代表公司层面的相关商务洽谈、合作、展示场景。非必要情况，请勿使用，或可替换为其它适用的 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Logo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、如您在使用中对此模板有任何问题及建议，请添加 </a:t>
            </a:r>
            <a:r>
              <a:rPr kumimoji="1"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popo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群沟通反馈（ </a:t>
            </a:r>
            <a:r>
              <a:rPr kumimoji="1"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popo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群号：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1587248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）。本模板将基于使用者建议定期优化更新。</a:t>
            </a:r>
            <a:endParaRPr kumimoji="1"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联系人</a:t>
            </a:r>
            <a:endParaRPr kumimoji="1"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总裁办 薛婧婷 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hlinkClick r:id="rId1"/>
              </a:rPr>
              <a:t>hzxuejingting@crop.netease.com</a:t>
            </a:r>
            <a:endParaRPr kumimoji="1"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UEDC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杨魏 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hzyangwei@corp.netease.com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图形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5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、基本背景样式</a:t>
            </a:r>
            <a:endParaRPr lang="zh-CN" altLang="en-US" dirty="0"/>
          </a:p>
        </p:txBody>
      </p:sp>
      <p:pic>
        <p:nvPicPr>
          <p:cNvPr id="4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4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、基本版面样式</a:t>
            </a:r>
            <a:endParaRPr lang="zh-CN" altLang="en-US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bg1"/>
                </a:solidFill>
                <a:latin typeface="+mj-ea"/>
                <a:ea typeface="+mj-ea"/>
              </a:rPr>
              <a:t>标题内容简述</a:t>
            </a:r>
            <a:endParaRPr kumimoji="1" lang="zh-CN" altLang="en-US" sz="3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bg1"/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zh-CN" altLang="en-US" sz="3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1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bg1"/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文本框 31"/>
          <p:cNvSpPr txBox="1"/>
          <p:nvPr/>
        </p:nvSpPr>
        <p:spPr>
          <a:xfrm>
            <a:off x="2666878" y="1916597"/>
            <a:ext cx="4419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</a:t>
            </a:r>
            <a:endParaRPr kumimoji="1" lang="zh-CN" altLang="en-US" sz="2200" b="1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2666878" y="2382893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200" dirty="0">
                <a:solidFill>
                  <a:srgbClr val="A80D0B"/>
                </a:solidFill>
                <a:latin typeface="+mj-ea"/>
                <a:ea typeface="+mj-ea"/>
              </a:rPr>
              <a:t>具体事项简述内容分类项目关系</a:t>
            </a:r>
            <a:endParaRPr kumimoji="1" lang="zh-CN" altLang="en-US" sz="1200" dirty="0">
              <a:solidFill>
                <a:srgbClr val="A80D0B"/>
              </a:solidFill>
              <a:latin typeface="+mj-ea"/>
              <a:ea typeface="+mj-ea"/>
            </a:endParaRPr>
          </a:p>
        </p:txBody>
      </p:sp>
      <p:sp>
        <p:nvSpPr>
          <p:cNvPr id="3" name="对角圆角矩形 2"/>
          <p:cNvSpPr/>
          <p:nvPr/>
        </p:nvSpPr>
        <p:spPr>
          <a:xfrm>
            <a:off x="1877057" y="1981184"/>
            <a:ext cx="619490" cy="619490"/>
          </a:xfrm>
          <a:prstGeom prst="roundRect">
            <a:avLst>
              <a:gd name="adj" fmla="val 3341"/>
            </a:avLst>
          </a:prstGeom>
          <a:solidFill>
            <a:srgbClr val="A80D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A80D0B"/>
              </a:solidFill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1870775" y="2026624"/>
            <a:ext cx="625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b="1" dirty="0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kumimoji="1" lang="zh-CN" altLang="en-US" sz="28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2666878" y="4250586"/>
            <a:ext cx="4419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</a:t>
            </a:r>
            <a:endParaRPr kumimoji="1" lang="zh-CN" altLang="en-US" sz="2200" b="1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2666878" y="4684608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200" dirty="0">
                <a:solidFill>
                  <a:srgbClr val="A80D0B"/>
                </a:solidFill>
                <a:latin typeface="+mj-ea"/>
                <a:ea typeface="+mj-ea"/>
              </a:rPr>
              <a:t>具体事项简述内容分类项目关系</a:t>
            </a:r>
            <a:endParaRPr kumimoji="1" lang="zh-CN" altLang="en-US" sz="1200" dirty="0">
              <a:solidFill>
                <a:srgbClr val="A80D0B"/>
              </a:solidFill>
              <a:latin typeface="+mj-ea"/>
              <a:ea typeface="+mj-ea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7882580" y="1913902"/>
            <a:ext cx="4419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</a:t>
            </a:r>
            <a:endParaRPr kumimoji="1" lang="zh-CN" altLang="en-US" sz="2200" b="1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7882580" y="2380198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200" dirty="0">
                <a:solidFill>
                  <a:srgbClr val="A80D0B"/>
                </a:solidFill>
                <a:latin typeface="+mj-ea"/>
                <a:ea typeface="+mj-ea"/>
              </a:rPr>
              <a:t>具体事项简述内容分类项目关系</a:t>
            </a:r>
            <a:endParaRPr kumimoji="1" lang="zh-CN" altLang="en-US" sz="1200" dirty="0">
              <a:solidFill>
                <a:srgbClr val="A80D0B"/>
              </a:solidFill>
              <a:latin typeface="+mj-ea"/>
              <a:ea typeface="+mj-ea"/>
            </a:endParaRPr>
          </a:p>
        </p:txBody>
      </p:sp>
      <p:sp>
        <p:nvSpPr>
          <p:cNvPr id="58" name="对角圆角矩形 2"/>
          <p:cNvSpPr/>
          <p:nvPr/>
        </p:nvSpPr>
        <p:spPr>
          <a:xfrm>
            <a:off x="7092759" y="1978489"/>
            <a:ext cx="619490" cy="619490"/>
          </a:xfrm>
          <a:prstGeom prst="roundRect">
            <a:avLst>
              <a:gd name="adj" fmla="val 3341"/>
            </a:avLst>
          </a:prstGeom>
          <a:solidFill>
            <a:srgbClr val="A80D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A80D0B"/>
              </a:solidFill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7086478" y="2039084"/>
            <a:ext cx="625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kumimoji="1" lang="zh-CN" altLang="en-US" sz="28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71" name="文本框 70"/>
          <p:cNvSpPr txBox="1"/>
          <p:nvPr/>
        </p:nvSpPr>
        <p:spPr>
          <a:xfrm>
            <a:off x="7882580" y="4250586"/>
            <a:ext cx="4419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</a:t>
            </a:r>
            <a:endParaRPr kumimoji="1" lang="zh-CN" altLang="en-US" sz="2200" b="1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7882580" y="4684608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200" dirty="0">
                <a:solidFill>
                  <a:srgbClr val="A80D0B"/>
                </a:solidFill>
                <a:latin typeface="+mj-ea"/>
                <a:ea typeface="+mj-ea"/>
              </a:rPr>
              <a:t>具体事项简述内容分类项目关系</a:t>
            </a:r>
            <a:endParaRPr kumimoji="1" lang="zh-CN" altLang="en-US" sz="1200" dirty="0">
              <a:solidFill>
                <a:srgbClr val="A80D0B"/>
              </a:solidFill>
              <a:latin typeface="+mj-ea"/>
              <a:ea typeface="+mj-ea"/>
            </a:endParaRPr>
          </a:p>
        </p:txBody>
      </p:sp>
      <p:sp>
        <p:nvSpPr>
          <p:cNvPr id="22" name="对角圆角矩形 2"/>
          <p:cNvSpPr/>
          <p:nvPr/>
        </p:nvSpPr>
        <p:spPr>
          <a:xfrm>
            <a:off x="1878320" y="4304376"/>
            <a:ext cx="619490" cy="619490"/>
          </a:xfrm>
          <a:prstGeom prst="roundRect">
            <a:avLst>
              <a:gd name="adj" fmla="val 3341"/>
            </a:avLst>
          </a:prstGeom>
          <a:solidFill>
            <a:srgbClr val="A80D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A80D0B"/>
              </a:solidFill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1872039" y="4364971"/>
            <a:ext cx="625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b="1" dirty="0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kumimoji="1" lang="zh-CN" altLang="en-US" sz="28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4" name="对角圆角矩形 2"/>
          <p:cNvSpPr/>
          <p:nvPr/>
        </p:nvSpPr>
        <p:spPr>
          <a:xfrm>
            <a:off x="7092759" y="4304376"/>
            <a:ext cx="619490" cy="619490"/>
          </a:xfrm>
          <a:prstGeom prst="roundRect">
            <a:avLst>
              <a:gd name="adj" fmla="val 3341"/>
            </a:avLst>
          </a:prstGeom>
          <a:solidFill>
            <a:srgbClr val="A80D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A80D0B"/>
              </a:solidFill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7086478" y="4364971"/>
            <a:ext cx="625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b="1" dirty="0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kumimoji="1" lang="zh-CN" altLang="en-US" sz="28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pic>
        <p:nvPicPr>
          <p:cNvPr id="26" name="图形 2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33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1409626" y="1587488"/>
            <a:ext cx="5719380" cy="1015663"/>
            <a:chOff x="3034476" y="6900502"/>
            <a:chExt cx="5719380" cy="1015663"/>
          </a:xfrm>
        </p:grpSpPr>
        <p:sp>
          <p:nvSpPr>
            <p:cNvPr id="31" name="文本框 30"/>
            <p:cNvSpPr txBox="1"/>
            <p:nvPr/>
          </p:nvSpPr>
          <p:spPr>
            <a:xfrm>
              <a:off x="3034476" y="6900502"/>
              <a:ext cx="133922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60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kumimoji="1" lang="zh-CN" altLang="en-US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4334256" y="6999994"/>
              <a:ext cx="44196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4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小标题内容</a:t>
              </a:r>
              <a:endParaRPr kumimoji="1"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文本框 32"/>
            <p:cNvSpPr txBox="1"/>
            <p:nvPr/>
          </p:nvSpPr>
          <p:spPr>
            <a:xfrm>
              <a:off x="4334256" y="7477048"/>
              <a:ext cx="44196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1200" dirty="0">
                  <a:solidFill>
                    <a:schemeClr val="bg1"/>
                  </a:solidFill>
                  <a:latin typeface="+mj-ea"/>
                  <a:ea typeface="+mj-ea"/>
                </a:rPr>
                <a:t>具体事项简述内容分类项目关系</a:t>
              </a:r>
              <a:endParaRPr kumimoji="1" lang="zh-CN" altLang="en-US" sz="1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cxnSp>
          <p:nvCxnSpPr>
            <p:cNvPr id="34" name="直线连接符 33"/>
            <p:cNvCxnSpPr/>
            <p:nvPr/>
          </p:nvCxnSpPr>
          <p:spPr>
            <a:xfrm>
              <a:off x="4204511" y="7070636"/>
              <a:ext cx="0" cy="61052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组合 35"/>
          <p:cNvGrpSpPr/>
          <p:nvPr/>
        </p:nvGrpSpPr>
        <p:grpSpPr>
          <a:xfrm>
            <a:off x="6705241" y="1587488"/>
            <a:ext cx="5719380" cy="1015663"/>
            <a:chOff x="3034476" y="6900502"/>
            <a:chExt cx="5719380" cy="1015663"/>
          </a:xfrm>
        </p:grpSpPr>
        <p:sp>
          <p:nvSpPr>
            <p:cNvPr id="37" name="文本框 36"/>
            <p:cNvSpPr txBox="1"/>
            <p:nvPr/>
          </p:nvSpPr>
          <p:spPr>
            <a:xfrm>
              <a:off x="3034476" y="6900502"/>
              <a:ext cx="133922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60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  <a:endParaRPr kumimoji="1" lang="zh-CN" altLang="en-US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4334256" y="6999994"/>
              <a:ext cx="44196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4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小标题内容</a:t>
              </a:r>
              <a:endParaRPr kumimoji="1"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4334256" y="7477048"/>
              <a:ext cx="44196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1200" dirty="0">
                  <a:solidFill>
                    <a:schemeClr val="bg1"/>
                  </a:solidFill>
                  <a:latin typeface="+mj-ea"/>
                  <a:ea typeface="+mj-ea"/>
                </a:rPr>
                <a:t>具体事项简述内容分类项目关系</a:t>
              </a:r>
              <a:endParaRPr kumimoji="1" lang="zh-CN" altLang="en-US" sz="1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cxnSp>
          <p:nvCxnSpPr>
            <p:cNvPr id="40" name="直线连接符 39"/>
            <p:cNvCxnSpPr/>
            <p:nvPr/>
          </p:nvCxnSpPr>
          <p:spPr>
            <a:xfrm>
              <a:off x="4204511" y="7070636"/>
              <a:ext cx="0" cy="61052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组合 40"/>
          <p:cNvGrpSpPr/>
          <p:nvPr/>
        </p:nvGrpSpPr>
        <p:grpSpPr>
          <a:xfrm>
            <a:off x="1409626" y="4206168"/>
            <a:ext cx="5719380" cy="1015663"/>
            <a:chOff x="3034476" y="6900502"/>
            <a:chExt cx="5719380" cy="1015663"/>
          </a:xfrm>
        </p:grpSpPr>
        <p:sp>
          <p:nvSpPr>
            <p:cNvPr id="42" name="文本框 41"/>
            <p:cNvSpPr txBox="1"/>
            <p:nvPr/>
          </p:nvSpPr>
          <p:spPr>
            <a:xfrm>
              <a:off x="3034476" y="6900502"/>
              <a:ext cx="133922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60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endParaRPr kumimoji="1" lang="zh-CN" altLang="en-US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4334256" y="6999994"/>
              <a:ext cx="44196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4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小标题内容</a:t>
              </a:r>
              <a:endParaRPr kumimoji="1"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4334256" y="7477048"/>
              <a:ext cx="44196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1200" dirty="0">
                  <a:solidFill>
                    <a:schemeClr val="bg1"/>
                  </a:solidFill>
                  <a:latin typeface="+mj-ea"/>
                  <a:ea typeface="+mj-ea"/>
                </a:rPr>
                <a:t>具体事项简述内容分类项目关系</a:t>
              </a:r>
              <a:endParaRPr kumimoji="1" lang="zh-CN" altLang="en-US" sz="1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cxnSp>
          <p:nvCxnSpPr>
            <p:cNvPr id="60" name="直线连接符 59"/>
            <p:cNvCxnSpPr/>
            <p:nvPr/>
          </p:nvCxnSpPr>
          <p:spPr>
            <a:xfrm>
              <a:off x="4204511" y="7070636"/>
              <a:ext cx="0" cy="61052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组合 60"/>
          <p:cNvGrpSpPr/>
          <p:nvPr/>
        </p:nvGrpSpPr>
        <p:grpSpPr>
          <a:xfrm>
            <a:off x="6705241" y="4206168"/>
            <a:ext cx="5719380" cy="1015663"/>
            <a:chOff x="3034476" y="6900502"/>
            <a:chExt cx="5719380" cy="1015663"/>
          </a:xfrm>
        </p:grpSpPr>
        <p:sp>
          <p:nvSpPr>
            <p:cNvPr id="62" name="文本框 61"/>
            <p:cNvSpPr txBox="1"/>
            <p:nvPr/>
          </p:nvSpPr>
          <p:spPr>
            <a:xfrm>
              <a:off x="3034476" y="6900502"/>
              <a:ext cx="133922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60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  <a:endParaRPr kumimoji="1" lang="zh-CN" altLang="en-US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4334256" y="6999994"/>
              <a:ext cx="44196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4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小标题内容</a:t>
              </a:r>
              <a:endParaRPr kumimoji="1"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4334256" y="7477048"/>
              <a:ext cx="44196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1200" dirty="0">
                  <a:solidFill>
                    <a:schemeClr val="bg1"/>
                  </a:solidFill>
                  <a:latin typeface="+mj-ea"/>
                  <a:ea typeface="+mj-ea"/>
                </a:rPr>
                <a:t>具体事项简述内容分类项目关系</a:t>
              </a:r>
              <a:endParaRPr kumimoji="1" lang="zh-CN" altLang="en-US" sz="1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cxnSp>
          <p:nvCxnSpPr>
            <p:cNvPr id="65" name="直线连接符 64"/>
            <p:cNvCxnSpPr/>
            <p:nvPr/>
          </p:nvCxnSpPr>
          <p:spPr>
            <a:xfrm>
              <a:off x="4204511" y="7070636"/>
              <a:ext cx="0" cy="61052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/>
          <p:nvPr/>
        </p:nvSpPr>
        <p:spPr>
          <a:xfrm>
            <a:off x="597712" y="3120437"/>
            <a:ext cx="79271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   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小标题内容说明</a:t>
            </a:r>
            <a:endParaRPr kumimoji="1"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597712" y="3654249"/>
            <a:ext cx="7489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   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小标题内容说明小标题内容说明小标题内容说明</a:t>
            </a:r>
            <a:endParaRPr kumimoji="1"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597712" y="4188061"/>
            <a:ext cx="7489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   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小标题内容说明小标题内容说明</a:t>
            </a:r>
            <a:endParaRPr kumimoji="1"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97713" y="4721873"/>
            <a:ext cx="7489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   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小标题内容说明小标题内容说明</a:t>
            </a:r>
            <a:endParaRPr kumimoji="1"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597712" y="5255686"/>
            <a:ext cx="7489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   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</a:t>
            </a:r>
            <a:endParaRPr kumimoji="1"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4719920" y="364242"/>
            <a:ext cx="763893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0000" dirty="0">
                <a:solidFill>
                  <a:srgbClr val="C21C1C"/>
                </a:solidFill>
                <a:ea typeface="PingFang SC Regular" panose="020B0300000000000000" pitchFamily="34" charset="-128"/>
                <a:cs typeface="Arial" panose="020B0604020202020204" pitchFamily="34" charset="0"/>
              </a:rPr>
              <a:t>CONTENTS</a:t>
            </a:r>
            <a:endParaRPr kumimoji="1" lang="zh-CN" altLang="en-US" sz="10000" dirty="0">
              <a:solidFill>
                <a:srgbClr val="C21C1C"/>
              </a:solidFill>
              <a:ea typeface="PingFang SC Regular" panose="020B03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67" name="直接连接符 66"/>
          <p:cNvCxnSpPr/>
          <p:nvPr/>
        </p:nvCxnSpPr>
        <p:spPr>
          <a:xfrm>
            <a:off x="683438" y="6111095"/>
            <a:ext cx="10718593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形 1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pSp>
        <p:nvGrpSpPr>
          <p:cNvPr id="20" name="组合 19"/>
          <p:cNvGrpSpPr/>
          <p:nvPr/>
        </p:nvGrpSpPr>
        <p:grpSpPr>
          <a:xfrm>
            <a:off x="4770526" y="1277040"/>
            <a:ext cx="2722227" cy="2714683"/>
            <a:chOff x="3462868" y="3718731"/>
            <a:chExt cx="2722227" cy="2714683"/>
          </a:xfrm>
        </p:grpSpPr>
        <p:sp>
          <p:nvSpPr>
            <p:cNvPr id="21" name="文本框 20"/>
            <p:cNvSpPr txBox="1"/>
            <p:nvPr/>
          </p:nvSpPr>
          <p:spPr>
            <a:xfrm>
              <a:off x="3462868" y="3718731"/>
              <a:ext cx="272222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主标题内容详情</a:t>
              </a:r>
              <a:endParaRPr kumimoji="1" lang="en-US" altLang="zh-CN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3462868" y="4537895"/>
              <a:ext cx="2722227" cy="18955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  <a:spcAft>
                  <a:spcPts val="1200"/>
                </a:spcAft>
              </a:pP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而是看到了这句话在当下的价值。当时推出句话“网聚人的力量”。我们将这句话写入公司使命。</a:t>
              </a:r>
              <a:endParaRPr kumimoji="1"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4" name="直线连接符 101"/>
            <p:cNvCxnSpPr/>
            <p:nvPr/>
          </p:nvCxnSpPr>
          <p:spPr>
            <a:xfrm>
              <a:off x="3555678" y="4301829"/>
              <a:ext cx="533375" cy="0"/>
            </a:xfrm>
            <a:prstGeom prst="line">
              <a:avLst/>
            </a:prstGeom>
            <a:ln w="25400">
              <a:solidFill>
                <a:srgbClr val="A50A0D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组合 24"/>
          <p:cNvGrpSpPr/>
          <p:nvPr/>
        </p:nvGrpSpPr>
        <p:grpSpPr>
          <a:xfrm>
            <a:off x="1325990" y="1277040"/>
            <a:ext cx="2722227" cy="4561342"/>
            <a:chOff x="3462868" y="3718731"/>
            <a:chExt cx="2722227" cy="4561342"/>
          </a:xfrm>
        </p:grpSpPr>
        <p:sp>
          <p:nvSpPr>
            <p:cNvPr id="26" name="文本框 25"/>
            <p:cNvSpPr txBox="1"/>
            <p:nvPr/>
          </p:nvSpPr>
          <p:spPr>
            <a:xfrm>
              <a:off x="3462868" y="3718731"/>
              <a:ext cx="272222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主标题内容详情</a:t>
              </a:r>
              <a:endParaRPr kumimoji="1" lang="en-US" altLang="zh-CN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3462868" y="4537895"/>
              <a:ext cx="2722227" cy="37421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  <a:spcAft>
                  <a:spcPts val="1200"/>
                </a:spcAft>
              </a:pP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而是看到了这句话在当下的价值。当时推出句话“网聚人的力量”。我们将这句话写入公司使命，不是说要重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而是看到这句句话在当下的价值互联网怎么改变未来</a:t>
              </a:r>
              <a:endParaRPr kumimoji="1"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8" name="直线连接符 101"/>
            <p:cNvCxnSpPr/>
            <p:nvPr/>
          </p:nvCxnSpPr>
          <p:spPr>
            <a:xfrm>
              <a:off x="3555678" y="4301829"/>
              <a:ext cx="533375" cy="0"/>
            </a:xfrm>
            <a:prstGeom prst="line">
              <a:avLst/>
            </a:prstGeom>
            <a:ln w="25400">
              <a:solidFill>
                <a:srgbClr val="A50A0D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组合 28"/>
          <p:cNvGrpSpPr/>
          <p:nvPr/>
        </p:nvGrpSpPr>
        <p:grpSpPr>
          <a:xfrm>
            <a:off x="8217236" y="1277040"/>
            <a:ext cx="2722227" cy="3453347"/>
            <a:chOff x="3462868" y="3718731"/>
            <a:chExt cx="2722227" cy="3453347"/>
          </a:xfrm>
        </p:grpSpPr>
        <p:sp>
          <p:nvSpPr>
            <p:cNvPr id="30" name="文本框 29"/>
            <p:cNvSpPr txBox="1"/>
            <p:nvPr/>
          </p:nvSpPr>
          <p:spPr>
            <a:xfrm>
              <a:off x="3462868" y="3718731"/>
              <a:ext cx="272222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主标题内容详情</a:t>
              </a:r>
              <a:endParaRPr kumimoji="1" lang="en-US" altLang="zh-CN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3462868" y="4537895"/>
              <a:ext cx="2722227" cy="26341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  <a:spcAft>
                  <a:spcPts val="1200"/>
                </a:spcAft>
              </a:pP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而是看到了这句话在当下的价值。当时推出句话“网聚人的力量”。我们将这句话写入公司使命，不是说要重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而是看到不是说要重</a:t>
              </a:r>
              <a:endParaRPr kumimoji="1"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32" name="直线连接符 101"/>
            <p:cNvCxnSpPr/>
            <p:nvPr/>
          </p:nvCxnSpPr>
          <p:spPr>
            <a:xfrm>
              <a:off x="3555678" y="4301829"/>
              <a:ext cx="533375" cy="0"/>
            </a:xfrm>
            <a:prstGeom prst="line">
              <a:avLst/>
            </a:prstGeom>
            <a:ln w="25400">
              <a:solidFill>
                <a:srgbClr val="A50A0D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、小标题页</a:t>
            </a:r>
            <a:endParaRPr lang="zh-CN" altLang="en-US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dirty="0"/>
              <a:t>三、成果</a:t>
            </a:r>
            <a:r>
              <a:rPr lang="zh-CN" altLang="en-US" dirty="0"/>
              <a:t>数据</a:t>
            </a:r>
            <a:endParaRPr lang="zh-CN" altLang="en-US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7592838" y="-350089"/>
            <a:ext cx="5211427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0" dirty="0">
                <a:solidFill>
                  <a:srgbClr val="C21C1C"/>
                </a:solidFill>
                <a:latin typeface="+mj-ea"/>
                <a:ea typeface="+mj-ea"/>
                <a:cs typeface="Arial" panose="020B0604020202020204" pitchFamily="34" charset="0"/>
              </a:rPr>
              <a:t>2</a:t>
            </a:r>
            <a:endParaRPr kumimoji="1" lang="zh-CN" altLang="en-US" sz="40000" dirty="0">
              <a:solidFill>
                <a:srgbClr val="C21C1C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2265" y="3809846"/>
            <a:ext cx="529138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50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标题内容简述部分说明通知</a:t>
            </a:r>
            <a:endParaRPr kumimoji="1" lang="zh-CN" altLang="en-US" sz="5000" b="1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12265" y="5361290"/>
            <a:ext cx="395067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GB" altLang="zh-CN" sz="1500" spc="100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Template description</a:t>
            </a:r>
            <a:endParaRPr kumimoji="1" lang="zh-CN" altLang="en-US" sz="1500" spc="100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" name="直接连接符 7"/>
          <p:cNvCxnSpPr/>
          <p:nvPr/>
        </p:nvCxnSpPr>
        <p:spPr>
          <a:xfrm>
            <a:off x="683438" y="6111095"/>
            <a:ext cx="10718593" cy="0"/>
          </a:xfrm>
          <a:prstGeom prst="line">
            <a:avLst/>
          </a:prstGeom>
          <a:ln w="57150">
            <a:solidFill>
              <a:srgbClr val="A80D0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形 8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" name="直线连接符 33"/>
          <p:cNvCxnSpPr/>
          <p:nvPr/>
        </p:nvCxnSpPr>
        <p:spPr>
          <a:xfrm>
            <a:off x="-234980" y="8379851"/>
            <a:ext cx="0" cy="6105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5267774" y="2986000"/>
            <a:ext cx="44196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5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</a:t>
            </a:r>
            <a:endParaRPr kumimoji="1" lang="zh-CN" altLang="en-US" sz="3500" b="1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对角圆角矩形 10"/>
          <p:cNvSpPr/>
          <p:nvPr/>
        </p:nvSpPr>
        <p:spPr>
          <a:xfrm>
            <a:off x="4274301" y="3029400"/>
            <a:ext cx="875172" cy="875172"/>
          </a:xfrm>
          <a:prstGeom prst="roundRect">
            <a:avLst>
              <a:gd name="adj" fmla="val 4695"/>
            </a:avLst>
          </a:prstGeom>
          <a:solidFill>
            <a:srgbClr val="A80D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4274301" y="3153333"/>
            <a:ext cx="8751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kumimoji="1" lang="zh-CN" altLang="en-US" sz="4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5294668" y="3594861"/>
            <a:ext cx="420444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GB" altLang="zh-CN" sz="1500" spc="100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Template description</a:t>
            </a:r>
            <a:endParaRPr kumimoji="1" lang="zh-CN" altLang="en-US" sz="1500" spc="100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形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/>
        </p:nvSpPr>
        <p:spPr>
          <a:xfrm>
            <a:off x="769718" y="583704"/>
            <a:ext cx="131625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5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kumimoji="1" lang="zh-CN" altLang="en-US" sz="5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769718" y="2268547"/>
            <a:ext cx="6602632" cy="205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kumimoji="1" lang="zh-CN" altLang="en-US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标题内容简述部分说明通知</a:t>
            </a:r>
            <a:endParaRPr kumimoji="1" lang="zh-CN" altLang="en-US" sz="6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07818" y="4321417"/>
            <a:ext cx="829376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GB" altLang="zh-CN" sz="1500" spc="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Template description</a:t>
            </a:r>
            <a:endParaRPr kumimoji="1" lang="zh-CN" altLang="en-US" sz="1500" spc="3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" name="直接连接符 7"/>
          <p:cNvCxnSpPr/>
          <p:nvPr/>
        </p:nvCxnSpPr>
        <p:spPr>
          <a:xfrm>
            <a:off x="914400" y="1594961"/>
            <a:ext cx="352540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、单图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多图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文字页</a:t>
            </a:r>
            <a:endParaRPr lang="zh-CN" alt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3168336" y="3154632"/>
            <a:ext cx="58553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标题内容简述部分说明</a:t>
            </a:r>
            <a:endParaRPr kumimoji="1" lang="zh-CN" altLang="en-US"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直线连接符 11"/>
          <p:cNvCxnSpPr/>
          <p:nvPr/>
        </p:nvCxnSpPr>
        <p:spPr>
          <a:xfrm>
            <a:off x="5842042" y="3969280"/>
            <a:ext cx="533375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1"/>
          <a:srcRect t="24036" b="46067"/>
          <a:stretch>
            <a:fillRect/>
          </a:stretch>
        </p:blipFill>
        <p:spPr>
          <a:xfrm>
            <a:off x="0" y="0"/>
            <a:ext cx="12192000" cy="2406642"/>
          </a:xfrm>
          <a:prstGeom prst="rect">
            <a:avLst/>
          </a:prstGeom>
        </p:spPr>
      </p:pic>
      <p:pic>
        <p:nvPicPr>
          <p:cNvPr id="20" name="图形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2333339" y="4475447"/>
            <a:ext cx="7550779" cy="787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互联网怎么改变未来，当时推出了一句话“网聚人的力量”。我们将这句话写了这句而是到了这句话互联网怎么改变未来，当时推当改变未来</a:t>
            </a:r>
            <a:endParaRPr kumimoji="1"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7435" y="6327573"/>
            <a:ext cx="886932" cy="16510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59587" y="0"/>
            <a:ext cx="4831335" cy="685800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1058933" y="1255747"/>
            <a:ext cx="4979917" cy="1399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kumimoji="1" lang="zh-CN" altLang="en-US" sz="4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标题内容简述部分说明通知</a:t>
            </a:r>
            <a:endParaRPr kumimoji="1" lang="zh-CN" altLang="en-US" sz="4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" name="直线连接符 11"/>
          <p:cNvCxnSpPr/>
          <p:nvPr/>
        </p:nvCxnSpPr>
        <p:spPr>
          <a:xfrm>
            <a:off x="1155948" y="2756952"/>
            <a:ext cx="533375" cy="0"/>
          </a:xfrm>
          <a:prstGeom prst="line">
            <a:avLst/>
          </a:prstGeom>
          <a:ln w="25400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058933" y="3171958"/>
            <a:ext cx="5037067" cy="1526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1600" dirty="0">
                <a:solidFill>
                  <a:schemeClr val="bg1"/>
                </a:solidFill>
                <a:latin typeface="+mj-ea"/>
                <a:ea typeface="+mj-ea"/>
              </a:rPr>
              <a:t>互联网怎么改变未来，当时推出了一句话“网聚人的力量”。我们将这句话写了这句而是到了这句话互联网怎么改变未来，当时推当改变未来，当时推当时推出出时推出出了一句话“网聚人的力量”。</a:t>
            </a:r>
            <a:endParaRPr kumimoji="1" lang="en-US" altLang="zh-CN" sz="16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965433" y="1244171"/>
            <a:ext cx="4175180" cy="4369659"/>
          </a:xfrm>
          <a:prstGeom prst="roundRect">
            <a:avLst>
              <a:gd name="adj" fmla="val 2910"/>
            </a:avLst>
          </a:prstGeom>
        </p:spPr>
      </p:pic>
      <p:pic>
        <p:nvPicPr>
          <p:cNvPr id="6" name="图形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949693" y="1095428"/>
            <a:ext cx="5304160" cy="1399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kumimoji="1" lang="zh-CN" alt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标题内容简述部分说明通知说明</a:t>
            </a:r>
            <a:endParaRPr kumimoji="1" lang="zh-CN" altLang="en-US"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959218" y="3025376"/>
            <a:ext cx="5304160" cy="2264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228600" indent="-228600">
              <a:lnSpc>
                <a:spcPct val="150000"/>
              </a:lnSpc>
              <a:buFont typeface="+mj-ea"/>
              <a:buAutoNum type="circleNumDbPlain"/>
              <a:defRPr kumimoji="1" sz="1600">
                <a:solidFill>
                  <a:schemeClr val="tx1">
                    <a:lumMod val="75000"/>
                    <a:lumOff val="25000"/>
                  </a:schemeClr>
                </a:solidFill>
                <a:latin typeface="PingFang SC Light" panose="020B0300000000000000" pitchFamily="34" charset="-122"/>
                <a:ea typeface="PingFang SC Light" panose="020B0300000000000000" pitchFamily="34" charset="-122"/>
              </a:defRPr>
            </a:lvl1pPr>
          </a:lstStyle>
          <a:p>
            <a:r>
              <a:rPr lang="zh-CN" altLang="en-US" dirty="0">
                <a:latin typeface="+mj-ea"/>
                <a:ea typeface="+mj-ea"/>
              </a:rPr>
              <a:t>互联网怎么改变未来当时推出了一句话“网聚人的力量”</a:t>
            </a:r>
            <a:endParaRPr lang="en-US" altLang="zh-CN" dirty="0">
              <a:latin typeface="+mj-ea"/>
              <a:ea typeface="+mj-ea"/>
            </a:endParaRPr>
          </a:p>
          <a:p>
            <a:endParaRPr lang="en-US" altLang="zh-CN" dirty="0">
              <a:latin typeface="+mj-ea"/>
              <a:ea typeface="+mj-ea"/>
            </a:endParaRPr>
          </a:p>
          <a:p>
            <a:r>
              <a:rPr lang="zh-CN" altLang="en-US" dirty="0">
                <a:latin typeface="+mj-ea"/>
                <a:ea typeface="+mj-ea"/>
              </a:rPr>
              <a:t>互联网怎么改变未来，我们将这句话写了这句</a:t>
            </a:r>
            <a:endParaRPr lang="en-US" altLang="zh-CN" dirty="0">
              <a:latin typeface="+mj-ea"/>
              <a:ea typeface="+mj-ea"/>
            </a:endParaRPr>
          </a:p>
          <a:p>
            <a:endParaRPr lang="en-US" altLang="zh-CN" dirty="0">
              <a:latin typeface="+mj-ea"/>
              <a:ea typeface="+mj-ea"/>
            </a:endParaRPr>
          </a:p>
          <a:p>
            <a:r>
              <a:rPr lang="zh-CN" altLang="en-US" dirty="0">
                <a:latin typeface="+mj-ea"/>
                <a:ea typeface="+mj-ea"/>
              </a:rPr>
              <a:t>互联网怎么改变未来，当时推出了一句话</a:t>
            </a:r>
            <a:endParaRPr lang="en-US" altLang="zh-CN" dirty="0">
              <a:latin typeface="+mj-ea"/>
              <a:ea typeface="+mj-ea"/>
            </a:endParaRPr>
          </a:p>
          <a:p>
            <a:endParaRPr lang="en-US" altLang="zh-CN" dirty="0">
              <a:latin typeface="+mj-ea"/>
              <a:ea typeface="+mj-ea"/>
            </a:endParaRPr>
          </a:p>
        </p:txBody>
      </p:sp>
      <p:cxnSp>
        <p:nvCxnSpPr>
          <p:cNvPr id="9" name="直线连接符 11"/>
          <p:cNvCxnSpPr/>
          <p:nvPr/>
        </p:nvCxnSpPr>
        <p:spPr>
          <a:xfrm>
            <a:off x="1051418" y="2593639"/>
            <a:ext cx="533375" cy="0"/>
          </a:xfrm>
          <a:prstGeom prst="line">
            <a:avLst/>
          </a:prstGeom>
          <a:ln w="25400">
            <a:solidFill>
              <a:srgbClr val="C21C1C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图形 26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pSp>
        <p:nvGrpSpPr>
          <p:cNvPr id="28" name="组合 27"/>
          <p:cNvGrpSpPr/>
          <p:nvPr/>
        </p:nvGrpSpPr>
        <p:grpSpPr>
          <a:xfrm>
            <a:off x="4603300" y="4000412"/>
            <a:ext cx="2985400" cy="1564116"/>
            <a:chOff x="872806" y="3520575"/>
            <a:chExt cx="2985400" cy="1564116"/>
          </a:xfrm>
        </p:grpSpPr>
        <p:sp>
          <p:nvSpPr>
            <p:cNvPr id="29" name="文本框 28"/>
            <p:cNvSpPr txBox="1"/>
            <p:nvPr/>
          </p:nvSpPr>
          <p:spPr>
            <a:xfrm>
              <a:off x="872806" y="4297168"/>
              <a:ext cx="2985400" cy="7875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互联网怎么改变未来，当时推出了一句话“网聚人的力量”。</a:t>
              </a:r>
              <a:endParaRPr kumimoji="1"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989831" y="3520575"/>
              <a:ext cx="27513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标题内容简述</a:t>
              </a:r>
              <a:endPara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989831" y="3938990"/>
              <a:ext cx="27513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rPr>
                <a:t>The content of the title</a:t>
              </a:r>
              <a:endParaRPr kumimoji="1"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33" name="组合 32"/>
          <p:cNvGrpSpPr/>
          <p:nvPr/>
        </p:nvGrpSpPr>
        <p:grpSpPr>
          <a:xfrm>
            <a:off x="8241850" y="4000412"/>
            <a:ext cx="2985400" cy="1561136"/>
            <a:chOff x="872806" y="3520575"/>
            <a:chExt cx="2985400" cy="1561136"/>
          </a:xfrm>
        </p:grpSpPr>
        <p:sp>
          <p:nvSpPr>
            <p:cNvPr id="34" name="文本框 33"/>
            <p:cNvSpPr txBox="1"/>
            <p:nvPr/>
          </p:nvSpPr>
          <p:spPr>
            <a:xfrm>
              <a:off x="872806" y="4294188"/>
              <a:ext cx="2985400" cy="7875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互联网怎么改变未来，当时推出了一句话“网聚人的力量”。</a:t>
              </a:r>
              <a:endParaRPr kumimoji="1"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989831" y="3520575"/>
              <a:ext cx="27513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标题内容简述</a:t>
              </a:r>
              <a:endPara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989831" y="3938990"/>
              <a:ext cx="27513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rPr>
                <a:t>The content of the title</a:t>
              </a:r>
              <a:endParaRPr kumimoji="1"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847632" y="1235714"/>
            <a:ext cx="2985400" cy="4325834"/>
            <a:chOff x="872806" y="757367"/>
            <a:chExt cx="2985400" cy="4325834"/>
          </a:xfrm>
        </p:grpSpPr>
        <p:sp>
          <p:nvSpPr>
            <p:cNvPr id="39" name="文本框 38"/>
            <p:cNvSpPr txBox="1"/>
            <p:nvPr/>
          </p:nvSpPr>
          <p:spPr>
            <a:xfrm>
              <a:off x="872806" y="4295678"/>
              <a:ext cx="2985400" cy="7875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互联网怎么改变未来，当时推出了一句话“网聚人的力量”。</a:t>
              </a:r>
              <a:endParaRPr kumimoji="1"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989831" y="3520575"/>
              <a:ext cx="27513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标题内容简述</a:t>
              </a:r>
              <a:endPara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41" name="图片 4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114892" y="757367"/>
              <a:ext cx="2501227" cy="2452749"/>
            </a:xfrm>
            <a:prstGeom prst="roundRect">
              <a:avLst>
                <a:gd name="adj" fmla="val 50000"/>
              </a:avLst>
            </a:prstGeom>
          </p:spPr>
        </p:pic>
        <p:sp>
          <p:nvSpPr>
            <p:cNvPr id="42" name="文本框 41"/>
            <p:cNvSpPr txBox="1"/>
            <p:nvPr/>
          </p:nvSpPr>
          <p:spPr>
            <a:xfrm>
              <a:off x="989831" y="3938990"/>
              <a:ext cx="27513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rPr>
                <a:t>The content of the title</a:t>
              </a:r>
              <a:endParaRPr kumimoji="1"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8" name="图片 1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45386" y="1235714"/>
            <a:ext cx="2501227" cy="2452749"/>
          </a:xfrm>
          <a:prstGeom prst="roundRect">
            <a:avLst>
              <a:gd name="adj" fmla="val 50000"/>
            </a:avLst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483936" y="1235714"/>
            <a:ext cx="2501227" cy="2452749"/>
          </a:xfrm>
          <a:prstGeom prst="roundRect">
            <a:avLst>
              <a:gd name="adj" fmla="val 50000"/>
            </a:avLst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: 圆角 34"/>
          <p:cNvSpPr/>
          <p:nvPr/>
        </p:nvSpPr>
        <p:spPr>
          <a:xfrm>
            <a:off x="890269" y="1918886"/>
            <a:ext cx="2272330" cy="3929529"/>
          </a:xfrm>
          <a:prstGeom prst="roundRect">
            <a:avLst>
              <a:gd name="adj" fmla="val 3648"/>
            </a:avLst>
          </a:prstGeom>
          <a:solidFill>
            <a:srgbClr val="EFEC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47" name="图片 46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89528" y="1918887"/>
            <a:ext cx="2271600" cy="2270118"/>
          </a:xfrm>
          <a:prstGeom prst="round2SameRect">
            <a:avLst>
              <a:gd name="adj1" fmla="val 3253"/>
              <a:gd name="adj2" fmla="val 0"/>
            </a:avLst>
          </a:prstGeom>
        </p:spPr>
      </p:pic>
      <p:sp>
        <p:nvSpPr>
          <p:cNvPr id="50" name="文本框 49"/>
          <p:cNvSpPr txBox="1"/>
          <p:nvPr/>
        </p:nvSpPr>
        <p:spPr>
          <a:xfrm>
            <a:off x="945291" y="4309138"/>
            <a:ext cx="2191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en-US" altLang="zh-CN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9" name="直线连接符 48"/>
          <p:cNvCxnSpPr/>
          <p:nvPr/>
        </p:nvCxnSpPr>
        <p:spPr>
          <a:xfrm>
            <a:off x="1046601" y="4697477"/>
            <a:ext cx="295558" cy="0"/>
          </a:xfrm>
          <a:prstGeom prst="line">
            <a:avLst/>
          </a:prstGeom>
          <a:ln w="22225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/>
          <p:cNvSpPr txBox="1"/>
          <p:nvPr/>
        </p:nvSpPr>
        <p:spPr>
          <a:xfrm>
            <a:off x="945291" y="4777126"/>
            <a:ext cx="2191252" cy="8989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互联网怎么改变未来，当时推出了一句话“网聚人的力量”。我们将这句话写入公司使命。</a:t>
            </a:r>
            <a:endParaRPr kumimoji="1" lang="en-US" altLang="zh-CN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1" y="657160"/>
            <a:ext cx="1219199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1" y="1206917"/>
            <a:ext cx="12191999" cy="377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zh-CN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我们将写入写入这句话写入公司使命不是说要重</a:t>
            </a:r>
            <a:r>
              <a:rPr kumimoji="1" lang="en-US" altLang="zh-CN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,</a:t>
            </a:r>
            <a:r>
              <a:rPr kumimoji="1" lang="zh-CN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而是看到了这句话在当下的价值。</a:t>
            </a:r>
            <a:endParaRPr kumimoji="1" lang="en-US" altLang="zh-CN" sz="14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34" name="图形 3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72" name="矩形: 圆角 71"/>
          <p:cNvSpPr/>
          <p:nvPr/>
        </p:nvSpPr>
        <p:spPr>
          <a:xfrm>
            <a:off x="3613593" y="1913571"/>
            <a:ext cx="2272330" cy="3929529"/>
          </a:xfrm>
          <a:prstGeom prst="roundRect">
            <a:avLst>
              <a:gd name="adj" fmla="val 3648"/>
            </a:avLst>
          </a:prstGeom>
          <a:solidFill>
            <a:srgbClr val="EFEC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73" name="图片 7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613593" y="1913572"/>
            <a:ext cx="2271589" cy="2272329"/>
          </a:xfrm>
          <a:prstGeom prst="round2SameRect">
            <a:avLst>
              <a:gd name="adj1" fmla="val 3253"/>
              <a:gd name="adj2" fmla="val 0"/>
            </a:avLst>
          </a:prstGeom>
        </p:spPr>
      </p:pic>
      <p:sp>
        <p:nvSpPr>
          <p:cNvPr id="74" name="文本框 73"/>
          <p:cNvSpPr txBox="1"/>
          <p:nvPr/>
        </p:nvSpPr>
        <p:spPr>
          <a:xfrm>
            <a:off x="3668616" y="4303823"/>
            <a:ext cx="2191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en-US" altLang="zh-CN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5" name="直线连接符 48"/>
          <p:cNvCxnSpPr/>
          <p:nvPr/>
        </p:nvCxnSpPr>
        <p:spPr>
          <a:xfrm>
            <a:off x="3769926" y="4698024"/>
            <a:ext cx="295558" cy="0"/>
          </a:xfrm>
          <a:prstGeom prst="line">
            <a:avLst/>
          </a:prstGeom>
          <a:ln w="22225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/>
          <p:cNvSpPr txBox="1"/>
          <p:nvPr/>
        </p:nvSpPr>
        <p:spPr>
          <a:xfrm>
            <a:off x="3668616" y="4768148"/>
            <a:ext cx="2191252" cy="8989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互联网怎么改变未来，当时推出了一句话“网聚人的力量”。我们将这句话写入公司使命。</a:t>
            </a:r>
            <a:endParaRPr kumimoji="1" lang="en-US" altLang="zh-CN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矩形: 圆角 29"/>
          <p:cNvSpPr/>
          <p:nvPr/>
        </p:nvSpPr>
        <p:spPr>
          <a:xfrm>
            <a:off x="6336176" y="1913571"/>
            <a:ext cx="2272330" cy="3929529"/>
          </a:xfrm>
          <a:prstGeom prst="roundRect">
            <a:avLst>
              <a:gd name="adj" fmla="val 3648"/>
            </a:avLst>
          </a:prstGeom>
          <a:solidFill>
            <a:srgbClr val="EFEC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文本框 31"/>
          <p:cNvSpPr txBox="1"/>
          <p:nvPr/>
        </p:nvSpPr>
        <p:spPr>
          <a:xfrm>
            <a:off x="6391198" y="4303823"/>
            <a:ext cx="2191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en-US" altLang="zh-CN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3" name="直线连接符 48"/>
          <p:cNvCxnSpPr/>
          <p:nvPr/>
        </p:nvCxnSpPr>
        <p:spPr>
          <a:xfrm>
            <a:off x="6492508" y="4692162"/>
            <a:ext cx="295558" cy="0"/>
          </a:xfrm>
          <a:prstGeom prst="line">
            <a:avLst/>
          </a:prstGeom>
          <a:ln w="22225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6391198" y="4771811"/>
            <a:ext cx="2191252" cy="8989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互联网怎么改变未来，当时推出了一句话“网聚人的力量”。我们将这句话写入公司使命。</a:t>
            </a:r>
            <a:endParaRPr kumimoji="1" lang="en-US" altLang="zh-CN" sz="12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8" name="矩形: 圆角 47"/>
          <p:cNvSpPr/>
          <p:nvPr/>
        </p:nvSpPr>
        <p:spPr>
          <a:xfrm>
            <a:off x="9060243" y="1913571"/>
            <a:ext cx="2272330" cy="3929529"/>
          </a:xfrm>
          <a:prstGeom prst="roundRect">
            <a:avLst>
              <a:gd name="adj" fmla="val 3648"/>
            </a:avLst>
          </a:prstGeom>
          <a:solidFill>
            <a:srgbClr val="EFEC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3" name="文本框 52"/>
          <p:cNvSpPr txBox="1"/>
          <p:nvPr/>
        </p:nvSpPr>
        <p:spPr>
          <a:xfrm>
            <a:off x="9115265" y="4303823"/>
            <a:ext cx="2191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en-US" altLang="zh-CN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4" name="直线连接符 48"/>
          <p:cNvCxnSpPr/>
          <p:nvPr/>
        </p:nvCxnSpPr>
        <p:spPr>
          <a:xfrm>
            <a:off x="9216575" y="4692162"/>
            <a:ext cx="295558" cy="0"/>
          </a:xfrm>
          <a:prstGeom prst="line">
            <a:avLst/>
          </a:prstGeom>
          <a:ln w="22225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/>
          <p:cNvSpPr txBox="1"/>
          <p:nvPr/>
        </p:nvSpPr>
        <p:spPr>
          <a:xfrm>
            <a:off x="9115265" y="4771811"/>
            <a:ext cx="2191252" cy="8989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互联网怎么改变未来，当时推出了一句话“网聚人的力量”。我们将这句话写入公司使命。</a:t>
            </a:r>
            <a:endParaRPr kumimoji="1" lang="en-US" altLang="zh-CN" sz="12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25" name="图片 2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351024" y="1913571"/>
            <a:ext cx="2271600" cy="2270118"/>
          </a:xfrm>
          <a:prstGeom prst="round2SameRect">
            <a:avLst>
              <a:gd name="adj1" fmla="val 3253"/>
              <a:gd name="adj2" fmla="val 0"/>
            </a:avLst>
          </a:prstGeom>
        </p:spPr>
      </p:pic>
      <p:pic>
        <p:nvPicPr>
          <p:cNvPr id="26" name="图片 2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075091" y="1913571"/>
            <a:ext cx="2271600" cy="2270118"/>
          </a:xfrm>
          <a:prstGeom prst="round2SameRect">
            <a:avLst>
              <a:gd name="adj1" fmla="val 3253"/>
              <a:gd name="adj2" fmla="val 0"/>
            </a:avLst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、多文字页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列表页</a:t>
            </a:r>
            <a:endParaRPr lang="zh-CN" altLang="en-US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文本框 52"/>
          <p:cNvSpPr txBox="1"/>
          <p:nvPr/>
        </p:nvSpPr>
        <p:spPr>
          <a:xfrm>
            <a:off x="-25066" y="1051577"/>
            <a:ext cx="1221706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3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标题内容简述部分说明通知</a:t>
            </a:r>
            <a:endParaRPr kumimoji="1" lang="zh-CN" altLang="en-US" sz="3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-12533" y="1605575"/>
            <a:ext cx="12192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GB" altLang="zh-CN" sz="1400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Template description</a:t>
            </a:r>
            <a:endParaRPr kumimoji="1" lang="zh-CN" altLang="en-US" sz="1400" spc="1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grpSp>
        <p:nvGrpSpPr>
          <p:cNvPr id="3" name="组合 2"/>
          <p:cNvGrpSpPr/>
          <p:nvPr/>
        </p:nvGrpSpPr>
        <p:grpSpPr>
          <a:xfrm>
            <a:off x="1104125" y="2428806"/>
            <a:ext cx="2818861" cy="3155079"/>
            <a:chOff x="1104125" y="2428806"/>
            <a:chExt cx="2818861" cy="3155079"/>
          </a:xfrm>
        </p:grpSpPr>
        <p:sp>
          <p:nvSpPr>
            <p:cNvPr id="26" name="矩形: 圆角 25"/>
            <p:cNvSpPr/>
            <p:nvPr/>
          </p:nvSpPr>
          <p:spPr>
            <a:xfrm>
              <a:off x="1104125" y="2428806"/>
              <a:ext cx="2818861" cy="3155079"/>
            </a:xfrm>
            <a:prstGeom prst="roundRect">
              <a:avLst>
                <a:gd name="adj" fmla="val 258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1291735" y="2760238"/>
              <a:ext cx="242864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400" b="1" dirty="0">
                  <a:latin typeface="PingFang SC Light" panose="020B0300000000000000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sz="2400" b="1" dirty="0">
                <a:latin typeface="PingFang SC Light" panose="020B0300000000000000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8" name="文本框 77"/>
            <p:cNvSpPr txBox="1"/>
            <p:nvPr/>
          </p:nvSpPr>
          <p:spPr>
            <a:xfrm>
              <a:off x="1244466" y="3482358"/>
              <a:ext cx="2531060" cy="12572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</a:t>
              </a:r>
              <a:endParaRPr kumimoji="1" lang="en-US" altLang="zh-CN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244466" y="3144810"/>
              <a:ext cx="253106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rPr>
                <a:t>The content of the title</a:t>
              </a:r>
              <a:endParaRPr kumimoji="1" lang="zh-CN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4674036" y="2428806"/>
            <a:ext cx="2818861" cy="3155079"/>
            <a:chOff x="1104125" y="2428806"/>
            <a:chExt cx="2818861" cy="3155079"/>
          </a:xfrm>
        </p:grpSpPr>
        <p:sp>
          <p:nvSpPr>
            <p:cNvPr id="31" name="矩形: 圆角 30"/>
            <p:cNvSpPr/>
            <p:nvPr/>
          </p:nvSpPr>
          <p:spPr>
            <a:xfrm>
              <a:off x="1104125" y="2428806"/>
              <a:ext cx="2818861" cy="3155079"/>
            </a:xfrm>
            <a:prstGeom prst="roundRect">
              <a:avLst>
                <a:gd name="adj" fmla="val 258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1291735" y="2760238"/>
              <a:ext cx="242864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400" b="1" dirty="0">
                  <a:latin typeface="PingFang SC Light" panose="020B0300000000000000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sz="2400" b="1" dirty="0">
                <a:latin typeface="PingFang SC Light" panose="020B0300000000000000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文本框 32"/>
            <p:cNvSpPr txBox="1"/>
            <p:nvPr/>
          </p:nvSpPr>
          <p:spPr>
            <a:xfrm>
              <a:off x="1244466" y="3482358"/>
              <a:ext cx="2531060" cy="12572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</a:t>
              </a:r>
              <a:endParaRPr kumimoji="1" lang="en-US" altLang="zh-CN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1244466" y="3144810"/>
              <a:ext cx="253106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rPr>
                <a:t>The content of the title</a:t>
              </a:r>
              <a:endParaRPr kumimoji="1" lang="zh-CN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8269014" y="2428806"/>
            <a:ext cx="2818861" cy="3155079"/>
            <a:chOff x="1104125" y="2428806"/>
            <a:chExt cx="2818861" cy="3155079"/>
          </a:xfrm>
        </p:grpSpPr>
        <p:sp>
          <p:nvSpPr>
            <p:cNvPr id="36" name="矩形: 圆角 35"/>
            <p:cNvSpPr/>
            <p:nvPr/>
          </p:nvSpPr>
          <p:spPr>
            <a:xfrm>
              <a:off x="1104125" y="2428806"/>
              <a:ext cx="2818861" cy="3155079"/>
            </a:xfrm>
            <a:prstGeom prst="roundRect">
              <a:avLst>
                <a:gd name="adj" fmla="val 258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1291735" y="2760238"/>
              <a:ext cx="242864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400" b="1" dirty="0">
                  <a:latin typeface="PingFang SC Light" panose="020B0300000000000000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sz="2400" b="1" dirty="0">
                <a:latin typeface="PingFang SC Light" panose="020B0300000000000000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244466" y="3482358"/>
              <a:ext cx="2531060" cy="12572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</a:t>
              </a:r>
              <a:endParaRPr kumimoji="1" lang="en-US" altLang="zh-CN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244466" y="3144810"/>
              <a:ext cx="253106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rPr>
                <a:t>The content of the title</a:t>
              </a:r>
              <a:endParaRPr kumimoji="1" lang="zh-CN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endParaRP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图片 36"/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576"/>
          <a:stretch>
            <a:fillRect/>
          </a:stretch>
        </p:blipFill>
        <p:spPr>
          <a:xfrm>
            <a:off x="0" y="3747221"/>
            <a:ext cx="12192000" cy="2566542"/>
          </a:xfrm>
          <a:prstGeom prst="rect">
            <a:avLst/>
          </a:prstGeom>
        </p:spPr>
      </p:pic>
      <p:sp>
        <p:nvSpPr>
          <p:cNvPr id="34" name="文本框 33"/>
          <p:cNvSpPr txBox="1"/>
          <p:nvPr/>
        </p:nvSpPr>
        <p:spPr>
          <a:xfrm>
            <a:off x="575872" y="591376"/>
            <a:ext cx="7121068" cy="7684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kumimoji="1" lang="zh-CN" alt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时间轴标题内容</a:t>
            </a:r>
            <a:endParaRPr kumimoji="1" lang="zh-CN" altLang="en-US"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5" name="直线连接符 11"/>
          <p:cNvCxnSpPr/>
          <p:nvPr/>
        </p:nvCxnSpPr>
        <p:spPr>
          <a:xfrm>
            <a:off x="683058" y="1704938"/>
            <a:ext cx="533375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575872" y="1320563"/>
            <a:ext cx="360746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GB" altLang="zh-CN" sz="1500" spc="1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Template description</a:t>
            </a:r>
            <a:endParaRPr kumimoji="1" lang="zh-CN" altLang="en-US" sz="1500" spc="1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6" name="图片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5046" y="5879704"/>
            <a:ext cx="747798" cy="139201"/>
          </a:xfrm>
          <a:prstGeom prst="rect">
            <a:avLst/>
          </a:prstGeom>
        </p:spPr>
      </p:pic>
      <p:cxnSp>
        <p:nvCxnSpPr>
          <p:cNvPr id="25" name="直线连接符 11"/>
          <p:cNvCxnSpPr/>
          <p:nvPr/>
        </p:nvCxnSpPr>
        <p:spPr>
          <a:xfrm>
            <a:off x="-826" y="3737492"/>
            <a:ext cx="12192000" cy="0"/>
          </a:xfrm>
          <a:prstGeom prst="line">
            <a:avLst/>
          </a:prstGeom>
          <a:ln w="19050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组合 37"/>
          <p:cNvGrpSpPr/>
          <p:nvPr/>
        </p:nvGrpSpPr>
        <p:grpSpPr>
          <a:xfrm>
            <a:off x="571597" y="3068862"/>
            <a:ext cx="2458507" cy="1973604"/>
            <a:chOff x="615987" y="3619287"/>
            <a:chExt cx="2458507" cy="1973604"/>
          </a:xfrm>
        </p:grpSpPr>
        <p:sp>
          <p:nvSpPr>
            <p:cNvPr id="39" name="文本框 38"/>
            <p:cNvSpPr txBox="1"/>
            <p:nvPr/>
          </p:nvSpPr>
          <p:spPr>
            <a:xfrm>
              <a:off x="615987" y="3619287"/>
              <a:ext cx="18637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624865" y="4569149"/>
              <a:ext cx="2449629" cy="1023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当时推出句话“网聚人的力量”。</a:t>
              </a:r>
              <a:endParaRPr kumimoji="1"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椭圆 40"/>
            <p:cNvSpPr/>
            <p:nvPr/>
          </p:nvSpPr>
          <p:spPr>
            <a:xfrm>
              <a:off x="717916" y="4217207"/>
              <a:ext cx="134340" cy="13434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3440919" y="3068862"/>
            <a:ext cx="2458507" cy="2296769"/>
            <a:chOff x="615987" y="3619287"/>
            <a:chExt cx="2458507" cy="2296769"/>
          </a:xfrm>
        </p:grpSpPr>
        <p:sp>
          <p:nvSpPr>
            <p:cNvPr id="43" name="文本框 42"/>
            <p:cNvSpPr txBox="1"/>
            <p:nvPr/>
          </p:nvSpPr>
          <p:spPr>
            <a:xfrm>
              <a:off x="615987" y="3619287"/>
              <a:ext cx="18637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624865" y="4569149"/>
              <a:ext cx="2449629" cy="13469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 。</a:t>
              </a:r>
              <a:endParaRPr kumimoji="1"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椭圆 44"/>
            <p:cNvSpPr/>
            <p:nvPr/>
          </p:nvSpPr>
          <p:spPr>
            <a:xfrm>
              <a:off x="717916" y="4217207"/>
              <a:ext cx="134340" cy="13434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6" name="组合 45"/>
          <p:cNvGrpSpPr/>
          <p:nvPr/>
        </p:nvGrpSpPr>
        <p:grpSpPr>
          <a:xfrm>
            <a:off x="6310241" y="3068862"/>
            <a:ext cx="2458507" cy="2296769"/>
            <a:chOff x="615987" y="3619287"/>
            <a:chExt cx="2458507" cy="2296769"/>
          </a:xfrm>
        </p:grpSpPr>
        <p:sp>
          <p:nvSpPr>
            <p:cNvPr id="47" name="文本框 46"/>
            <p:cNvSpPr txBox="1"/>
            <p:nvPr/>
          </p:nvSpPr>
          <p:spPr>
            <a:xfrm>
              <a:off x="615987" y="3619287"/>
              <a:ext cx="18637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624865" y="4569149"/>
              <a:ext cx="2449629" cy="13469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</a:t>
              </a:r>
              <a:endParaRPr kumimoji="1"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椭圆 48"/>
            <p:cNvSpPr/>
            <p:nvPr/>
          </p:nvSpPr>
          <p:spPr>
            <a:xfrm>
              <a:off x="717916" y="4217207"/>
              <a:ext cx="134340" cy="13434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0" name="组合 49"/>
          <p:cNvGrpSpPr/>
          <p:nvPr/>
        </p:nvGrpSpPr>
        <p:grpSpPr>
          <a:xfrm>
            <a:off x="9179564" y="3068862"/>
            <a:ext cx="2458507" cy="1973604"/>
            <a:chOff x="615987" y="3619287"/>
            <a:chExt cx="2458507" cy="1973604"/>
          </a:xfrm>
        </p:grpSpPr>
        <p:sp>
          <p:nvSpPr>
            <p:cNvPr id="51" name="文本框 50"/>
            <p:cNvSpPr txBox="1"/>
            <p:nvPr/>
          </p:nvSpPr>
          <p:spPr>
            <a:xfrm>
              <a:off x="615987" y="3619287"/>
              <a:ext cx="18637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624865" y="4569149"/>
              <a:ext cx="2449629" cy="1023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</a:t>
              </a:r>
              <a:endParaRPr kumimoji="1"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椭圆 52"/>
            <p:cNvSpPr/>
            <p:nvPr/>
          </p:nvSpPr>
          <p:spPr>
            <a:xfrm>
              <a:off x="717916" y="4217207"/>
              <a:ext cx="134340" cy="13434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图片 1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sp>
        <p:nvSpPr>
          <p:cNvPr id="57" name="文本框 56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zh-CN" altLang="en-US" sz="3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8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文本框 77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bg1"/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cxnSp>
        <p:nvCxnSpPr>
          <p:cNvPr id="77" name="直线连接符 11"/>
          <p:cNvCxnSpPr/>
          <p:nvPr/>
        </p:nvCxnSpPr>
        <p:spPr>
          <a:xfrm>
            <a:off x="-826" y="5298982"/>
            <a:ext cx="12192000" cy="0"/>
          </a:xfrm>
          <a:prstGeom prst="line">
            <a:avLst/>
          </a:prstGeom>
          <a:ln w="19050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9" name="组合 78"/>
          <p:cNvGrpSpPr/>
          <p:nvPr/>
        </p:nvGrpSpPr>
        <p:grpSpPr>
          <a:xfrm>
            <a:off x="9782945" y="2968837"/>
            <a:ext cx="1998043" cy="2393775"/>
            <a:chOff x="673526" y="2759287"/>
            <a:chExt cx="1998043" cy="2393775"/>
          </a:xfrm>
        </p:grpSpPr>
        <p:grpSp>
          <p:nvGrpSpPr>
            <p:cNvPr id="80" name="组合 79"/>
            <p:cNvGrpSpPr/>
            <p:nvPr/>
          </p:nvGrpSpPr>
          <p:grpSpPr>
            <a:xfrm>
              <a:off x="807866" y="3067257"/>
              <a:ext cx="1863703" cy="1275986"/>
              <a:chOff x="807866" y="3067257"/>
              <a:chExt cx="1863703" cy="1275986"/>
            </a:xfrm>
          </p:grpSpPr>
          <p:sp>
            <p:nvSpPr>
              <p:cNvPr id="85" name="文本框 84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5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0" name="文本框 99"/>
              <p:cNvSpPr txBox="1"/>
              <p:nvPr/>
            </p:nvSpPr>
            <p:spPr>
              <a:xfrm>
                <a:off x="816745" y="3729549"/>
                <a:ext cx="1583419" cy="6136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81" name="组合 80"/>
            <p:cNvGrpSpPr/>
            <p:nvPr/>
          </p:nvGrpSpPr>
          <p:grpSpPr>
            <a:xfrm>
              <a:off x="673526" y="2759287"/>
              <a:ext cx="134340" cy="2393775"/>
              <a:chOff x="673526" y="2759287"/>
              <a:chExt cx="134340" cy="2393775"/>
            </a:xfrm>
          </p:grpSpPr>
          <p:sp>
            <p:nvSpPr>
              <p:cNvPr id="82" name="椭圆 81"/>
              <p:cNvSpPr/>
              <p:nvPr/>
            </p:nvSpPr>
            <p:spPr>
              <a:xfrm>
                <a:off x="673526" y="5018722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3" name="椭圆 82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84" name="直接连接符 83"/>
              <p:cNvCxnSpPr/>
              <p:nvPr/>
            </p:nvCxnSpPr>
            <p:spPr>
              <a:xfrm flipV="1">
                <a:off x="740696" y="2894047"/>
                <a:ext cx="0" cy="2151636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1" name="文本框 100"/>
          <p:cNvSpPr txBox="1"/>
          <p:nvPr/>
        </p:nvSpPr>
        <p:spPr>
          <a:xfrm>
            <a:off x="233513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2017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2" name="文本框 101"/>
          <p:cNvSpPr txBox="1"/>
          <p:nvPr/>
        </p:nvSpPr>
        <p:spPr>
          <a:xfrm>
            <a:off x="2537235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2018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4840957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2019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4" name="文本框 103"/>
          <p:cNvSpPr txBox="1"/>
          <p:nvPr/>
        </p:nvSpPr>
        <p:spPr>
          <a:xfrm>
            <a:off x="7161363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2020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9473427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2021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5161068" y="2968837"/>
            <a:ext cx="1998043" cy="2393775"/>
            <a:chOff x="673526" y="2759287"/>
            <a:chExt cx="1998043" cy="2393775"/>
          </a:xfrm>
        </p:grpSpPr>
        <p:grpSp>
          <p:nvGrpSpPr>
            <p:cNvPr id="107" name="组合 106"/>
            <p:cNvGrpSpPr/>
            <p:nvPr/>
          </p:nvGrpSpPr>
          <p:grpSpPr>
            <a:xfrm>
              <a:off x="807866" y="3067257"/>
              <a:ext cx="1863703" cy="1275986"/>
              <a:chOff x="807866" y="3067257"/>
              <a:chExt cx="1863703" cy="1275986"/>
            </a:xfrm>
          </p:grpSpPr>
          <p:sp>
            <p:nvSpPr>
              <p:cNvPr id="112" name="文本框 111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3" name="文本框 112"/>
              <p:cNvSpPr txBox="1"/>
              <p:nvPr/>
            </p:nvSpPr>
            <p:spPr>
              <a:xfrm>
                <a:off x="816745" y="3729549"/>
                <a:ext cx="1583419" cy="6136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08" name="组合 107"/>
            <p:cNvGrpSpPr/>
            <p:nvPr/>
          </p:nvGrpSpPr>
          <p:grpSpPr>
            <a:xfrm>
              <a:off x="673526" y="2759287"/>
              <a:ext cx="134340" cy="2393775"/>
              <a:chOff x="673526" y="2759287"/>
              <a:chExt cx="134340" cy="2393775"/>
            </a:xfrm>
          </p:grpSpPr>
          <p:sp>
            <p:nvSpPr>
              <p:cNvPr id="109" name="椭圆 108"/>
              <p:cNvSpPr/>
              <p:nvPr/>
            </p:nvSpPr>
            <p:spPr>
              <a:xfrm>
                <a:off x="673526" y="5018722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0" name="椭圆 109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11" name="直接连接符 110"/>
              <p:cNvCxnSpPr/>
              <p:nvPr/>
            </p:nvCxnSpPr>
            <p:spPr>
              <a:xfrm flipV="1">
                <a:off x="740696" y="2894047"/>
                <a:ext cx="0" cy="2151636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4" name="组合 113"/>
          <p:cNvGrpSpPr/>
          <p:nvPr/>
        </p:nvGrpSpPr>
        <p:grpSpPr>
          <a:xfrm>
            <a:off x="539192" y="2968837"/>
            <a:ext cx="1998043" cy="2393775"/>
            <a:chOff x="673526" y="2759287"/>
            <a:chExt cx="1998043" cy="2393775"/>
          </a:xfrm>
        </p:grpSpPr>
        <p:grpSp>
          <p:nvGrpSpPr>
            <p:cNvPr id="115" name="组合 114"/>
            <p:cNvGrpSpPr/>
            <p:nvPr/>
          </p:nvGrpSpPr>
          <p:grpSpPr>
            <a:xfrm>
              <a:off x="807866" y="3067257"/>
              <a:ext cx="1863703" cy="1275986"/>
              <a:chOff x="807866" y="3067257"/>
              <a:chExt cx="1863703" cy="1275986"/>
            </a:xfrm>
          </p:grpSpPr>
          <p:sp>
            <p:nvSpPr>
              <p:cNvPr id="120" name="文本框 119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1" name="文本框 120"/>
              <p:cNvSpPr txBox="1"/>
              <p:nvPr/>
            </p:nvSpPr>
            <p:spPr>
              <a:xfrm>
                <a:off x="816745" y="3729549"/>
                <a:ext cx="1583419" cy="6136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16" name="组合 115"/>
            <p:cNvGrpSpPr/>
            <p:nvPr/>
          </p:nvGrpSpPr>
          <p:grpSpPr>
            <a:xfrm>
              <a:off x="673526" y="2759287"/>
              <a:ext cx="134340" cy="2393775"/>
              <a:chOff x="673526" y="2759287"/>
              <a:chExt cx="134340" cy="2393775"/>
            </a:xfrm>
          </p:grpSpPr>
          <p:sp>
            <p:nvSpPr>
              <p:cNvPr id="117" name="椭圆 116"/>
              <p:cNvSpPr/>
              <p:nvPr/>
            </p:nvSpPr>
            <p:spPr>
              <a:xfrm>
                <a:off x="673526" y="5018722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8" name="椭圆 117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19" name="直接连接符 118"/>
              <p:cNvCxnSpPr/>
              <p:nvPr/>
            </p:nvCxnSpPr>
            <p:spPr>
              <a:xfrm flipV="1">
                <a:off x="740696" y="2894047"/>
                <a:ext cx="0" cy="2151636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2" name="组合 121"/>
          <p:cNvGrpSpPr/>
          <p:nvPr/>
        </p:nvGrpSpPr>
        <p:grpSpPr>
          <a:xfrm>
            <a:off x="2850130" y="2425912"/>
            <a:ext cx="1998043" cy="2936700"/>
            <a:chOff x="673526" y="2759287"/>
            <a:chExt cx="1998043" cy="2936700"/>
          </a:xfrm>
        </p:grpSpPr>
        <p:grpSp>
          <p:nvGrpSpPr>
            <p:cNvPr id="123" name="组合 122"/>
            <p:cNvGrpSpPr/>
            <p:nvPr/>
          </p:nvGrpSpPr>
          <p:grpSpPr>
            <a:xfrm>
              <a:off x="807866" y="3067257"/>
              <a:ext cx="1863703" cy="1829984"/>
              <a:chOff x="807866" y="3067257"/>
              <a:chExt cx="1863703" cy="1829984"/>
            </a:xfrm>
          </p:grpSpPr>
          <p:sp>
            <p:nvSpPr>
              <p:cNvPr id="136" name="文本框 135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8" name="文本框 137"/>
              <p:cNvSpPr txBox="1"/>
              <p:nvPr/>
            </p:nvSpPr>
            <p:spPr>
              <a:xfrm>
                <a:off x="816745" y="3729549"/>
                <a:ext cx="1583419" cy="11676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</a:t>
                </a:r>
                <a:r>
                  <a:rPr kumimoji="1" lang="en-US" altLang="zh-CN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而是看到了这句话在当下的价值。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24" name="组合 123"/>
            <p:cNvGrpSpPr/>
            <p:nvPr/>
          </p:nvGrpSpPr>
          <p:grpSpPr>
            <a:xfrm>
              <a:off x="673526" y="2759287"/>
              <a:ext cx="134340" cy="2936700"/>
              <a:chOff x="673526" y="2759287"/>
              <a:chExt cx="134340" cy="2936700"/>
            </a:xfrm>
          </p:grpSpPr>
          <p:sp>
            <p:nvSpPr>
              <p:cNvPr id="125" name="椭圆 124"/>
              <p:cNvSpPr/>
              <p:nvPr/>
            </p:nvSpPr>
            <p:spPr>
              <a:xfrm>
                <a:off x="673526" y="5561647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6" name="椭圆 125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27" name="直接连接符 126"/>
              <p:cNvCxnSpPr>
                <a:stCxn id="125" idx="0"/>
              </p:cNvCxnSpPr>
              <p:nvPr/>
            </p:nvCxnSpPr>
            <p:spPr>
              <a:xfrm flipV="1">
                <a:off x="740696" y="2894047"/>
                <a:ext cx="0" cy="2667600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39" name="组合 138"/>
          <p:cNvGrpSpPr/>
          <p:nvPr/>
        </p:nvGrpSpPr>
        <p:grpSpPr>
          <a:xfrm>
            <a:off x="7472006" y="2425912"/>
            <a:ext cx="1998043" cy="2936700"/>
            <a:chOff x="673526" y="2759287"/>
            <a:chExt cx="1998043" cy="2936700"/>
          </a:xfrm>
        </p:grpSpPr>
        <p:grpSp>
          <p:nvGrpSpPr>
            <p:cNvPr id="140" name="组合 139"/>
            <p:cNvGrpSpPr/>
            <p:nvPr/>
          </p:nvGrpSpPr>
          <p:grpSpPr>
            <a:xfrm>
              <a:off x="807866" y="3067257"/>
              <a:ext cx="1863703" cy="1552985"/>
              <a:chOff x="807866" y="3067257"/>
              <a:chExt cx="1863703" cy="1552985"/>
            </a:xfrm>
          </p:grpSpPr>
          <p:sp>
            <p:nvSpPr>
              <p:cNvPr id="145" name="文本框 144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4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46" name="文本框 145"/>
              <p:cNvSpPr txBox="1"/>
              <p:nvPr/>
            </p:nvSpPr>
            <p:spPr>
              <a:xfrm>
                <a:off x="816745" y="3729549"/>
                <a:ext cx="1583419" cy="8906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</a:t>
                </a:r>
                <a:r>
                  <a:rPr kumimoji="1" lang="en-US" altLang="zh-CN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而是看到了。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41" name="组合 140"/>
            <p:cNvGrpSpPr/>
            <p:nvPr/>
          </p:nvGrpSpPr>
          <p:grpSpPr>
            <a:xfrm>
              <a:off x="673526" y="2759287"/>
              <a:ext cx="134340" cy="2936700"/>
              <a:chOff x="673526" y="2759287"/>
              <a:chExt cx="134340" cy="2936700"/>
            </a:xfrm>
          </p:grpSpPr>
          <p:sp>
            <p:nvSpPr>
              <p:cNvPr id="142" name="椭圆 141"/>
              <p:cNvSpPr/>
              <p:nvPr/>
            </p:nvSpPr>
            <p:spPr>
              <a:xfrm>
                <a:off x="673526" y="5561647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43" name="椭圆 142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44" name="直接连接符 143"/>
              <p:cNvCxnSpPr>
                <a:stCxn id="142" idx="0"/>
              </p:cNvCxnSpPr>
              <p:nvPr/>
            </p:nvCxnSpPr>
            <p:spPr>
              <a:xfrm flipV="1">
                <a:off x="740696" y="2894047"/>
                <a:ext cx="0" cy="2667600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直线连接符 11"/>
          <p:cNvCxnSpPr/>
          <p:nvPr/>
        </p:nvCxnSpPr>
        <p:spPr>
          <a:xfrm>
            <a:off x="-826" y="5298982"/>
            <a:ext cx="12192000" cy="0"/>
          </a:xfrm>
          <a:prstGeom prst="line">
            <a:avLst/>
          </a:prstGeom>
          <a:ln w="19050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8" name="组合 127"/>
          <p:cNvGrpSpPr/>
          <p:nvPr/>
        </p:nvGrpSpPr>
        <p:grpSpPr>
          <a:xfrm>
            <a:off x="9782945" y="2968837"/>
            <a:ext cx="1998043" cy="2393775"/>
            <a:chOff x="673526" y="2759287"/>
            <a:chExt cx="1998043" cy="2393775"/>
          </a:xfrm>
        </p:grpSpPr>
        <p:grpSp>
          <p:nvGrpSpPr>
            <p:cNvPr id="129" name="组合 128"/>
            <p:cNvGrpSpPr/>
            <p:nvPr/>
          </p:nvGrpSpPr>
          <p:grpSpPr>
            <a:xfrm>
              <a:off x="807866" y="3067257"/>
              <a:ext cx="1863703" cy="1275986"/>
              <a:chOff x="807866" y="3067257"/>
              <a:chExt cx="1863703" cy="1275986"/>
            </a:xfrm>
          </p:grpSpPr>
          <p:sp>
            <p:nvSpPr>
              <p:cNvPr id="134" name="文本框 133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5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5" name="文本框 134"/>
              <p:cNvSpPr txBox="1"/>
              <p:nvPr/>
            </p:nvSpPr>
            <p:spPr>
              <a:xfrm>
                <a:off x="816745" y="3729549"/>
                <a:ext cx="1583419" cy="6136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30" name="组合 129"/>
            <p:cNvGrpSpPr/>
            <p:nvPr/>
          </p:nvGrpSpPr>
          <p:grpSpPr>
            <a:xfrm>
              <a:off x="673526" y="2759287"/>
              <a:ext cx="134340" cy="2393775"/>
              <a:chOff x="673526" y="2759287"/>
              <a:chExt cx="134340" cy="2393775"/>
            </a:xfrm>
          </p:grpSpPr>
          <p:sp>
            <p:nvSpPr>
              <p:cNvPr id="131" name="椭圆 130"/>
              <p:cNvSpPr/>
              <p:nvPr/>
            </p:nvSpPr>
            <p:spPr>
              <a:xfrm>
                <a:off x="673526" y="5018722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2" name="椭圆 131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33" name="直接连接符 132"/>
              <p:cNvCxnSpPr/>
              <p:nvPr/>
            </p:nvCxnSpPr>
            <p:spPr>
              <a:xfrm flipV="1">
                <a:off x="740696" y="2894047"/>
                <a:ext cx="0" cy="2151636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137" name="图片 1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sp>
        <p:nvSpPr>
          <p:cNvPr id="51" name="文本框 50"/>
          <p:cNvSpPr txBox="1"/>
          <p:nvPr/>
        </p:nvSpPr>
        <p:spPr>
          <a:xfrm>
            <a:off x="233513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2017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2537235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2018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840957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2019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7161363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2020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9473427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2021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9" name="组合 58"/>
          <p:cNvGrpSpPr/>
          <p:nvPr/>
        </p:nvGrpSpPr>
        <p:grpSpPr>
          <a:xfrm>
            <a:off x="5161068" y="2968837"/>
            <a:ext cx="1998043" cy="2393775"/>
            <a:chOff x="673526" y="2759287"/>
            <a:chExt cx="1998043" cy="2393775"/>
          </a:xfrm>
        </p:grpSpPr>
        <p:grpSp>
          <p:nvGrpSpPr>
            <p:cNvPr id="60" name="组合 59"/>
            <p:cNvGrpSpPr/>
            <p:nvPr/>
          </p:nvGrpSpPr>
          <p:grpSpPr>
            <a:xfrm>
              <a:off x="807866" y="3067257"/>
              <a:ext cx="1863703" cy="1275986"/>
              <a:chOff x="807866" y="3067257"/>
              <a:chExt cx="1863703" cy="1275986"/>
            </a:xfrm>
          </p:grpSpPr>
          <p:sp>
            <p:nvSpPr>
              <p:cNvPr id="65" name="文本框 64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6" name="文本框 65"/>
              <p:cNvSpPr txBox="1"/>
              <p:nvPr/>
            </p:nvSpPr>
            <p:spPr>
              <a:xfrm>
                <a:off x="816745" y="3729549"/>
                <a:ext cx="1583419" cy="6136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61" name="组合 60"/>
            <p:cNvGrpSpPr/>
            <p:nvPr/>
          </p:nvGrpSpPr>
          <p:grpSpPr>
            <a:xfrm>
              <a:off x="673526" y="2759287"/>
              <a:ext cx="134340" cy="2393775"/>
              <a:chOff x="673526" y="2759287"/>
              <a:chExt cx="134340" cy="2393775"/>
            </a:xfrm>
          </p:grpSpPr>
          <p:sp>
            <p:nvSpPr>
              <p:cNvPr id="62" name="椭圆 61"/>
              <p:cNvSpPr/>
              <p:nvPr/>
            </p:nvSpPr>
            <p:spPr>
              <a:xfrm>
                <a:off x="673526" y="5018722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3" name="椭圆 62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64" name="直接连接符 63"/>
              <p:cNvCxnSpPr/>
              <p:nvPr/>
            </p:nvCxnSpPr>
            <p:spPr>
              <a:xfrm flipV="1">
                <a:off x="740696" y="2894047"/>
                <a:ext cx="0" cy="2151636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7" name="组合 66"/>
          <p:cNvGrpSpPr/>
          <p:nvPr/>
        </p:nvGrpSpPr>
        <p:grpSpPr>
          <a:xfrm>
            <a:off x="539192" y="2968837"/>
            <a:ext cx="1998043" cy="2393775"/>
            <a:chOff x="673526" y="2759287"/>
            <a:chExt cx="1998043" cy="2393775"/>
          </a:xfrm>
        </p:grpSpPr>
        <p:grpSp>
          <p:nvGrpSpPr>
            <p:cNvPr id="68" name="组合 67"/>
            <p:cNvGrpSpPr/>
            <p:nvPr/>
          </p:nvGrpSpPr>
          <p:grpSpPr>
            <a:xfrm>
              <a:off x="807866" y="3067257"/>
              <a:ext cx="1863703" cy="1275986"/>
              <a:chOff x="807866" y="3067257"/>
              <a:chExt cx="1863703" cy="1275986"/>
            </a:xfrm>
          </p:grpSpPr>
          <p:sp>
            <p:nvSpPr>
              <p:cNvPr id="73" name="文本框 72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4" name="文本框 73"/>
              <p:cNvSpPr txBox="1"/>
              <p:nvPr/>
            </p:nvSpPr>
            <p:spPr>
              <a:xfrm>
                <a:off x="816745" y="3729549"/>
                <a:ext cx="1583419" cy="6136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69" name="组合 68"/>
            <p:cNvGrpSpPr/>
            <p:nvPr/>
          </p:nvGrpSpPr>
          <p:grpSpPr>
            <a:xfrm>
              <a:off x="673526" y="2759287"/>
              <a:ext cx="134340" cy="2393775"/>
              <a:chOff x="673526" y="2759287"/>
              <a:chExt cx="134340" cy="2393775"/>
            </a:xfrm>
          </p:grpSpPr>
          <p:sp>
            <p:nvSpPr>
              <p:cNvPr id="70" name="椭圆 69"/>
              <p:cNvSpPr/>
              <p:nvPr/>
            </p:nvSpPr>
            <p:spPr>
              <a:xfrm>
                <a:off x="673526" y="5018722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1" name="椭圆 70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72" name="直接连接符 71"/>
              <p:cNvCxnSpPr/>
              <p:nvPr/>
            </p:nvCxnSpPr>
            <p:spPr>
              <a:xfrm flipV="1">
                <a:off x="740696" y="2894047"/>
                <a:ext cx="0" cy="2151636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5" name="组合 74"/>
          <p:cNvGrpSpPr/>
          <p:nvPr/>
        </p:nvGrpSpPr>
        <p:grpSpPr>
          <a:xfrm>
            <a:off x="2850130" y="2425912"/>
            <a:ext cx="1998043" cy="2936700"/>
            <a:chOff x="673526" y="2759287"/>
            <a:chExt cx="1998043" cy="2936700"/>
          </a:xfrm>
        </p:grpSpPr>
        <p:grpSp>
          <p:nvGrpSpPr>
            <p:cNvPr id="76" name="组合 75"/>
            <p:cNvGrpSpPr/>
            <p:nvPr/>
          </p:nvGrpSpPr>
          <p:grpSpPr>
            <a:xfrm>
              <a:off x="807866" y="3067257"/>
              <a:ext cx="1863703" cy="1829984"/>
              <a:chOff x="807866" y="3067257"/>
              <a:chExt cx="1863703" cy="1829984"/>
            </a:xfrm>
          </p:grpSpPr>
          <p:sp>
            <p:nvSpPr>
              <p:cNvPr id="90" name="文本框 89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91" name="文本框 90"/>
              <p:cNvSpPr txBox="1"/>
              <p:nvPr/>
            </p:nvSpPr>
            <p:spPr>
              <a:xfrm>
                <a:off x="816745" y="3729549"/>
                <a:ext cx="1583419" cy="11676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</a:t>
                </a:r>
                <a:r>
                  <a:rPr kumimoji="1" lang="en-US" altLang="zh-CN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而是看到了这句话在当下的价值。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86" name="组合 85"/>
            <p:cNvGrpSpPr/>
            <p:nvPr/>
          </p:nvGrpSpPr>
          <p:grpSpPr>
            <a:xfrm>
              <a:off x="673526" y="2759287"/>
              <a:ext cx="134340" cy="2936700"/>
              <a:chOff x="673526" y="2759287"/>
              <a:chExt cx="134340" cy="2936700"/>
            </a:xfrm>
          </p:grpSpPr>
          <p:sp>
            <p:nvSpPr>
              <p:cNvPr id="87" name="椭圆 86"/>
              <p:cNvSpPr/>
              <p:nvPr/>
            </p:nvSpPr>
            <p:spPr>
              <a:xfrm>
                <a:off x="673526" y="5561647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89" name="直接连接符 88"/>
              <p:cNvCxnSpPr>
                <a:stCxn id="87" idx="0"/>
              </p:cNvCxnSpPr>
              <p:nvPr/>
            </p:nvCxnSpPr>
            <p:spPr>
              <a:xfrm flipV="1">
                <a:off x="740696" y="2894047"/>
                <a:ext cx="0" cy="2667600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2" name="组合 91"/>
          <p:cNvGrpSpPr/>
          <p:nvPr/>
        </p:nvGrpSpPr>
        <p:grpSpPr>
          <a:xfrm>
            <a:off x="7472006" y="2425912"/>
            <a:ext cx="1998043" cy="2936700"/>
            <a:chOff x="673526" y="2759287"/>
            <a:chExt cx="1998043" cy="2936700"/>
          </a:xfrm>
        </p:grpSpPr>
        <p:grpSp>
          <p:nvGrpSpPr>
            <p:cNvPr id="93" name="组合 92"/>
            <p:cNvGrpSpPr/>
            <p:nvPr/>
          </p:nvGrpSpPr>
          <p:grpSpPr>
            <a:xfrm>
              <a:off x="807866" y="3067257"/>
              <a:ext cx="1863703" cy="1552985"/>
              <a:chOff x="807866" y="3067257"/>
              <a:chExt cx="1863703" cy="1552985"/>
            </a:xfrm>
          </p:grpSpPr>
          <p:sp>
            <p:nvSpPr>
              <p:cNvPr id="98" name="文本框 97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4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99" name="文本框 98"/>
              <p:cNvSpPr txBox="1"/>
              <p:nvPr/>
            </p:nvSpPr>
            <p:spPr>
              <a:xfrm>
                <a:off x="816745" y="3729549"/>
                <a:ext cx="1583419" cy="8906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</a:t>
                </a:r>
                <a:r>
                  <a:rPr kumimoji="1" lang="en-US" altLang="zh-CN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而是看到了。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94" name="组合 93"/>
            <p:cNvGrpSpPr/>
            <p:nvPr/>
          </p:nvGrpSpPr>
          <p:grpSpPr>
            <a:xfrm>
              <a:off x="673526" y="2759287"/>
              <a:ext cx="134340" cy="2936700"/>
              <a:chOff x="673526" y="2759287"/>
              <a:chExt cx="134340" cy="2936700"/>
            </a:xfrm>
          </p:grpSpPr>
          <p:sp>
            <p:nvSpPr>
              <p:cNvPr id="95" name="椭圆 94"/>
              <p:cNvSpPr/>
              <p:nvPr/>
            </p:nvSpPr>
            <p:spPr>
              <a:xfrm>
                <a:off x="673526" y="5561647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96" name="椭圆 95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97" name="直接连接符 96"/>
              <p:cNvCxnSpPr>
                <a:stCxn id="95" idx="0"/>
              </p:cNvCxnSpPr>
              <p:nvPr/>
            </p:nvCxnSpPr>
            <p:spPr>
              <a:xfrm flipV="1">
                <a:off x="740696" y="2894047"/>
                <a:ext cx="0" cy="2667600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7" name="文本框 56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bg1"/>
                </a:solidFill>
                <a:latin typeface="+mj-ea"/>
                <a:ea typeface="+mj-ea"/>
              </a:rPr>
              <a:t>标题内容简述</a:t>
            </a:r>
            <a:endParaRPr kumimoji="1" lang="zh-CN" altLang="en-US" sz="3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cxnSp>
        <p:nvCxnSpPr>
          <p:cNvPr id="58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文本框 77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bg1"/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、图表页</a:t>
            </a:r>
            <a:endParaRPr lang="zh-CN" altLang="en-US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416520" y="337113"/>
            <a:ext cx="44196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图表内容简述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16520" y="758311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59" name="表格 2"/>
          <p:cNvGraphicFramePr>
            <a:graphicFrameLocks noGrp="1"/>
          </p:cNvGraphicFramePr>
          <p:nvPr/>
        </p:nvGraphicFramePr>
        <p:xfrm>
          <a:off x="1116287" y="1733749"/>
          <a:ext cx="9738509" cy="368236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216163"/>
                <a:gridCol w="1796603"/>
                <a:gridCol w="1842670"/>
                <a:gridCol w="1234589"/>
                <a:gridCol w="1787390"/>
                <a:gridCol w="1861094"/>
              </a:tblGrid>
              <a:tr h="59118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线路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调整前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调整后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线路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调整前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调整后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416520" y="337113"/>
            <a:ext cx="44196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图表内容简述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16520" y="758311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59" name="表格 2"/>
          <p:cNvGraphicFramePr>
            <a:graphicFrameLocks noGrp="1"/>
          </p:cNvGraphicFramePr>
          <p:nvPr/>
        </p:nvGraphicFramePr>
        <p:xfrm>
          <a:off x="1116287" y="1714064"/>
          <a:ext cx="9738509" cy="3701781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216163"/>
                <a:gridCol w="1796603"/>
                <a:gridCol w="1842670"/>
                <a:gridCol w="1234589"/>
                <a:gridCol w="1787390"/>
                <a:gridCol w="1861094"/>
              </a:tblGrid>
              <a:tr h="61080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线路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调整前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调整后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线路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调整前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调整后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416520" y="337113"/>
            <a:ext cx="44196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图表配色建议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16520" y="758311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pSp>
        <p:nvGrpSpPr>
          <p:cNvPr id="2" name="组合 1"/>
          <p:cNvGrpSpPr/>
          <p:nvPr/>
        </p:nvGrpSpPr>
        <p:grpSpPr>
          <a:xfrm>
            <a:off x="1778646" y="2490810"/>
            <a:ext cx="8634707" cy="2078734"/>
            <a:chOff x="3885094" y="264500"/>
            <a:chExt cx="4755130" cy="1144758"/>
          </a:xfrm>
        </p:grpSpPr>
        <p:sp>
          <p:nvSpPr>
            <p:cNvPr id="6" name="矩形: 圆角 5"/>
            <p:cNvSpPr/>
            <p:nvPr/>
          </p:nvSpPr>
          <p:spPr>
            <a:xfrm>
              <a:off x="3885094" y="26450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8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  <a:ea typeface="+mj-ea"/>
                </a:rPr>
                <a:t>#800000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  <a:ea typeface="+mj-ea"/>
              </a:endParaRPr>
            </a:p>
          </p:txBody>
        </p:sp>
        <p:sp>
          <p:nvSpPr>
            <p:cNvPr id="14" name="矩形: 圆角 13"/>
            <p:cNvSpPr/>
            <p:nvPr/>
          </p:nvSpPr>
          <p:spPr>
            <a:xfrm>
              <a:off x="4836120" y="26450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#C00000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5" name="矩形: 圆角 14"/>
            <p:cNvSpPr/>
            <p:nvPr/>
          </p:nvSpPr>
          <p:spPr>
            <a:xfrm>
              <a:off x="5787146" y="26450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EE121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#EE1212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6" name="矩形: 圆角 15"/>
            <p:cNvSpPr/>
            <p:nvPr/>
          </p:nvSpPr>
          <p:spPr>
            <a:xfrm>
              <a:off x="6738172" y="26450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EE6E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#EE6E4A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7" name="矩形: 圆角 16"/>
            <p:cNvSpPr/>
            <p:nvPr/>
          </p:nvSpPr>
          <p:spPr>
            <a:xfrm>
              <a:off x="7689198" y="26450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F49E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#F49E86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8" name="矩形: 圆角 17"/>
            <p:cNvSpPr/>
            <p:nvPr/>
          </p:nvSpPr>
          <p:spPr>
            <a:xfrm>
              <a:off x="3885094" y="85959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A64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#A64D00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9" name="矩形: 圆角 18"/>
            <p:cNvSpPr/>
            <p:nvPr/>
          </p:nvSpPr>
          <p:spPr>
            <a:xfrm>
              <a:off x="4836120" y="85959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BF7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#BF7230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20" name="矩形: 圆角 19"/>
            <p:cNvSpPr/>
            <p:nvPr/>
          </p:nvSpPr>
          <p:spPr>
            <a:xfrm>
              <a:off x="5787146" y="85959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FF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#FF7600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21" name="矩形: 圆角 20"/>
            <p:cNvSpPr/>
            <p:nvPr/>
          </p:nvSpPr>
          <p:spPr>
            <a:xfrm>
              <a:off x="6738172" y="85959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FF98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#FF9840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22" name="矩形: 圆角 21"/>
            <p:cNvSpPr/>
            <p:nvPr/>
          </p:nvSpPr>
          <p:spPr>
            <a:xfrm>
              <a:off x="7689198" y="85959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FFB4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#FFB473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416520" y="337113"/>
            <a:ext cx="44196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图表内容</a:t>
            </a:r>
            <a:r>
              <a:rPr kumimoji="1"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柱状图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16520" y="758311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4" name="图表 3"/>
          <p:cNvGraphicFramePr/>
          <p:nvPr/>
        </p:nvGraphicFramePr>
        <p:xfrm>
          <a:off x="1226746" y="1417864"/>
          <a:ext cx="9738509" cy="46818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416520" y="337113"/>
            <a:ext cx="44196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图表内容</a:t>
            </a:r>
            <a:r>
              <a:rPr kumimoji="1"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柱状图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16520" y="758311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The content of the title</a:t>
            </a:r>
            <a:endParaRPr kumimoji="1" lang="zh-CN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6" name="图表 5"/>
          <p:cNvGraphicFramePr/>
          <p:nvPr/>
        </p:nvGraphicFramePr>
        <p:xfrm>
          <a:off x="1238249" y="1323976"/>
          <a:ext cx="9738509" cy="47757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416520" y="337113"/>
            <a:ext cx="44196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图表内容</a:t>
            </a:r>
            <a:r>
              <a:rPr kumimoji="1"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饼状图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16520" y="758311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pic>
        <p:nvPicPr>
          <p:cNvPr id="4" name="图表 3"/>
          <p:cNvPicPr>
            <a:picLocks noGrp="1" noRot="1" noChangeAspect="1" noMove="1" noResize="1" noEditPoints="1" noAdjustHandles="1" noChangeArrowheads="1" noChangeShapeType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895" y="1400435"/>
            <a:ext cx="7572210" cy="4699254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、尾页</a:t>
            </a:r>
            <a:endParaRPr lang="zh-CN" altLang="en-US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80D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0" y="2680382"/>
            <a:ext cx="121919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THANK YOU</a:t>
            </a:r>
            <a:endParaRPr kumimoji="1" lang="zh-CN" altLang="en-US" sz="6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3" name="图形 1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97313" y="3723592"/>
            <a:ext cx="1197375" cy="200978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0" y="2680382"/>
            <a:ext cx="121919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THANK YOU</a:t>
            </a:r>
            <a:endParaRPr kumimoji="1" lang="zh-CN" altLang="en-US" sz="6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97313" y="3723592"/>
            <a:ext cx="1197375" cy="200978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4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9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、背景辅助图形</a:t>
            </a:r>
            <a:endParaRPr lang="zh-CN" altLang="en-US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391923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391923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80D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44"/>
            <a:ext cx="12192000" cy="6320573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附：网易公司品牌标识</a:t>
            </a:r>
            <a:endParaRPr lang="zh-CN" altLang="en-US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 txBox="1"/>
          <p:nvPr/>
        </p:nvSpPr>
        <p:spPr>
          <a:xfrm>
            <a:off x="405790" y="60431"/>
            <a:ext cx="3428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bg1"/>
                </a:solidFill>
                <a:latin typeface="PingFang SC Medium" panose="020B0400000000000000" pitchFamily="34" charset="-122"/>
                <a:ea typeface="PingFang SC Medium" panose="020B0400000000000000" pitchFamily="34" charset="-122"/>
              </a:rPr>
              <a:t>网易品牌色</a:t>
            </a:r>
            <a:endParaRPr kumimoji="1" lang="zh-CN" altLang="en-US" b="1" dirty="0">
              <a:solidFill>
                <a:schemeClr val="bg1"/>
              </a:solidFill>
              <a:latin typeface="PingFang SC Medium" panose="020B0400000000000000" pitchFamily="34" charset="-122"/>
              <a:ea typeface="PingFang SC Medium" panose="020B0400000000000000" pitchFamily="34" charset="-122"/>
            </a:endParaRPr>
          </a:p>
        </p:txBody>
      </p:sp>
      <p:sp>
        <p:nvSpPr>
          <p:cNvPr id="13" name="矩形: 圆角 12"/>
          <p:cNvSpPr/>
          <p:nvPr>
            <p:custDataLst>
              <p:tags r:id="rId1"/>
            </p:custDataLst>
          </p:nvPr>
        </p:nvSpPr>
        <p:spPr>
          <a:xfrm>
            <a:off x="1247775" y="3145959"/>
            <a:ext cx="2586297" cy="1594016"/>
          </a:xfrm>
          <a:prstGeom prst="roundRect">
            <a:avLst>
              <a:gd name="adj" fmla="val 330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4" name="文本框 13"/>
          <p:cNvSpPr txBox="1"/>
          <p:nvPr>
            <p:custDataLst>
              <p:tags r:id="rId2"/>
            </p:custDataLst>
          </p:nvPr>
        </p:nvSpPr>
        <p:spPr>
          <a:xfrm>
            <a:off x="5619485" y="2167104"/>
            <a:ext cx="94676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黑色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文本框 14"/>
          <p:cNvSpPr txBox="1"/>
          <p:nvPr>
            <p:custDataLst>
              <p:tags r:id="rId3"/>
            </p:custDataLst>
          </p:nvPr>
        </p:nvSpPr>
        <p:spPr>
          <a:xfrm>
            <a:off x="1727978" y="2167104"/>
            <a:ext cx="16258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红色</a:t>
            </a:r>
            <a:endParaRPr kumimoji="1" lang="en-US" altLang="zh-CN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>
            <p:custDataLst>
              <p:tags r:id="rId4"/>
            </p:custDataLst>
          </p:nvPr>
        </p:nvSpPr>
        <p:spPr>
          <a:xfrm>
            <a:off x="9172315" y="2167104"/>
            <a:ext cx="94676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白色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: 圆角 17"/>
          <p:cNvSpPr/>
          <p:nvPr>
            <p:custDataLst>
              <p:tags r:id="rId5"/>
            </p:custDataLst>
          </p:nvPr>
        </p:nvSpPr>
        <p:spPr>
          <a:xfrm>
            <a:off x="4797471" y="3145958"/>
            <a:ext cx="2586297" cy="1594016"/>
          </a:xfrm>
          <a:prstGeom prst="roundRect">
            <a:avLst>
              <a:gd name="adj" fmla="val 3307"/>
            </a:avLst>
          </a:prstGeom>
          <a:solidFill>
            <a:srgbClr val="1A1A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9" name="矩形: 圆角 18"/>
          <p:cNvSpPr/>
          <p:nvPr>
            <p:custDataLst>
              <p:tags r:id="rId6"/>
            </p:custDataLst>
          </p:nvPr>
        </p:nvSpPr>
        <p:spPr>
          <a:xfrm>
            <a:off x="8331636" y="3145957"/>
            <a:ext cx="2586297" cy="1594016"/>
          </a:xfrm>
          <a:prstGeom prst="roundRect">
            <a:avLst>
              <a:gd name="adj" fmla="val 3307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20" name="文本框 19"/>
          <p:cNvSpPr txBox="1"/>
          <p:nvPr>
            <p:custDataLst>
              <p:tags r:id="rId7"/>
            </p:custDataLst>
          </p:nvPr>
        </p:nvSpPr>
        <p:spPr>
          <a:xfrm>
            <a:off x="1727978" y="2629207"/>
            <a:ext cx="1625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#C00000</a:t>
            </a:r>
            <a:endParaRPr kumimoji="1"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文本框 20"/>
          <p:cNvSpPr txBox="1"/>
          <p:nvPr>
            <p:custDataLst>
              <p:tags r:id="rId8"/>
            </p:custDataLst>
          </p:nvPr>
        </p:nvSpPr>
        <p:spPr>
          <a:xfrm>
            <a:off x="5277674" y="2631676"/>
            <a:ext cx="1625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#1A1A1B</a:t>
            </a:r>
            <a:endParaRPr kumimoji="1"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/>
          <p:cNvSpPr txBox="1"/>
          <p:nvPr>
            <p:custDataLst>
              <p:tags r:id="rId9"/>
            </p:custDataLst>
          </p:nvPr>
        </p:nvSpPr>
        <p:spPr>
          <a:xfrm>
            <a:off x="8811839" y="2644158"/>
            <a:ext cx="1625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#FFFFFF</a:t>
            </a:r>
            <a:endParaRPr kumimoji="1"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网易品牌色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3" name="直线连接符 5"/>
          <p:cNvCxnSpPr/>
          <p:nvPr/>
        </p:nvCxnSpPr>
        <p:spPr>
          <a:xfrm>
            <a:off x="514179" y="1101951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 26"/>
          <p:cNvSpPr txBox="1"/>
          <p:nvPr/>
        </p:nvSpPr>
        <p:spPr>
          <a:xfrm>
            <a:off x="6564139" y="2378264"/>
            <a:ext cx="22599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黑色文字颜色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6881187" y="2839929"/>
            <a:ext cx="1625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#404040</a:t>
            </a:r>
            <a:endParaRPr kumimoji="1"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015638" y="2378264"/>
            <a:ext cx="22599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红色文字颜色</a:t>
            </a:r>
            <a:endParaRPr kumimoji="1" lang="zh-CN" altLang="en-US" sz="24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3332686" y="2839929"/>
            <a:ext cx="1625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#C00000</a:t>
            </a:r>
            <a:endParaRPr kumimoji="1" lang="en-US" altLang="zh-CN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6564139" y="3670926"/>
            <a:ext cx="22599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正文字体字号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6722662" y="4132591"/>
            <a:ext cx="1942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微软雅黑</a:t>
            </a:r>
            <a:endParaRPr kumimoji="1"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kumimoji="1"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12-16</a:t>
            </a:r>
            <a:r>
              <a:rPr kumimoji="1"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endParaRPr kumimoji="1"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3015638" y="3670926"/>
            <a:ext cx="22599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标题字体字号</a:t>
            </a:r>
            <a:endParaRPr kumimoji="1" lang="zh-CN" altLang="en-US" sz="24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3332686" y="4132591"/>
            <a:ext cx="16258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微软雅黑 加粗</a:t>
            </a:r>
            <a:endParaRPr kumimoji="1" lang="en-US" altLang="zh-CN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kumimoji="1" lang="en-US" altLang="zh-CN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</a:t>
            </a:r>
            <a:r>
              <a:rPr kumimoji="1" lang="zh-CN" altLang="en-US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endParaRPr kumimoji="1" lang="en-US" altLang="zh-CN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字体</a:t>
            </a:r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字号要求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3" name="直线连接符 5"/>
          <p:cNvCxnSpPr/>
          <p:nvPr/>
        </p:nvCxnSpPr>
        <p:spPr>
          <a:xfrm>
            <a:off x="514179" y="1101951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1" y="1677906"/>
            <a:ext cx="12192000" cy="4594160"/>
            <a:chOff x="1" y="1344441"/>
            <a:chExt cx="12192000" cy="5513558"/>
          </a:xfrm>
        </p:grpSpPr>
        <p:sp>
          <p:nvSpPr>
            <p:cNvPr id="19" name="矩形 18"/>
            <p:cNvSpPr/>
            <p:nvPr/>
          </p:nvSpPr>
          <p:spPr>
            <a:xfrm>
              <a:off x="6096001" y="1344441"/>
              <a:ext cx="6096000" cy="275677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8" name="矩形 17"/>
            <p:cNvSpPr/>
            <p:nvPr/>
          </p:nvSpPr>
          <p:spPr>
            <a:xfrm>
              <a:off x="1" y="1344441"/>
              <a:ext cx="6095999" cy="275677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5" name="矩形 14"/>
            <p:cNvSpPr/>
            <p:nvPr/>
          </p:nvSpPr>
          <p:spPr>
            <a:xfrm>
              <a:off x="1" y="4101220"/>
              <a:ext cx="6095999" cy="2756779"/>
            </a:xfrm>
            <a:prstGeom prst="rect">
              <a:avLst/>
            </a:prstGeom>
            <a:solidFill>
              <a:srgbClr val="1C1C1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dirty="0">
                <a:ln>
                  <a:solidFill>
                    <a:schemeClr val="bg1"/>
                  </a:solidFill>
                </a:ln>
              </a:endParaRPr>
            </a:p>
            <a:p>
              <a:pPr algn="ctr"/>
              <a:endParaRPr lang="zh-CN" altLang="en-US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6" name="矩形 15"/>
            <p:cNvSpPr/>
            <p:nvPr/>
          </p:nvSpPr>
          <p:spPr>
            <a:xfrm>
              <a:off x="6096001" y="4101220"/>
              <a:ext cx="6096000" cy="2756779"/>
            </a:xfrm>
            <a:prstGeom prst="rect">
              <a:avLst/>
            </a:prstGeom>
            <a:solidFill>
              <a:srgbClr val="AB110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n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4" name="图形 3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462" y="2988116"/>
            <a:ext cx="4029075" cy="676275"/>
          </a:xfrm>
          <a:prstGeom prst="rect">
            <a:avLst/>
          </a:prstGeom>
        </p:spPr>
      </p:pic>
      <p:pic>
        <p:nvPicPr>
          <p:cNvPr id="10" name="图形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38080" y="5371322"/>
            <a:ext cx="4029075" cy="676275"/>
          </a:xfrm>
          <a:prstGeom prst="rect">
            <a:avLst/>
          </a:prstGeom>
        </p:spPr>
      </p:pic>
      <p:pic>
        <p:nvPicPr>
          <p:cNvPr id="20" name="图形 1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6008" y="2988116"/>
            <a:ext cx="4029075" cy="676275"/>
          </a:xfrm>
          <a:prstGeom prst="rect">
            <a:avLst/>
          </a:prstGeom>
        </p:spPr>
      </p:pic>
      <p:pic>
        <p:nvPicPr>
          <p:cNvPr id="2" name="图形 1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3461" y="5323296"/>
            <a:ext cx="4029075" cy="676275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网易品牌</a:t>
            </a:r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LOGO</a:t>
            </a:r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4" name="直线连接符 5"/>
          <p:cNvCxnSpPr/>
          <p:nvPr/>
        </p:nvCxnSpPr>
        <p:spPr>
          <a:xfrm>
            <a:off x="514179" y="1101951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: 圆顶角 14"/>
          <p:cNvSpPr/>
          <p:nvPr/>
        </p:nvSpPr>
        <p:spPr>
          <a:xfrm rot="16200000">
            <a:off x="1582045" y="900015"/>
            <a:ext cx="3476531" cy="5551382"/>
          </a:xfrm>
          <a:prstGeom prst="round2SameRect">
            <a:avLst>
              <a:gd name="adj1" fmla="val 1872"/>
              <a:gd name="adj2" fmla="val 0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3" name="矩形: 圆顶角 12"/>
          <p:cNvSpPr/>
          <p:nvPr/>
        </p:nvSpPr>
        <p:spPr>
          <a:xfrm rot="5400000">
            <a:off x="7130289" y="900016"/>
            <a:ext cx="3476532" cy="5551381"/>
          </a:xfrm>
          <a:prstGeom prst="round2SameRect">
            <a:avLst>
              <a:gd name="adj1" fmla="val 2146"/>
              <a:gd name="adj2" fmla="val 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0255" y="2599138"/>
            <a:ext cx="3753327" cy="2087404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5027" y="2599138"/>
            <a:ext cx="3753327" cy="2087404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其他辅助图形</a:t>
            </a:r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网易大楼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直线连接符 5"/>
          <p:cNvCxnSpPr/>
          <p:nvPr/>
        </p:nvCxnSpPr>
        <p:spPr>
          <a:xfrm>
            <a:off x="514179" y="1101951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2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3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4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5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6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7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8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9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0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1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2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3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4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5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6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7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18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19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20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21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22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23.xml><?xml version="1.0" encoding="utf-8"?>
<p:tagLst xmlns:p="http://schemas.openxmlformats.org/presentationml/2006/main">
  <p:tag name="TABLE_ENDDRAG_ORIGIN_RECT" val="352*121"/>
  <p:tag name="TABLE_ENDDRAG_RECT" val="46*247*352*121"/>
</p:tagLst>
</file>

<file path=ppt/tags/tag24.xml><?xml version="1.0" encoding="utf-8"?>
<p:tagLst xmlns:p="http://schemas.openxmlformats.org/presentationml/2006/main">
  <p:tag name="TABLE_ENDDRAG_ORIGIN_RECT" val="810*354"/>
  <p:tag name="TABLE_ENDDRAG_RECT" val="40*162*810*354"/>
</p:tagLst>
</file>

<file path=ppt/tags/tag25.xml><?xml version="1.0" encoding="utf-8"?>
<p:tagLst xmlns:p="http://schemas.openxmlformats.org/presentationml/2006/main">
  <p:tag name="KSO_WM_UNIT_PLACING_PICTURE_USER_VIEWPORT" val="{&quot;height&quot;:4041.7984251968505,&quot;width&quot;:19200}"/>
</p:tagLst>
</file>

<file path=ppt/tags/tag26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27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28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29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30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31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32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33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34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35.xml><?xml version="1.0" encoding="utf-8"?>
<p:tagLst xmlns:p="http://schemas.openxmlformats.org/presentationml/2006/main">
  <p:tag name="COMMONDATA" val="eyJoZGlkIjoiMzA3YmEwZTZiZTcwOGUxNGRjZDIwNzAwMzQ1ZGJkNWEifQ=="/>
</p:tagLst>
</file>

<file path=ppt/theme/theme1.xml><?xml version="1.0" encoding="utf-8"?>
<a:theme xmlns:a="http://schemas.openxmlformats.org/drawingml/2006/main" name="Office 主题​​">
  <a:themeElements>
    <a:clrScheme name="红色">
      <a:dk1>
        <a:sysClr val="windowText" lastClr="000000"/>
      </a:dk1>
      <a:lt1>
        <a:sysClr val="window" lastClr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10615</Words>
  <Application>WPS 演示</Application>
  <PresentationFormat>宽屏</PresentationFormat>
  <Paragraphs>1134</Paragraphs>
  <Slides>79</Slides>
  <Notes>30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79</vt:i4>
      </vt:variant>
    </vt:vector>
  </HeadingPairs>
  <TitlesOfParts>
    <vt:vector size="95" baseType="lpstr">
      <vt:lpstr>Arial</vt:lpstr>
      <vt:lpstr>宋体</vt:lpstr>
      <vt:lpstr>Wingdings</vt:lpstr>
      <vt:lpstr>微软雅黑</vt:lpstr>
      <vt:lpstr>Arial Unicode MS</vt:lpstr>
      <vt:lpstr>Arial Black</vt:lpstr>
      <vt:lpstr>黑体</vt:lpstr>
      <vt:lpstr>PingFang SC Regular</vt:lpstr>
      <vt:lpstr>PingFang SC Light</vt:lpstr>
      <vt:lpstr>PingFang SC Medium</vt:lpstr>
      <vt:lpstr>等线</vt:lpstr>
      <vt:lpstr>PingFang SC Light</vt:lpstr>
      <vt:lpstr>PingFang SC Medium</vt:lpstr>
      <vt:lpstr>PingFang SC Regular</vt:lpstr>
      <vt:lpstr>Liberation Mono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网易集团PPT模板</dc:title>
  <dc:creator>Netease</dc:creator>
  <cp:lastModifiedBy>吴植贤</cp:lastModifiedBy>
  <cp:revision>297</cp:revision>
  <dcterms:created xsi:type="dcterms:W3CDTF">2020-10-23T08:28:00Z</dcterms:created>
  <dcterms:modified xsi:type="dcterms:W3CDTF">2026-08-31T05:09:24Z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CBF6EA77B58649A69751C5AC90853E80</vt:lpwstr>
  </property>
  <property fmtid="{D5CDD505-2E9C-101B-9397-08002B2CF9AE}" pid="3" name="KSOProductBuildVer">
    <vt:lpwstr>2052-12.1.0.28043</vt:lpwstr>
  </property>
</Properties>
</file>