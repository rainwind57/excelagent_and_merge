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tiff" ContentType="image/tiff"/>
  <Default Extension="png" ContentType="image/png"/>
  <Default Extension="wdp" ContentType="image/vnd.ms-photo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34.svg" ContentType="image/svg+xml"/>
  <Override PartName="/ppt/media/image3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79"/>
  </p:handoutMasterIdLst>
  <p:sldIdLst>
    <p:sldId id="261" r:id="rId3"/>
    <p:sldId id="339" r:id="rId5"/>
    <p:sldId id="284" r:id="rId6"/>
    <p:sldId id="426" r:id="rId7"/>
    <p:sldId id="427" r:id="rId8"/>
    <p:sldId id="428" r:id="rId9"/>
    <p:sldId id="434" r:id="rId10"/>
    <p:sldId id="447" r:id="rId11"/>
    <p:sldId id="435" r:id="rId12"/>
    <p:sldId id="437" r:id="rId13"/>
    <p:sldId id="438" r:id="rId14"/>
    <p:sldId id="440" r:id="rId15"/>
    <p:sldId id="439" r:id="rId16"/>
    <p:sldId id="441" r:id="rId17"/>
    <p:sldId id="456" r:id="rId18"/>
    <p:sldId id="453" r:id="rId19"/>
    <p:sldId id="454" r:id="rId20"/>
    <p:sldId id="445" r:id="rId21"/>
    <p:sldId id="446" r:id="rId22"/>
    <p:sldId id="458" r:id="rId23"/>
    <p:sldId id="459" r:id="rId24"/>
    <p:sldId id="460" r:id="rId25"/>
    <p:sldId id="461" r:id="rId26"/>
    <p:sldId id="462" r:id="rId27"/>
    <p:sldId id="451" r:id="rId28"/>
    <p:sldId id="463" r:id="rId29"/>
    <p:sldId id="431" r:id="rId30"/>
    <p:sldId id="425" r:id="rId31"/>
    <p:sldId id="266" r:id="rId32"/>
    <p:sldId id="257" r:id="rId33"/>
    <p:sldId id="262" r:id="rId34"/>
    <p:sldId id="273" r:id="rId35"/>
    <p:sldId id="306" r:id="rId36"/>
    <p:sldId id="377" r:id="rId37"/>
    <p:sldId id="412" r:id="rId38"/>
    <p:sldId id="321" r:id="rId39"/>
    <p:sldId id="263" r:id="rId40"/>
    <p:sldId id="277" r:id="rId41"/>
    <p:sldId id="374" r:id="rId42"/>
    <p:sldId id="293" r:id="rId43"/>
    <p:sldId id="269" r:id="rId44"/>
    <p:sldId id="430" r:id="rId45"/>
    <p:sldId id="361" r:id="rId46"/>
    <p:sldId id="403" r:id="rId47"/>
    <p:sldId id="260" r:id="rId48"/>
    <p:sldId id="267" r:id="rId49"/>
    <p:sldId id="341" r:id="rId50"/>
    <p:sldId id="379" r:id="rId51"/>
    <p:sldId id="342" r:id="rId52"/>
    <p:sldId id="356" r:id="rId53"/>
    <p:sldId id="301" r:id="rId54"/>
    <p:sldId id="303" r:id="rId55"/>
    <p:sldId id="327" r:id="rId56"/>
    <p:sldId id="395" r:id="rId57"/>
    <p:sldId id="396" r:id="rId58"/>
    <p:sldId id="423" r:id="rId59"/>
    <p:sldId id="309" r:id="rId60"/>
    <p:sldId id="393" r:id="rId61"/>
    <p:sldId id="394" r:id="rId62"/>
    <p:sldId id="404" r:id="rId63"/>
    <p:sldId id="405" r:id="rId64"/>
    <p:sldId id="406" r:id="rId65"/>
    <p:sldId id="407" r:id="rId66"/>
    <p:sldId id="368" r:id="rId67"/>
    <p:sldId id="371" r:id="rId68"/>
    <p:sldId id="369" r:id="rId69"/>
    <p:sldId id="270" r:id="rId70"/>
    <p:sldId id="281" r:id="rId71"/>
    <p:sldId id="337" r:id="rId72"/>
    <p:sldId id="264" r:id="rId73"/>
    <p:sldId id="362" r:id="rId74"/>
    <p:sldId id="398" r:id="rId75"/>
    <p:sldId id="424" r:id="rId76"/>
    <p:sldId id="363" r:id="rId77"/>
    <p:sldId id="365" r:id="rId78"/>
  </p:sldIdLst>
  <p:sldSz cx="12192000" cy="6858000"/>
  <p:notesSz cx="6858000" cy="9144000"/>
  <p:custDataLst>
    <p:tags r:id="rId8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徐小欢" initials="徐小欢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80D0B"/>
    <a:srgbClr val="C21C1C"/>
    <a:srgbClr val="CB1313"/>
    <a:srgbClr val="DB1F1F"/>
    <a:srgbClr val="E12F2F"/>
    <a:srgbClr val="1A1A1B"/>
    <a:srgbClr val="313134"/>
    <a:srgbClr val="181819"/>
    <a:srgbClr val="A50A09"/>
    <a:srgbClr val="DF39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083E6E3-FA7D-4D7B-A595-EF9225AFEA82}" styleName="浅色样式 1 - 强调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61"/>
    <p:restoredTop sz="94270" autoAdjust="0"/>
  </p:normalViewPr>
  <p:slideViewPr>
    <p:cSldViewPr snapToGrid="0">
      <p:cViewPr varScale="1">
        <p:scale>
          <a:sx n="108" d="100"/>
          <a:sy n="108" d="100"/>
        </p:scale>
        <p:origin x="1026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0" d="100"/>
        <a:sy n="2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4" Type="http://schemas.openxmlformats.org/officeDocument/2006/relationships/tags" Target="tags/tag33.xml"/><Relationship Id="rId83" Type="http://schemas.openxmlformats.org/officeDocument/2006/relationships/commentAuthors" Target="commentAuthors.xml"/><Relationship Id="rId82" Type="http://schemas.openxmlformats.org/officeDocument/2006/relationships/tableStyles" Target="tableStyles.xml"/><Relationship Id="rId81" Type="http://schemas.openxmlformats.org/officeDocument/2006/relationships/viewProps" Target="viewProps.xml"/><Relationship Id="rId80" Type="http://schemas.openxmlformats.org/officeDocument/2006/relationships/presProps" Target="presProps.xml"/><Relationship Id="rId8" Type="http://schemas.openxmlformats.org/officeDocument/2006/relationships/slide" Target="slides/slide5.xml"/><Relationship Id="rId79" Type="http://schemas.openxmlformats.org/officeDocument/2006/relationships/handoutMaster" Target="handoutMasters/handoutMaster1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274031977886822"/>
          <c:y val="0.0196258937486984"/>
          <c:w val="0.95713786501325"/>
          <c:h val="0.8243479839592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rgbClr val="8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0.43</c:v>
                </c:pt>
                <c:pt idx="1">
                  <c:v>0.25</c:v>
                </c:pt>
                <c:pt idx="2">
                  <c:v>0.35</c:v>
                </c:pt>
                <c:pt idx="3">
                  <c:v>0.45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0.24</c:v>
                </c:pt>
                <c:pt idx="1">
                  <c:v>0.44</c:v>
                </c:pt>
                <c:pt idx="2">
                  <c:v>0.18</c:v>
                </c:pt>
                <c:pt idx="3">
                  <c:v>0.28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rgbClr val="F49E8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</c:v>
                </c:pt>
                <c:pt idx="1">
                  <c:v>0.2</c:v>
                </c:pt>
                <c:pt idx="2">
                  <c:v>0.3</c:v>
                </c:pt>
                <c:pt idx="3">
                  <c:v>0.5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8703312"/>
        <c:axId val="488705392"/>
      </c:barChart>
      <c:catAx>
        <c:axId val="488703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pPr>
          </a:p>
        </c:txPr>
        <c:crossAx val="488705392"/>
        <c:crosses val="autoZero"/>
        <c:auto val="1"/>
        <c:lblAlgn val="ctr"/>
        <c:lblOffset val="100"/>
        <c:noMultiLvlLbl val="0"/>
      </c:catAx>
      <c:valAx>
        <c:axId val="488705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870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97524541316393"/>
          <c:y val="0.950236072471739"/>
          <c:w val="0.210081748653721"/>
          <c:h val="0.049763927528260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f9cc197-071f-46e1-be8d-3c3f76481305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85515893654768"/>
          <c:y val="0.0165807667712095"/>
          <c:w val="0.95713786501325"/>
          <c:h val="0.824347983959247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ln w="38100" cap="rnd">
              <a:solidFill>
                <a:srgbClr val="EE1212"/>
              </a:solidFill>
              <a:round/>
            </a:ln>
            <a:effectLst/>
          </c:spPr>
          <c:marker>
            <c:symbol val="circle"/>
            <c:size val="9"/>
            <c:spPr>
              <a:solidFill>
                <a:schemeClr val="bg1"/>
              </a:solidFill>
              <a:ln w="25400">
                <a:solidFill>
                  <a:srgbClr val="EE1212"/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0.43</c:v>
                </c:pt>
                <c:pt idx="1">
                  <c:v>0.25</c:v>
                </c:pt>
                <c:pt idx="2">
                  <c:v>0.35</c:v>
                </c:pt>
                <c:pt idx="3">
                  <c:v>0.45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ln w="50800" cap="rnd">
              <a:solidFill>
                <a:srgbClr val="800000"/>
              </a:solidFill>
              <a:round/>
              <a:tailEnd w="med" len="med"/>
            </a:ln>
            <a:effectLst/>
          </c:spPr>
          <c:marker>
            <c:symbol val="circle"/>
            <c:size val="9"/>
            <c:spPr>
              <a:solidFill>
                <a:schemeClr val="bg1"/>
              </a:solidFill>
              <a:ln w="25400">
                <a:solidFill>
                  <a:srgbClr val="800000"/>
                </a:solidFill>
                <a:headEnd w="med" len="med"/>
              </a:ln>
              <a:effectLst/>
            </c:spPr>
          </c:marker>
          <c:dPt>
            <c:idx val="2"/>
            <c:marker>
              <c:symbol val="circle"/>
              <c:size val="9"/>
              <c:spPr>
                <a:solidFill>
                  <a:schemeClr val="bg1"/>
                </a:solidFill>
                <a:ln w="25400">
                  <a:solidFill>
                    <a:srgbClr val="800000"/>
                  </a:solidFill>
                  <a:headEnd w="med" len="med"/>
                </a:ln>
                <a:effectLst/>
              </c:spPr>
            </c:marker>
            <c:bubble3D val="0"/>
            <c:spPr>
              <a:ln w="38100" cap="rnd">
                <a:solidFill>
                  <a:srgbClr val="800000"/>
                </a:solidFill>
                <a:round/>
                <a:tailEnd w="med" len="med"/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0.24</c:v>
                </c:pt>
                <c:pt idx="1">
                  <c:v>0.44</c:v>
                </c:pt>
                <c:pt idx="2">
                  <c:v>0.18</c:v>
                </c:pt>
                <c:pt idx="3">
                  <c:v>0.28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ln w="38100" cap="rnd" cmpd="sng">
              <a:solidFill>
                <a:srgbClr val="F49E86"/>
              </a:solidFill>
              <a:prstDash val="sysDash"/>
              <a:round/>
            </a:ln>
            <a:effectLst/>
          </c:spPr>
          <c:marker>
            <c:symbol val="circle"/>
            <c:size val="9"/>
            <c:spPr>
              <a:solidFill>
                <a:schemeClr val="bg1"/>
              </a:solidFill>
              <a:ln w="25400">
                <a:solidFill>
                  <a:schemeClr val="accent2">
                    <a:tint val="65000"/>
                  </a:schemeClr>
                </a:solidFill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zh-CN" sz="1195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</c:v>
                </c:pt>
                <c:pt idx="1">
                  <c:v>0.2</c:v>
                </c:pt>
                <c:pt idx="2">
                  <c:v>0.3</c:v>
                </c:pt>
                <c:pt idx="3">
                  <c:v>0.5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88703312"/>
        <c:axId val="488705392"/>
      </c:lineChart>
      <c:catAx>
        <c:axId val="4887033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8705392"/>
        <c:crosses val="autoZero"/>
        <c:auto val="1"/>
        <c:lblAlgn val="ctr"/>
        <c:lblOffset val="100"/>
        <c:noMultiLvlLbl val="0"/>
      </c:catAx>
      <c:valAx>
        <c:axId val="4887053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zh-CN" sz="1195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887033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zh-CN" sz="1195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dbaec95-d211-43a2-aae2-9d754da0c099}"/>
      </c:ext>
    </c:extLst>
  </c:chart>
  <c:spPr>
    <a:noFill/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zh-CN" altLang="en-US"/>
              <a:t>网易内部资料，请勿外传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26E12E-97A2-40B7-A362-065E30B989DB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zh-CN" altLang="en-US"/>
              <a:t>网易内部资料，请勿外传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43C561-CBA4-45D6-BD55-1C5FFEC034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659CD4FC-624D-AB4E-9533-E6A468B0E056}" type="datetimeFigureOut">
              <a:rPr kumimoji="1" lang="zh-CN" altLang="en-US" smtClean="0"/>
            </a:fld>
            <a:endParaRPr kumimoji="1"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zh-CN" altLang="en-US"/>
              <a:t>编辑母版文本样式
第二级
第三级
第四级
第五级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8D024F85-CB1C-7445-9B98-7B8479DF2CF8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pitchFamily="34" charset="-122"/>
        <a:ea typeface="微软雅黑" panose="020B0503020204020204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8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0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3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4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z="199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页眉占位符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kumimoji="1" lang="zh-CN" altLang="en-US" smtClean="0"/>
              <a:t>网易内部资料，请勿外传</a:t>
            </a:r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zh-CN" altLang="en-US" smtClean="0"/>
              <a:t>网易内部资料，请勿外传</a:t>
            </a:r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024F85-CB1C-7445-9B98-7B8479DF2CF8}" type="slidenum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  <p:sp>
        <p:nvSpPr>
          <p:cNvPr id="6" name="页眉占位符 5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kumimoji="1" lang="zh-CN" altLang="en-US"/>
              <a:t>网易内部资料，请勿外传</a:t>
            </a:r>
            <a:endParaRPr kumimoji="1"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microsoft.com/office/2007/relationships/hdphoto" Target="../media/image7.wdp"/><Relationship Id="rId4" Type="http://schemas.openxmlformats.org/officeDocument/2006/relationships/image" Target="../media/image6.png"/><Relationship Id="rId3" Type="http://schemas.microsoft.com/office/2007/relationships/hdphoto" Target="../media/image5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2533" y="0"/>
            <a:ext cx="12204533" cy="6858000"/>
          </a:xfrm>
          <a:prstGeom prst="rect">
            <a:avLst/>
          </a:prstGeom>
        </p:spPr>
      </p:pic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热爱"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169819" y="0"/>
            <a:ext cx="12018615" cy="6858000"/>
            <a:chOff x="63375" y="-155701"/>
            <a:chExt cx="12018615" cy="6858000"/>
          </a:xfrm>
        </p:grpSpPr>
        <p:pic>
          <p:nvPicPr>
            <p:cNvPr id="5" name="图片 4"/>
            <p:cNvPicPr>
              <a:picLocks noChangeAspect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20"/>
            <a:stretch>
              <a:fillRect/>
            </a:stretch>
          </p:blipFill>
          <p:spPr>
            <a:xfrm>
              <a:off x="63375" y="-155701"/>
              <a:ext cx="5800210" cy="6013009"/>
            </a:xfrm>
            <a:prstGeom prst="rect">
              <a:avLst/>
            </a:prstGeom>
          </p:spPr>
        </p:pic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5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6736" y="876394"/>
              <a:ext cx="5145254" cy="5825905"/>
            </a:xfrm>
            <a:prstGeom prst="rect">
              <a:avLst/>
            </a:prstGeom>
          </p:spPr>
        </p:pic>
      </p:grpSp>
      <p:sp>
        <p:nvSpPr>
          <p:cNvPr id="7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背景-红色大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8" name="灯片编号占位符 5"/>
          <p:cNvSpPr txBox="1"/>
          <p:nvPr userDrawn="1"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9" name="文本框 8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背景-黑色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5A4A7191-98FC-4568-95DD-ED3C44E606AA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3011686" y="6408107"/>
            <a:ext cx="616862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r>
              <a:rPr lang="zh-CN" altLang="en-US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网易内部商业机密，请勿外传</a:t>
            </a:r>
            <a:r>
              <a:rPr lang="en-US" altLang="zh-CN" sz="1100" kern="1200" dirty="0" smtClean="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  <a:cs typeface="+mn-cs"/>
              </a:rPr>
              <a:t>——</a:t>
            </a:r>
            <a:endParaRPr lang="zh-CN" altLang="en-US" sz="1100" kern="1200" dirty="0">
              <a:solidFill>
                <a:schemeClr val="bg1">
                  <a:lumMod val="65000"/>
                </a:schemeClr>
              </a:solidFill>
              <a:latin typeface="+mj-ea"/>
              <a:ea typeface="+mj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image" Target="../media/image10.tiff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notesSlide" Target="../notesSlides/notesSlide2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3.png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5.sv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svg"/><Relationship Id="rId1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7.svg"/><Relationship Id="rId1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8.svg"/><Relationship Id="rId1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8.svg"/><Relationship Id="rId1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9.svg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3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0.svg"/><Relationship Id="rId1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21.xml"/><Relationship Id="rId2" Type="http://schemas.openxmlformats.org/officeDocument/2006/relationships/image" Target="../media/image21.svg"/><Relationship Id="rId1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2.svg"/><Relationship Id="rId1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1.svg"/><Relationship Id="rId1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3.svg"/><Relationship Id="rId1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22.xml"/><Relationship Id="rId2" Type="http://schemas.openxmlformats.org/officeDocument/2006/relationships/image" Target="../media/image24.svg"/><Relationship Id="rId1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5.svg"/><Relationship Id="rId3" Type="http://schemas.openxmlformats.org/officeDocument/2006/relationships/image" Target="../media/image13.png"/><Relationship Id="rId2" Type="http://schemas.openxmlformats.org/officeDocument/2006/relationships/hyperlink" Target="mailto:hzyangwei@corp.netease.com" TargetMode="External"/><Relationship Id="rId1" Type="http://schemas.openxmlformats.org/officeDocument/2006/relationships/hyperlink" Target="mailto:hzxuejingting@crop.netease.com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svg"/><Relationship Id="rId1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svg"/><Relationship Id="rId1" Type="http://schemas.openxmlformats.org/officeDocument/2006/relationships/image" Target="../media/image1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8.xml"/><Relationship Id="rId1" Type="http://schemas.openxmlformats.org/officeDocument/2006/relationships/image" Target="../media/image10.tif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tiff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5.svg"/><Relationship Id="rId1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8.xml"/><Relationship Id="rId1" Type="http://schemas.openxmlformats.org/officeDocument/2006/relationships/image" Target="../media/image10.tiff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26.tiff"/></Relationships>
</file>

<file path=ppt/slides/_rels/slide4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1" Type="http://schemas.openxmlformats.org/officeDocument/2006/relationships/image" Target="../media/image10.tiff"/></Relationships>
</file>

<file path=ppt/slides/_rels/slide4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2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8.png"/><Relationship Id="rId1" Type="http://schemas.openxmlformats.org/officeDocument/2006/relationships/image" Target="../media/image13.png"/></Relationships>
</file>

<file path=ppt/slides/_rels/slide5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0.tiff"/><Relationship Id="rId2" Type="http://schemas.openxmlformats.org/officeDocument/2006/relationships/image" Target="../media/image13.png"/><Relationship Id="rId1" Type="http://schemas.openxmlformats.org/officeDocument/2006/relationships/image" Target="../media/image29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5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tiff"/><Relationship Id="rId2" Type="http://schemas.openxmlformats.org/officeDocument/2006/relationships/image" Target="../media/image31.jpeg"/><Relationship Id="rId1" Type="http://schemas.openxmlformats.org/officeDocument/2006/relationships/tags" Target="../tags/tag2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tif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8.xml"/><Relationship Id="rId1" Type="http://schemas.openxmlformats.org/officeDocument/2006/relationships/image" Target="../media/image10.tiff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chart" Target="../charts/char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chart" Target="../charts/char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2.png"/><Relationship Id="rId1" Type="http://schemas.openxmlformats.org/officeDocument/2006/relationships/image" Target="../media/image13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5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4.svg"/><Relationship Id="rId1" Type="http://schemas.openxmlformats.org/officeDocument/2006/relationships/image" Target="../media/image3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4.svg"/><Relationship Id="rId1" Type="http://schemas.openxmlformats.org/officeDocument/2006/relationships/image" Target="../media/image33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1.jpe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jpe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jpe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1" Type="http://schemas.openxmlformats.org/officeDocument/2006/relationships/notesSlide" Target="../notesSlides/notesSlide49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24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Relationship Id="rId3" Type="http://schemas.openxmlformats.org/officeDocument/2006/relationships/image" Target="../media/image34.svg"/><Relationship Id="rId2" Type="http://schemas.openxmlformats.org/officeDocument/2006/relationships/image" Target="../media/image36.png"/><Relationship Id="rId1" Type="http://schemas.openxmlformats.org/officeDocument/2006/relationships/image" Target="../media/image35.png"/></Relationships>
</file>

<file path=ppt/slides/_rels/slide7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0" y="2680382"/>
            <a:ext cx="12191999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配表助手</a:t>
            </a:r>
            <a:endParaRPr lang="zh-CN" altLang="en-US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494155" y="3690620"/>
            <a:ext cx="930973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zh-CN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kumimoji="1" lang="zh-CN" altLang="en-US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自然语言驱动配表</a:t>
            </a:r>
            <a:r>
              <a:rPr kumimoji="1" lang="en-US" altLang="zh-CN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kumimoji="1" lang="zh-CN" altLang="en-US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三方合并</a:t>
            </a:r>
            <a:r>
              <a:rPr kumimoji="1" lang="en-US" altLang="zh-CN" sz="20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2000" spc="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721980" y="4293258"/>
            <a:ext cx="4531659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吴植贤</a:t>
            </a:r>
            <a:endParaRPr kumimoji="1" lang="en-US" altLang="zh-CN" sz="1600" dirty="0">
              <a:solidFill>
                <a:schemeClr val="bg1"/>
              </a:solidFill>
              <a:latin typeface="+mj-ea"/>
              <a:ea typeface="+mj-ea"/>
            </a:endParaRPr>
          </a:p>
          <a:p>
            <a:r>
              <a:rPr kumimoji="1" lang="en-US" altLang="zh-CN" sz="1600" dirty="0">
                <a:solidFill>
                  <a:schemeClr val="bg1"/>
                </a:solidFill>
                <a:latin typeface="+mj-ea"/>
                <a:ea typeface="+mj-ea"/>
              </a:rPr>
              <a:t>2026</a:t>
            </a: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年</a:t>
            </a:r>
            <a:r>
              <a:rPr kumimoji="1" lang="en-US" altLang="zh-CN" sz="1600" dirty="0">
                <a:solidFill>
                  <a:schemeClr val="bg1"/>
                </a:solidFill>
                <a:latin typeface="+mj-ea"/>
                <a:ea typeface="+mj-ea"/>
              </a:rPr>
              <a:t>9</a:t>
            </a: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月</a:t>
            </a:r>
            <a:r>
              <a:rPr kumimoji="1" lang="en-US" altLang="zh-CN" sz="16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日</a:t>
            </a:r>
            <a:endParaRPr kumimoji="1" lang="zh-CN" altLang="en-US" sz="16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11" name="直线连接符 10"/>
          <p:cNvCxnSpPr/>
          <p:nvPr/>
        </p:nvCxnSpPr>
        <p:spPr>
          <a:xfrm>
            <a:off x="1608060" y="4363295"/>
            <a:ext cx="0" cy="413100"/>
          </a:xfrm>
          <a:prstGeom prst="line">
            <a:avLst/>
          </a:prstGeom>
          <a:ln w="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/>
        </p:nvGrpSpPr>
        <p:grpSpPr>
          <a:xfrm>
            <a:off x="1582645" y="2194103"/>
            <a:ext cx="1377981" cy="393832"/>
            <a:chOff x="1870051" y="-461450"/>
            <a:chExt cx="1377981" cy="393832"/>
          </a:xfrm>
        </p:grpSpPr>
        <p:sp>
          <p:nvSpPr>
            <p:cNvPr id="15" name="对角圆角矩形 14"/>
            <p:cNvSpPr/>
            <p:nvPr/>
          </p:nvSpPr>
          <p:spPr>
            <a:xfrm>
              <a:off x="1870051" y="-461450"/>
              <a:ext cx="1377981" cy="393832"/>
            </a:xfrm>
            <a:prstGeom prst="round2DiagRect">
              <a:avLst>
                <a:gd name="adj1" fmla="val 4901"/>
                <a:gd name="adj2" fmla="val 4289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928491" y="-461450"/>
              <a:ext cx="1319541" cy="3847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900" spc="300" dirty="0">
                  <a:solidFill>
                    <a:srgbClr val="A30B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规范模版</a:t>
              </a:r>
              <a:endParaRPr kumimoji="1" lang="zh-CN" altLang="en-US" sz="1900" spc="300" dirty="0">
                <a:solidFill>
                  <a:srgbClr val="A30B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10" name="图片 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10694504" y="2744930"/>
            <a:ext cx="9011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Beta</a:t>
            </a:r>
            <a:endParaRPr lang="zh-CN" altLang="en-US" sz="2000" dirty="0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700" cy="127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0" cy="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组合 57"/>
          <p:cNvGrpSpPr/>
          <p:nvPr>
            <p:custDataLst>
              <p:tags r:id="rId1"/>
            </p:custDataLst>
          </p:nvPr>
        </p:nvGrpSpPr>
        <p:grpSpPr>
          <a:xfrm>
            <a:off x="787620" y="2029437"/>
            <a:ext cx="1957218" cy="2326895"/>
            <a:chOff x="2372291" y="6696934"/>
            <a:chExt cx="1957218" cy="2179449"/>
          </a:xfrm>
        </p:grpSpPr>
        <p:sp>
          <p:nvSpPr>
            <p:cNvPr id="59" name="文本框 58"/>
            <p:cNvSpPr txBox="1"/>
            <p:nvPr>
              <p:custDataLst>
                <p:tags r:id="rId2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文本框 65"/>
            <p:cNvSpPr txBox="1"/>
            <p:nvPr>
              <p:custDataLst>
                <p:tags r:id="rId3"/>
              </p:custDataLst>
            </p:nvPr>
          </p:nvSpPr>
          <p:spPr>
            <a:xfrm>
              <a:off x="2544134" y="7941893"/>
              <a:ext cx="1590114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业务背景</a:t>
              </a:r>
              <a:endPara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文本框 66"/>
            <p:cNvSpPr txBox="1"/>
            <p:nvPr>
              <p:custDataLst>
                <p:tags r:id="rId4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19" name="组合 18"/>
          <p:cNvGrpSpPr/>
          <p:nvPr>
            <p:custDataLst>
              <p:tags r:id="rId5"/>
            </p:custDataLst>
          </p:nvPr>
        </p:nvGrpSpPr>
        <p:grpSpPr>
          <a:xfrm>
            <a:off x="3452372" y="2029437"/>
            <a:ext cx="2399665" cy="2348485"/>
            <a:chOff x="2186871" y="6696934"/>
            <a:chExt cx="2399665" cy="2199671"/>
          </a:xfrm>
        </p:grpSpPr>
        <p:sp>
          <p:nvSpPr>
            <p:cNvPr id="20" name="文本框 19"/>
            <p:cNvSpPr txBox="1"/>
            <p:nvPr>
              <p:custDataLst>
                <p:tags r:id="rId6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文本框 20"/>
            <p:cNvSpPr txBox="1"/>
            <p:nvPr>
              <p:custDataLst>
                <p:tags r:id="rId7"/>
              </p:custDataLst>
            </p:nvPr>
          </p:nvSpPr>
          <p:spPr>
            <a:xfrm>
              <a:off x="2186871" y="7942962"/>
              <a:ext cx="2399665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实现方案</a:t>
              </a:r>
              <a:endPara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/>
            <p:cNvSpPr txBox="1"/>
            <p:nvPr>
              <p:custDataLst>
                <p:tags r:id="rId8"/>
              </p:custDataLst>
            </p:nvPr>
          </p:nvSpPr>
          <p:spPr>
            <a:xfrm>
              <a:off x="2458016" y="8344379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3" name="组合 22"/>
          <p:cNvGrpSpPr/>
          <p:nvPr>
            <p:custDataLst>
              <p:tags r:id="rId9"/>
            </p:custDataLst>
          </p:nvPr>
        </p:nvGrpSpPr>
        <p:grpSpPr>
          <a:xfrm>
            <a:off x="6487964" y="2029437"/>
            <a:ext cx="1999615" cy="2774315"/>
            <a:chOff x="2372291" y="6696934"/>
            <a:chExt cx="1999615" cy="2598518"/>
          </a:xfrm>
        </p:grpSpPr>
        <p:sp>
          <p:nvSpPr>
            <p:cNvPr id="25" name="文本框 24"/>
            <p:cNvSpPr txBox="1"/>
            <p:nvPr>
              <p:custDataLst>
                <p:tags r:id="rId10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文本框 25"/>
            <p:cNvSpPr txBox="1"/>
            <p:nvPr>
              <p:custDataLst>
                <p:tags r:id="rId11"/>
              </p:custDataLst>
            </p:nvPr>
          </p:nvSpPr>
          <p:spPr>
            <a:xfrm>
              <a:off x="2372291" y="7941772"/>
              <a:ext cx="1999615" cy="13536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成果数据</a:t>
              </a:r>
              <a:r>
                <a:rPr kumimoji="1" lang="en-US" altLang="zh-CN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			</a:t>
              </a:r>
              <a:endParaRPr kumimoji="1" lang="en-US" altLang="zh-CN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/>
            <p:cNvSpPr txBox="1"/>
            <p:nvPr>
              <p:custDataLst>
                <p:tags r:id="rId12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grpSp>
        <p:nvGrpSpPr>
          <p:cNvPr id="28" name="组合 27"/>
          <p:cNvGrpSpPr/>
          <p:nvPr>
            <p:custDataLst>
              <p:tags r:id="rId13"/>
            </p:custDataLst>
          </p:nvPr>
        </p:nvGrpSpPr>
        <p:grpSpPr>
          <a:xfrm>
            <a:off x="9338136" y="2029437"/>
            <a:ext cx="1957218" cy="2326895"/>
            <a:chOff x="2372291" y="6696934"/>
            <a:chExt cx="1957218" cy="2179449"/>
          </a:xfrm>
        </p:grpSpPr>
        <p:sp>
          <p:nvSpPr>
            <p:cNvPr id="29" name="文本框 28"/>
            <p:cNvSpPr txBox="1"/>
            <p:nvPr>
              <p:custDataLst>
                <p:tags r:id="rId14"/>
              </p:custDataLst>
            </p:nvPr>
          </p:nvSpPr>
          <p:spPr>
            <a:xfrm>
              <a:off x="2695207" y="6696934"/>
              <a:ext cx="1287967" cy="11242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7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kumimoji="1" lang="zh-CN" altLang="en-US" sz="7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/>
            <p:cNvSpPr txBox="1"/>
            <p:nvPr>
              <p:custDataLst>
                <p:tags r:id="rId15"/>
              </p:custDataLst>
            </p:nvPr>
          </p:nvSpPr>
          <p:spPr>
            <a:xfrm>
              <a:off x="2544134" y="7941893"/>
              <a:ext cx="1590114" cy="4026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总结</a:t>
              </a:r>
              <a:r>
                <a:rPr kumimoji="1" lang="en-US" altLang="zh-CN" sz="2200" b="1" dirty="0">
                  <a:solidFill>
                    <a:srgbClr val="A80D0B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Demo</a:t>
              </a:r>
              <a:endParaRPr kumimoji="1" lang="en-US" altLang="zh-CN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文本框 30"/>
            <p:cNvSpPr txBox="1"/>
            <p:nvPr>
              <p:custDataLst>
                <p:tags r:id="rId16"/>
              </p:custDataLst>
            </p:nvPr>
          </p:nvSpPr>
          <p:spPr>
            <a:xfrm>
              <a:off x="2372291" y="8324157"/>
              <a:ext cx="1957218" cy="5522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kumimoji="1" lang="zh-CN" altLang="en-US" sz="1200" dirty="0">
                  <a:latin typeface="+mj-ea"/>
                  <a:ea typeface="+mj-ea"/>
                </a:rPr>
                <a:t>具体事项简述内容分类项目关系具体事项简述内容</a:t>
              </a:r>
              <a:endParaRPr kumimoji="1" lang="zh-CN" altLang="en-US" sz="1200" dirty="0">
                <a:latin typeface="+mj-ea"/>
                <a:ea typeface="+mj-ea"/>
              </a:endParaRPr>
            </a:p>
          </p:txBody>
        </p:sp>
      </p:grpSp>
      <p:pic>
        <p:nvPicPr>
          <p:cNvPr id="18" name="图形 17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dirty="0"/>
              <a:t>一、业务</a:t>
            </a:r>
            <a:r>
              <a:rPr lang="zh-CN" altLang="en-US" dirty="0"/>
              <a:t>背景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背景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95935" y="1584325"/>
            <a:ext cx="857948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实际业务情况：</a:t>
            </a:r>
            <a:r>
              <a:rPr lang="en-US" altLang="zh-CN"/>
              <a:t>CA</a:t>
            </a:r>
            <a:r>
              <a:rPr lang="zh-CN" altLang="en-US"/>
              <a:t>配表数量多，采用的是</a:t>
            </a:r>
            <a:r>
              <a:rPr lang="en-US" altLang="zh-CN"/>
              <a:t>SVN</a:t>
            </a:r>
            <a:r>
              <a:rPr lang="zh-CN" altLang="en-US"/>
              <a:t>外链、无真分支，通过目录进行</a:t>
            </a:r>
            <a:r>
              <a:rPr lang="zh-CN" altLang="en-US"/>
              <a:t>隔离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  <p:graphicFrame>
        <p:nvGraphicFramePr>
          <p:cNvPr id="4" name="表格 2"/>
          <p:cNvGraphicFramePr>
            <a:graphicFrameLocks noGrp="1"/>
          </p:cNvGraphicFramePr>
          <p:nvPr/>
        </p:nvGraphicFramePr>
        <p:xfrm>
          <a:off x="960120" y="2162810"/>
          <a:ext cx="9351645" cy="424053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133475"/>
                <a:gridCol w="4580890"/>
                <a:gridCol w="36372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编号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存在问题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后果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15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Merge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过程出现漏行丢数据情况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数据会静默消失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7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跨分支编号冲突，多分支创作过程新建同一编号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后提交的进行了覆盖导致线上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bug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21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公式缓存丢失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编表会出现输出</a:t>
                      </a:r>
                      <a:r>
                        <a:rPr lang="en-US" altLang="zh-CN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0</a:t>
                      </a:r>
                      <a:r>
                        <a:rPr lang="zh-CN" altLang="en-US" sz="120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或者空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327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4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改表慢、易错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效率低、易漏外键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5</a:t>
                      </a:r>
                      <a:endParaRPr lang="en-US" altLang="zh-CN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AI 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误写不可逆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写坏数据找不回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任务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05790" y="1984375"/>
            <a:ext cx="7367905" cy="7931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Excel-Agent:</a:t>
            </a:r>
            <a:r>
              <a:rPr kumimoji="1" lang="en-US" altLang="zh-CN" sz="16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kumimoji="1" lang="zh-CN" altLang="en-US" sz="16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通过自然语言输入来实现精准改表；</a:t>
            </a:r>
            <a:endParaRPr kumimoji="1" lang="en-US" altLang="zh-CN" sz="16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Merge: </a:t>
            </a:r>
            <a:r>
              <a:rPr kumimoji="1" lang="zh-CN" altLang="en-US" sz="1600" b="1" dirty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实现分支的三方合并方法，实现分支的合并操作</a:t>
            </a:r>
            <a:endParaRPr kumimoji="1" lang="zh-CN" altLang="en-US" sz="1600" b="1" dirty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dirty="0"/>
              <a:t>二、实现</a:t>
            </a:r>
            <a:r>
              <a:rPr lang="zh-CN" altLang="en-US" dirty="0"/>
              <a:t>方案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总体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7367905" cy="7931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Excel-Agent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7367905" cy="7931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Agent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整的框架流程，使用的底座，框架等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一系列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Excel-Agent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7367905" cy="7931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4Step Agent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总体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讲解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Excel-Agent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7367905" cy="7931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Step1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进行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内容：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Excel-Agent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7367905" cy="7931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Step1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进行内容，关键，讲解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decompose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和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Excel-Agent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7367905" cy="7931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Step2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进行内容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,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校验的来源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rules</a:t>
            </a:r>
            <a:endParaRPr kumimoji="1" lang="en-US" altLang="zh-CN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Excel-Agent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7367905" cy="7931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Step3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进行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内容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Excel-Agent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7367905" cy="7931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Step4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进行内容，实现自适应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学习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形 1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5" name="组合 24"/>
          <p:cNvGrpSpPr/>
          <p:nvPr/>
        </p:nvGrpSpPr>
        <p:grpSpPr>
          <a:xfrm>
            <a:off x="986900" y="1262435"/>
            <a:ext cx="2722227" cy="398780"/>
            <a:chOff x="3462868" y="3718731"/>
            <a:chExt cx="2722227" cy="398780"/>
          </a:xfrm>
        </p:grpSpPr>
        <p:sp>
          <p:nvSpPr>
            <p:cNvPr id="26" name="文本框 25"/>
            <p:cNvSpPr txBox="1"/>
            <p:nvPr/>
          </p:nvSpPr>
          <p:spPr>
            <a:xfrm>
              <a:off x="3462868" y="3718731"/>
              <a:ext cx="2722227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三方合并</a:t>
              </a:r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模型</a:t>
              </a:r>
              <a:endParaRPr kumimoji="1"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8" name="直线连接符 101"/>
            <p:cNvCxnSpPr/>
            <p:nvPr/>
          </p:nvCxnSpPr>
          <p:spPr>
            <a:xfrm>
              <a:off x="3555678" y="41113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062608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/>
          <p:cNvSpPr/>
          <p:nvPr>
            <p:custDataLst>
              <p:tags r:id="rId2"/>
            </p:custDataLst>
          </p:nvPr>
        </p:nvSpPr>
        <p:spPr>
          <a:xfrm>
            <a:off x="1858010" y="1737360"/>
            <a:ext cx="1579245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Merge-base</a:t>
            </a:r>
            <a:endParaRPr lang="en-US" altLang="zh-CN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3" name="矩形: 圆角 12"/>
          <p:cNvSpPr/>
          <p:nvPr>
            <p:custDataLst>
              <p:tags r:id="rId3"/>
            </p:custDataLst>
          </p:nvPr>
        </p:nvSpPr>
        <p:spPr>
          <a:xfrm>
            <a:off x="937895" y="2486025"/>
            <a:ext cx="1579245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From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分支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4" name="矩形: 圆角 12"/>
          <p:cNvSpPr/>
          <p:nvPr>
            <p:custDataLst>
              <p:tags r:id="rId4"/>
            </p:custDataLst>
          </p:nvPr>
        </p:nvSpPr>
        <p:spPr>
          <a:xfrm>
            <a:off x="2799080" y="2476500"/>
            <a:ext cx="1579245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To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分支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7" name="矩形: 圆角 12"/>
          <p:cNvSpPr/>
          <p:nvPr>
            <p:custDataLst>
              <p:tags r:id="rId5"/>
            </p:custDataLst>
          </p:nvPr>
        </p:nvSpPr>
        <p:spPr>
          <a:xfrm>
            <a:off x="1713230" y="3142615"/>
            <a:ext cx="1996440" cy="392430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n>
                  <a:solidFill>
                    <a:schemeClr val="bg1"/>
                  </a:solidFill>
                </a:ln>
              </a:rPr>
              <a:t>Merge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合并</a:t>
            </a:r>
            <a:r>
              <a:rPr lang="zh-CN" altLang="en-US" dirty="0">
                <a:ln>
                  <a:solidFill>
                    <a:schemeClr val="bg1"/>
                  </a:solidFill>
                </a:ln>
              </a:rPr>
              <a:t>结果</a:t>
            </a:r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608965" y="3770630"/>
          <a:ext cx="4398010" cy="243395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103630"/>
                <a:gridCol w="1672590"/>
                <a:gridCol w="1621790"/>
              </a:tblGrid>
              <a:tr h="528955"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Merge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模式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 hMerge="1"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过程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640080">
                <a:tc rowSpan="2"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跨分支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通过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From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分支与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分支比对合并到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To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2460">
                <a:tc vMerge="1"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分支合回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，内容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集成在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2460">
                <a:tc gridSpan="2"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目录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合并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将子目录的生产内容合并回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分支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grpSp>
        <p:nvGrpSpPr>
          <p:cNvPr id="10" name="组合 9"/>
          <p:cNvGrpSpPr/>
          <p:nvPr/>
        </p:nvGrpSpPr>
        <p:grpSpPr>
          <a:xfrm>
            <a:off x="6007845" y="1262435"/>
            <a:ext cx="2722227" cy="398780"/>
            <a:chOff x="3462868" y="3718731"/>
            <a:chExt cx="2722227" cy="398780"/>
          </a:xfrm>
        </p:grpSpPr>
        <p:sp>
          <p:nvSpPr>
            <p:cNvPr id="11" name="文本框 10"/>
            <p:cNvSpPr txBox="1"/>
            <p:nvPr/>
          </p:nvSpPr>
          <p:spPr>
            <a:xfrm>
              <a:off x="3462868" y="3718731"/>
              <a:ext cx="2722227" cy="3987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Merge</a:t>
              </a:r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总体框架</a:t>
              </a:r>
              <a:r>
                <a:rPr kumimoji="1" lang="zh-CN" altLang="en-US" sz="20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流程</a:t>
              </a:r>
              <a:endParaRPr kumimoji="1" lang="zh-CN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2" name="直线连接符 101"/>
            <p:cNvCxnSpPr/>
            <p:nvPr/>
          </p:nvCxnSpPr>
          <p:spPr>
            <a:xfrm>
              <a:off x="3555678" y="41113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文本框 13"/>
          <p:cNvSpPr txBox="1"/>
          <p:nvPr/>
        </p:nvSpPr>
        <p:spPr>
          <a:xfrm>
            <a:off x="6085840" y="2076450"/>
            <a:ext cx="5342890" cy="34309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1</a:t>
            </a:r>
            <a:r>
              <a:rPr lang="zh-CN" altLang="en-US"/>
              <a:t>、选取分支</a:t>
            </a:r>
            <a:r>
              <a:rPr lang="en-US" altLang="zh-CN"/>
              <a:t> -&gt; 2</a:t>
            </a:r>
            <a:r>
              <a:rPr lang="zh-CN" altLang="en-US"/>
              <a:t>、定位</a:t>
            </a:r>
            <a:r>
              <a:rPr lang="en-US" altLang="zh-CN"/>
              <a:t>merge-base -&gt; 3</a:t>
            </a:r>
            <a:r>
              <a:rPr lang="zh-CN" altLang="en-US"/>
              <a:t>、拉去三份数据</a:t>
            </a:r>
            <a:r>
              <a:rPr lang="en-US" altLang="zh-CN"/>
              <a:t> -&gt; 4</a:t>
            </a:r>
            <a:r>
              <a:rPr lang="zh-CN" altLang="en-US"/>
              <a:t>、进行</a:t>
            </a:r>
            <a:r>
              <a:rPr lang="en-US" altLang="zh-CN"/>
              <a:t>Compare</a:t>
            </a:r>
            <a:r>
              <a:rPr lang="zh-CN" altLang="en-US"/>
              <a:t>比对</a:t>
            </a:r>
            <a:r>
              <a:rPr lang="en-US" altLang="zh-CN"/>
              <a:t> -&gt; 5</a:t>
            </a:r>
            <a:r>
              <a:rPr lang="zh-CN" altLang="en-US"/>
              <a:t>、解决冲突</a:t>
            </a:r>
            <a:r>
              <a:rPr lang="en-US" altLang="zh-CN"/>
              <a:t> -&gt; 6</a:t>
            </a:r>
            <a:r>
              <a:rPr lang="zh-CN" altLang="en-US"/>
              <a:t>、引用校验</a:t>
            </a:r>
            <a:r>
              <a:rPr lang="en-US" altLang="zh-CN"/>
              <a:t> -&gt; 7</a:t>
            </a:r>
            <a:r>
              <a:rPr lang="zh-CN" altLang="en-US"/>
              <a:t>、写回</a:t>
            </a:r>
            <a:r>
              <a:rPr lang="en-US" altLang="zh-CN"/>
              <a:t>(</a:t>
            </a:r>
            <a:r>
              <a:rPr lang="zh-CN" altLang="en-US"/>
              <a:t>含公式校验</a:t>
            </a:r>
            <a:r>
              <a:rPr lang="en-US" altLang="zh-CN"/>
              <a:t>)</a:t>
            </a:r>
            <a:endParaRPr lang="en-US" altLang="zh-CN"/>
          </a:p>
        </p:txBody>
      </p:sp>
      <p:cxnSp>
        <p:nvCxnSpPr>
          <p:cNvPr id="16" name="直接箭头连接符 15"/>
          <p:cNvCxnSpPr>
            <a:stCxn id="13" idx="2"/>
            <a:endCxn id="3" idx="0"/>
          </p:cNvCxnSpPr>
          <p:nvPr/>
        </p:nvCxnSpPr>
        <p:spPr>
          <a:xfrm flipH="1">
            <a:off x="1727835" y="2129790"/>
            <a:ext cx="920115" cy="3562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7" name="直接箭头连接符 16"/>
          <p:cNvCxnSpPr>
            <a:stCxn id="13" idx="2"/>
            <a:endCxn id="4" idx="0"/>
          </p:cNvCxnSpPr>
          <p:nvPr/>
        </p:nvCxnSpPr>
        <p:spPr>
          <a:xfrm>
            <a:off x="2647950" y="2129790"/>
            <a:ext cx="941070" cy="3467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>
            <a:stCxn id="3" idx="2"/>
            <a:endCxn id="7" idx="0"/>
          </p:cNvCxnSpPr>
          <p:nvPr/>
        </p:nvCxnSpPr>
        <p:spPr>
          <a:xfrm>
            <a:off x="1727835" y="2878455"/>
            <a:ext cx="983615" cy="2641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直接箭头连接符 18"/>
          <p:cNvCxnSpPr>
            <a:stCxn id="4" idx="2"/>
            <a:endCxn id="7" idx="0"/>
          </p:cNvCxnSpPr>
          <p:nvPr/>
        </p:nvCxnSpPr>
        <p:spPr>
          <a:xfrm flipH="1">
            <a:off x="2711450" y="2868930"/>
            <a:ext cx="877570" cy="2736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2" name="文本框 21"/>
          <p:cNvSpPr txBox="1"/>
          <p:nvPr/>
        </p:nvSpPr>
        <p:spPr>
          <a:xfrm>
            <a:off x="6273800" y="4330700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两套</a:t>
            </a:r>
            <a:r>
              <a:rPr lang="en-US" altLang="zh-CN"/>
              <a:t>Merge</a:t>
            </a:r>
            <a:r>
              <a:rPr lang="zh-CN" altLang="en-US"/>
              <a:t>模式除了分支、</a:t>
            </a:r>
            <a:r>
              <a:rPr lang="en-US" altLang="zh-CN"/>
              <a:t>base</a:t>
            </a:r>
            <a:r>
              <a:rPr lang="zh-CN" altLang="en-US"/>
              <a:t>确定上有差异，核心</a:t>
            </a:r>
            <a:r>
              <a:rPr lang="en-US" altLang="zh-CN"/>
              <a:t>diff</a:t>
            </a:r>
            <a:r>
              <a:rPr lang="zh-CN" altLang="en-US"/>
              <a:t>逻辑</a:t>
            </a:r>
            <a:r>
              <a:rPr lang="zh-CN" altLang="en-US"/>
              <a:t>一致。</a:t>
            </a:r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9946005" cy="41744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模拟实际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生产环境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生成的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SVN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目录如下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所示：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merge/svn/demo_svn/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├── repo/                      # svnadmin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仓库（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file://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直连，无需 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svnserve）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└── wc/                        #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工作副本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├── trunk/                 # 74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张 + 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subdev_1/2/3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子目录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│   ├── subdev_1/          # ability/const/item_drop/monster/reward（5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私有表）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│   ├── subdev_2/          # const/fabao/guild/mail/tips（5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小表）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│   └── subdev_3/          # ability/reward/map/interaction/world_buff（5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小表）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└── branches/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  ├── dev1/              #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全量（跨分支 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source/target）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  ├── dev2/              #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全量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  ├── dev3/              #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小表（删了大表，改 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ability/reward/tips）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       └── dev4/              # 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小表（删了大表，改 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const/fabao/guild）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10783570" cy="46113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三方合并如何确定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SVN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版本以及确定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base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分支与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版本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在选择分支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/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目录后，找到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base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分支与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base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版本的核心方法：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反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查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From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分支和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To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分支各自寻找自身的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；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、沿着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链上溯，寻找完整的祖先链；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、两条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copyfrom</a:t>
            </a:r>
            <a:r>
              <a:rPr kumimoji="1" lang="zh-CN" altLang="en-US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链交叉寻找最近公共祖先</a:t>
            </a:r>
            <a:r>
              <a:rPr kumimoji="1" lang="en-US" altLang="zh-CN" sz="14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(LCA)</a:t>
            </a:r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4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887095" y="2978785"/>
          <a:ext cx="4479290" cy="1543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014095"/>
                <a:gridCol w="1859280"/>
                <a:gridCol w="1605915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情况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copyfrom-</a:t>
                      </a:r>
                      <a:r>
                        <a:rPr lang="en-US" altLang="zh-CN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path</a:t>
                      </a:r>
                      <a:endParaRPr lang="en-US" altLang="zh-CN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标记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正常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切分支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trunk@r1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inferred=false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530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新建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路径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本身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inferred=true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329690"/>
            <a:ext cx="7367905" cy="38512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全流程：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提取数据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-&gt;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表头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diff-&gt;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主键对齐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-&gt;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行分类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-&gt;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逐格比对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-&gt;ID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重映射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514350" y="2126615"/>
          <a:ext cx="10118090" cy="382016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501140"/>
                <a:gridCol w="3488690"/>
                <a:gridCol w="2045970"/>
                <a:gridCol w="3082290"/>
              </a:tblGrid>
              <a:tr h="52133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版本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方法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问题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性能</a:t>
                      </a:r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提升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Python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三重循环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——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10w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行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*100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列会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卡死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根据哈希建立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row_idx_maps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O(n)线性扫描卡死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哈希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定位实现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O(n)-&gt;O(1)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使用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sparse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稀疏化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全表建立哈希内存过大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内存从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GB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级别降至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MB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级别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6597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numpy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向量化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逐单元格p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y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thon函数调用需要单一化，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消耗高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纯数据大表提升</a:t>
                      </a: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10-50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倍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97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</a:t>
                      </a:r>
                      <a:endParaRPr lang="en-US" altLang="zh-CN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公式、批注在sheet回退逐单元格循环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解决公式、批注向量化出错的问题</a:t>
                      </a:r>
                      <a:endParaRPr lang="en-US" altLang="zh-CN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保证性能同时保证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正确性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63065"/>
            <a:ext cx="10768965" cy="413702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具体讲解方法：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sparse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稀疏化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: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哈希索引解决了速度上的问题，物化了完整字典，但内存和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Json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都是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GB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级别；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对于没有差异的行只存一个主键格，不展开行内的其他单元格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保证正确性的措施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无差异的行直接应用基准；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引用完整性检查器对未变动行返回基准检查；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ID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重映射器只关注主键格；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numpy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向量化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: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正常情况运行每个单元格比对都需要进行一次语义归一函数，将单元格统一为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”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类型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+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数值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”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元组再进行比较，通过向量化预先算好每个文件的语义键矩阵，可以批量计算来加快速率。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10w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行表格从基线纯循环的卡死到向量化比对时间降至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3.9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s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63065"/>
            <a:ext cx="10768965" cy="413702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三方合并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ID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重映射，公式缓存方法的实现，主要是公式缓存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方法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检测同主键多来源的情况：不同分支各自新增两行不同内容的行，但是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id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编号一致，需要解决冲突</a:t>
            </a:r>
            <a:endParaRPr kumimoji="1" lang="en-US" altLang="zh-CN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过程：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1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、进行检测，找到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新增行，同时找出来自主键、来自不同文件的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行；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2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、判断内容是否相同：逐文件取整行签名比较，内容完全相同就合并为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一条；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3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、分配新主键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: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默认使用分配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max(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已用主键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)+1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14350" y="4119880"/>
            <a:ext cx="1109662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引用</a:t>
            </a:r>
            <a:r>
              <a:rPr lang="zh-CN" altLang="en-US"/>
              <a:t>完整性：</a:t>
            </a:r>
            <a:endParaRPr lang="zh-CN" altLang="en-US"/>
          </a:p>
          <a:p>
            <a:r>
              <a:rPr lang="en-US" altLang="zh-CN"/>
              <a:t>ID</a:t>
            </a:r>
            <a:r>
              <a:rPr lang="zh-CN" altLang="en-US"/>
              <a:t>重映射执行后，引用旧</a:t>
            </a:r>
            <a:r>
              <a:rPr lang="en-US" altLang="zh-CN"/>
              <a:t>ID</a:t>
            </a:r>
            <a:r>
              <a:rPr lang="zh-CN" altLang="en-US"/>
              <a:t>的外键需要同步更新，再检验悬空引用，不然外键指向不存在</a:t>
            </a:r>
            <a:r>
              <a:rPr lang="en-US" altLang="zh-CN"/>
              <a:t>ID</a:t>
            </a:r>
            <a:r>
              <a:rPr lang="zh-CN" altLang="en-US"/>
              <a:t>会导致引用</a:t>
            </a:r>
            <a:r>
              <a:rPr lang="zh-CN" altLang="en-US"/>
              <a:t>断裂。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525905"/>
            <a:ext cx="10768965" cy="413702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3875" y="1610995"/>
            <a:ext cx="9961880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/>
              <a:t>公式缓存保护</a:t>
            </a:r>
            <a:r>
              <a:rPr lang="en-US" altLang="zh-CN" b="1"/>
              <a:t>:</a:t>
            </a:r>
            <a:endParaRPr lang="en-US" altLang="zh-CN" b="1"/>
          </a:p>
          <a:p>
            <a:r>
              <a:rPr lang="zh-CN" altLang="en-US"/>
              <a:t>对于公式缓存，在</a:t>
            </a:r>
            <a:r>
              <a:rPr lang="en-US" altLang="zh-CN"/>
              <a:t>compare</a:t>
            </a:r>
            <a:r>
              <a:rPr lang="zh-CN" altLang="en-US"/>
              <a:t>比对阶段系统只会读取数据，不做任何写入，只有在执行</a:t>
            </a:r>
            <a:r>
              <a:rPr lang="en-US" altLang="zh-CN"/>
              <a:t>save</a:t>
            </a:r>
            <a:r>
              <a:rPr lang="zh-CN" altLang="en-US"/>
              <a:t>写回操作的时候</a:t>
            </a:r>
            <a:r>
              <a:rPr lang="en-US" altLang="zh-CN"/>
              <a:t>openpyxl</a:t>
            </a:r>
            <a:r>
              <a:rPr lang="zh-CN" altLang="en-US"/>
              <a:t>才有可能清空缓存，因此将公式缓存校验逻辑部署在写盘这个</a:t>
            </a:r>
            <a:r>
              <a:rPr lang="zh-CN" altLang="en-US"/>
              <a:t>操作；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通过使用</a:t>
            </a:r>
            <a:r>
              <a:rPr lang="en-US" altLang="zh-CN" b="1"/>
              <a:t>zip</a:t>
            </a:r>
            <a:r>
              <a:rPr lang="zh-CN" altLang="en-US" b="1"/>
              <a:t>扫描</a:t>
            </a:r>
            <a:r>
              <a:rPr lang="en-US" altLang="zh-CN" b="1"/>
              <a:t>excel</a:t>
            </a:r>
            <a:r>
              <a:rPr lang="zh-CN" altLang="en-US" b="1"/>
              <a:t>文件底层的</a:t>
            </a:r>
            <a:r>
              <a:rPr lang="en-US" altLang="zh-CN" b="1"/>
              <a:t>XML</a:t>
            </a:r>
            <a:r>
              <a:rPr lang="zh-CN" altLang="en-US" b="1"/>
              <a:t>字节流</a:t>
            </a:r>
            <a:r>
              <a:rPr lang="zh-CN" altLang="en-US"/>
              <a:t>，查找</a:t>
            </a:r>
            <a:r>
              <a:rPr lang="en-US" altLang="zh-CN" b="1"/>
              <a:t>&lt;f&gt;</a:t>
            </a:r>
            <a:r>
              <a:rPr lang="zh-CN" altLang="en-US" b="1"/>
              <a:t>公式标签</a:t>
            </a:r>
            <a:r>
              <a:rPr lang="zh-CN" altLang="en-US"/>
              <a:t>判断表格中是否存在</a:t>
            </a:r>
            <a:r>
              <a:rPr lang="zh-CN" altLang="en-US"/>
              <a:t>公式</a:t>
            </a:r>
            <a:endParaRPr lang="zh-CN" altLang="en-US"/>
          </a:p>
          <a:p>
            <a:r>
              <a:rPr lang="zh-CN" altLang="en-US"/>
              <a:t>测试使用</a:t>
            </a:r>
            <a:r>
              <a:rPr lang="en-US" altLang="zh-CN"/>
              <a:t>10w</a:t>
            </a:r>
            <a:r>
              <a:rPr lang="zh-CN" altLang="en-US"/>
              <a:t>行的表格，</a:t>
            </a:r>
            <a:r>
              <a:rPr lang="en-US" altLang="zh-CN"/>
              <a:t>openpyxl</a:t>
            </a:r>
            <a:r>
              <a:rPr lang="zh-CN" altLang="en-US"/>
              <a:t>全量读取需要</a:t>
            </a:r>
            <a:r>
              <a:rPr lang="en-US" altLang="zh-CN"/>
              <a:t>6.1s,</a:t>
            </a:r>
            <a:r>
              <a:rPr lang="zh-CN" altLang="en-US"/>
              <a:t>对于</a:t>
            </a:r>
            <a:r>
              <a:rPr lang="en-US" altLang="zh-CN"/>
              <a:t>zip</a:t>
            </a:r>
            <a:r>
              <a:rPr lang="zh-CN" altLang="en-US"/>
              <a:t>扫描只需要</a:t>
            </a:r>
            <a:r>
              <a:rPr lang="en-US" altLang="zh-CN"/>
              <a:t>0.05s</a:t>
            </a:r>
            <a:r>
              <a:rPr lang="zh-CN" altLang="en-US"/>
              <a:t>。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06755" y="3735070"/>
            <a:ext cx="10417810" cy="25723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校验与修复全</a:t>
            </a:r>
            <a:r>
              <a:rPr lang="zh-CN" altLang="en-US"/>
              <a:t>流程：</a:t>
            </a:r>
            <a:endParaRPr lang="zh-CN" altLang="en-US"/>
          </a:p>
          <a:p>
            <a:r>
              <a:rPr lang="en-US" altLang="zh-CN"/>
              <a:t>1</a:t>
            </a:r>
            <a:r>
              <a:rPr lang="zh-CN" altLang="en-US"/>
              <a:t>、表中无公式则走</a:t>
            </a:r>
            <a:r>
              <a:rPr lang="zh-CN" altLang="en-US"/>
              <a:t>最快速路径；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、将保存后文件读回，并与保存前快照做比较，若保存前后出现缓存值消失，则为缓存丢失，标记为</a:t>
            </a:r>
            <a:r>
              <a:rPr lang="en-US" altLang="zh-CN"/>
              <a:t>lost</a:t>
            </a:r>
            <a:r>
              <a:rPr lang="zh-CN" altLang="en-US"/>
              <a:t>；若前后值不一致，则属于正常的缓存更新，标记为</a:t>
            </a:r>
            <a:r>
              <a:rPr lang="en-US" altLang="zh-CN"/>
              <a:t>changed</a:t>
            </a:r>
            <a:r>
              <a:rPr lang="zh-CN" altLang="en-US"/>
              <a:t>；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、对于</a:t>
            </a:r>
            <a:r>
              <a:rPr lang="en-US" altLang="zh-CN"/>
              <a:t>changed</a:t>
            </a:r>
            <a:r>
              <a:rPr lang="zh-CN" altLang="en-US"/>
              <a:t>情况，</a:t>
            </a:r>
            <a:r>
              <a:rPr lang="zh-CN" altLang="en-US"/>
              <a:t>无需修复；</a:t>
            </a:r>
            <a:endParaRPr lang="zh-CN" altLang="en-US"/>
          </a:p>
          <a:p>
            <a:r>
              <a:rPr lang="en-US" altLang="zh-CN"/>
              <a:t>4</a:t>
            </a:r>
            <a:r>
              <a:rPr lang="zh-CN" altLang="en-US"/>
              <a:t>、对于</a:t>
            </a:r>
            <a:r>
              <a:rPr lang="en-US" altLang="zh-CN"/>
              <a:t>lost</a:t>
            </a:r>
            <a:r>
              <a:rPr lang="zh-CN" altLang="en-US"/>
              <a:t>情况，调用</a:t>
            </a:r>
            <a:r>
              <a:rPr lang="en-US" altLang="zh-CN"/>
              <a:t>LibreOffice</a:t>
            </a:r>
            <a:r>
              <a:rPr lang="zh-CN" altLang="en-US"/>
              <a:t>对文件进行重算，进行再度</a:t>
            </a:r>
            <a:r>
              <a:rPr lang="zh-CN" altLang="en-US"/>
              <a:t>校验。</a:t>
            </a:r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377950"/>
            <a:ext cx="11321415" cy="53193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LibreOffice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重算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设置保护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:</a:t>
            </a:r>
            <a:endParaRPr kumimoji="1" lang="en-US" altLang="zh-CN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60s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超时上限，避免单文件卡死全流程；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文件添加互斥锁，保护文件不被损坏；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重算结果先输出到临时目录，再替换掉源文件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对于大数据量表格，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fast_apply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快路径</a:t>
            </a:r>
            <a:r>
              <a:rPr kumimoji="1" lang="en-US" altLang="zh-CN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+zip+XML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的形式直接修改目标单元格，不触碰公式单元格，不会破坏公式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缓存。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公式单元格冲突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解决：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对于公式单元格，系统会将其识别为公式列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(diff_type=formula)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公式写法一致但缓存值不一致，视为不冲突，如果公式引用的输入值发生变化，会有标记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formula_changed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，调用内置求值器预览重算结果进行展示；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公式写法不一致则视为公式冲突，这时在冲突显示界面会显示单元格原有的公式，供用户比对选择。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选择写回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用户选择公式版本以后，系统回打上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formula_resolved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标记，在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apply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写回阶段根据标记将用户选择的公式文本写回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单元格。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377950"/>
            <a:ext cx="11321415" cy="53193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AI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建议处理冲突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AI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建议的完整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链路：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点击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AI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建议前端发送请求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-&gt;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调用线程池进行运行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-&gt;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根据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LLM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输入拼成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prompt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发送给模型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-&gt;LLM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返回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Json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输出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-&gt;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防幻觉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校验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LLM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输入因子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:</a:t>
            </a:r>
            <a:endParaRPr kumimoji="1" lang="en-US" altLang="zh-CN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LLM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输出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Json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：建议选择分支版本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+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原因</a:t>
            </a:r>
            <a:r>
              <a:rPr kumimoji="1" lang="en-US" altLang="zh-CN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+</a:t>
            </a:r>
            <a:r>
              <a:rPr kumimoji="1" lang="zh-CN" altLang="en-US" sz="1600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置信度</a:t>
            </a:r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aphicFrame>
        <p:nvGraphicFramePr>
          <p:cNvPr id="2" name="表格 1"/>
          <p:cNvGraphicFramePr/>
          <p:nvPr/>
        </p:nvGraphicFramePr>
        <p:xfrm>
          <a:off x="2112645" y="2660015"/>
          <a:ext cx="477901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5225"/>
                <a:gridCol w="234378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因子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作用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400"/>
                        <a:t>SVN rev/SVN date</a:t>
                      </a:r>
                      <a:endParaRPr lang="en-US" altLang="zh-CN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版本越新倾向于采纳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列名语义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判断值是否合理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单元格值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判断值是否异常</a:t>
                      </a:r>
                      <a:endParaRPr lang="zh-CN" altLang="en-US" sz="1400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基准值</a:t>
                      </a:r>
                      <a:endParaRPr lang="zh-CN" altLang="en-US" sz="14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1400"/>
                        <a:t>提供</a:t>
                      </a:r>
                      <a:r>
                        <a:rPr lang="en-US" altLang="zh-CN" sz="1400"/>
                        <a:t>base</a:t>
                      </a:r>
                      <a:r>
                        <a:rPr lang="zh-CN" altLang="en-US" sz="1400"/>
                        <a:t>值供参考</a:t>
                      </a:r>
                      <a:endParaRPr lang="zh-CN" altLang="en-US" sz="14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377950"/>
            <a:ext cx="11321415" cy="53193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14350" y="1400810"/>
            <a:ext cx="11362690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置信度计算：三因子</a:t>
            </a:r>
            <a:r>
              <a:rPr lang="zh-CN" altLang="en-US"/>
              <a:t>加权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三因子：</a:t>
            </a:r>
            <a:endParaRPr lang="zh-CN" altLang="en-US"/>
          </a:p>
          <a:p>
            <a:r>
              <a:rPr lang="en-US" altLang="zh-CN"/>
              <a:t>LLM</a:t>
            </a:r>
            <a:r>
              <a:rPr lang="zh-CN" altLang="en-US"/>
              <a:t>自评因子</a:t>
            </a:r>
            <a:r>
              <a:rPr lang="en-US" altLang="zh-CN"/>
              <a:t>llm_conf:LLM</a:t>
            </a:r>
            <a:r>
              <a:rPr lang="zh-CN" altLang="en-US"/>
              <a:t>自行评价得出指标；</a:t>
            </a:r>
            <a:endParaRPr lang="en-US" altLang="zh-CN"/>
          </a:p>
          <a:p>
            <a:r>
              <a:rPr lang="zh-CN" altLang="en-US"/>
              <a:t>修订号领先度因子</a:t>
            </a:r>
            <a:r>
              <a:rPr lang="en-US" altLang="zh-CN"/>
              <a:t>rev_conf:</a:t>
            </a:r>
            <a:r>
              <a:rPr lang="zh-CN" altLang="en-US"/>
              <a:t>版本越领先取值</a:t>
            </a:r>
            <a:r>
              <a:rPr lang="zh-CN" altLang="en-US"/>
              <a:t>越高；</a:t>
            </a:r>
            <a:endParaRPr lang="zh-CN" altLang="en-US"/>
          </a:p>
          <a:p>
            <a:r>
              <a:rPr lang="zh-CN" altLang="en-US"/>
              <a:t>值域合理性因子</a:t>
            </a:r>
            <a:r>
              <a:rPr lang="en-US" altLang="zh-CN"/>
              <a:t>value_conf:</a:t>
            </a:r>
            <a:r>
              <a:rPr lang="zh-CN" altLang="en-US"/>
              <a:t>取值月合理分支</a:t>
            </a:r>
            <a:r>
              <a:rPr lang="zh-CN" altLang="en-US"/>
              <a:t>越高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Final_conf=0.6*llm_conf+0.25*rev_conf+0.15*value_conf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并行应用</a:t>
            </a:r>
            <a:r>
              <a:rPr lang="zh-CN" altLang="en-US"/>
              <a:t>技术：</a:t>
            </a:r>
            <a:endParaRPr lang="zh-CN" altLang="en-US"/>
          </a:p>
          <a:p>
            <a:r>
              <a:rPr lang="zh-CN" altLang="en-US"/>
              <a:t>缓存优先：缓存键由表名、</a:t>
            </a:r>
            <a:r>
              <a:rPr lang="en-US" altLang="zh-CN"/>
              <a:t>sheet</a:t>
            </a:r>
            <a:r>
              <a:rPr lang="zh-CN" altLang="en-US"/>
              <a:t>名、列名和版本哈希组成，命中且未过期则</a:t>
            </a:r>
            <a:r>
              <a:rPr lang="zh-CN" altLang="en-US"/>
              <a:t>返回；</a:t>
            </a:r>
            <a:endParaRPr lang="zh-CN" altLang="en-US"/>
          </a:p>
          <a:p>
            <a:r>
              <a:rPr lang="zh-CN" altLang="en-US"/>
              <a:t>批量</a:t>
            </a:r>
            <a:r>
              <a:rPr lang="en-US" altLang="zh-CN"/>
              <a:t>LLM</a:t>
            </a:r>
            <a:r>
              <a:rPr lang="zh-CN" altLang="en-US"/>
              <a:t>：将为缓存的单元格拼接进</a:t>
            </a:r>
            <a:r>
              <a:rPr lang="en-US" altLang="zh-CN"/>
              <a:t>prompt</a:t>
            </a:r>
            <a:r>
              <a:rPr lang="zh-CN" altLang="en-US"/>
              <a:t>，让</a:t>
            </a:r>
            <a:r>
              <a:rPr lang="en-US" altLang="zh-CN"/>
              <a:t>LLM</a:t>
            </a:r>
            <a:r>
              <a:rPr lang="zh-CN" altLang="en-US"/>
              <a:t>一次调用返回</a:t>
            </a:r>
            <a:r>
              <a:rPr lang="en-US" altLang="zh-CN"/>
              <a:t>json</a:t>
            </a:r>
            <a:r>
              <a:rPr lang="zh-CN" altLang="en-US"/>
              <a:t>，根据</a:t>
            </a:r>
            <a:r>
              <a:rPr lang="en-US" altLang="zh-CN"/>
              <a:t>index</a:t>
            </a:r>
            <a:r>
              <a:rPr lang="zh-CN" altLang="en-US"/>
              <a:t>返回位置；</a:t>
            </a:r>
            <a:endParaRPr lang="zh-CN" altLang="en-US"/>
          </a:p>
          <a:p>
            <a:r>
              <a:rPr lang="zh-CN" altLang="en-US"/>
              <a:t>回退并行：在批量操作失败的情况下用线程池并</a:t>
            </a:r>
            <a:r>
              <a:rPr lang="zh-CN" altLang="en-US"/>
              <a:t>发逐格</a:t>
            </a:r>
            <a:r>
              <a:rPr lang="zh-CN" altLang="en-US"/>
              <a:t>调用。</a:t>
            </a:r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653540"/>
            <a:ext cx="11188700" cy="41173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大表格比对的性能解决方案，通过使用什么方法提升了</a:t>
            </a:r>
            <a:r>
              <a:rPr kumimoji="1" lang="zh-CN" altLang="en-US" sz="1600" b="1" dirty="0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多少</a:t>
            </a:r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algn="l"/>
            <a:endParaRPr kumimoji="1" lang="zh-CN" altLang="en-US" sz="16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graphicFrame>
        <p:nvGraphicFramePr>
          <p:cNvPr id="59" name="表格 2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514350" y="2068830"/>
          <a:ext cx="10299065" cy="395224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553585"/>
                <a:gridCol w="574548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</a:t>
                      </a:r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项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受益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calamine Rust 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读引擎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222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次打开表格时长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17.5s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64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svn info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批量预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填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192s-&gt;0.2s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ProcessPool/ThreadPool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并行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对于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个表格时长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3.69s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1.84s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fast_apply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快路径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25MB的</a:t>
                      </a: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sheet XML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序列化从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3.4s</a:t>
                      </a:r>
                      <a:r>
                        <a:rPr lang="zh-CN" altLang="en-US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优化到</a:t>
                      </a:r>
                      <a:r>
                        <a:rPr lang="en-US" altLang="zh-CN" sz="1200" b="1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0.98s</a:t>
                      </a:r>
                      <a:endParaRPr lang="en-US" altLang="zh-CN" sz="1200" b="1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165"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未变更表跳过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+mn-ea"/>
                        </a:rPr>
                        <a:t>可以跳过占大多数的表格体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Merge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4350" y="1377950"/>
            <a:ext cx="11321415" cy="53193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/>
            <a:endParaRPr kumimoji="1" lang="zh-CN" altLang="en-US" sz="16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05460" y="1482725"/>
            <a:ext cx="11022330" cy="3692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并行：</a:t>
            </a:r>
            <a:r>
              <a:rPr lang="en-US" altLang="zh-CN"/>
              <a:t>ProcessPool vs ThreadPool</a:t>
            </a:r>
            <a:endParaRPr lang="en-US" altLang="zh-CN"/>
          </a:p>
          <a:p>
            <a:r>
              <a:rPr lang="zh-CN" altLang="en-US"/>
              <a:t>并行方案按表数量自动选择：表数大于等于 4 时用 </a:t>
            </a:r>
            <a:r>
              <a:rPr lang="en-US" altLang="zh-CN"/>
              <a:t>ProcessPool（</a:t>
            </a:r>
            <a:r>
              <a:rPr lang="zh-CN" altLang="en-US"/>
              <a:t>多进程，绕开 </a:t>
            </a:r>
            <a:r>
              <a:rPr lang="en-US" altLang="zh-CN"/>
              <a:t>GIL，CPU </a:t>
            </a:r>
            <a:r>
              <a:rPr lang="zh-CN" altLang="en-US"/>
              <a:t>密集才有效），表数小于 4 时用 </a:t>
            </a:r>
            <a:r>
              <a:rPr lang="en-US" altLang="zh-CN"/>
              <a:t>ThreadPool（</a:t>
            </a:r>
            <a:r>
              <a:rPr lang="zh-CN" altLang="en-US"/>
              <a:t>小表在 </a:t>
            </a:r>
            <a:r>
              <a:rPr lang="en-US" altLang="zh-CN"/>
              <a:t>IO </a:t>
            </a:r>
            <a:r>
              <a:rPr lang="zh-CN" altLang="en-US"/>
              <a:t>阶段会释放 </a:t>
            </a:r>
            <a:r>
              <a:rPr lang="en-US" altLang="zh-CN"/>
              <a:t>GIL，</a:t>
            </a:r>
            <a:r>
              <a:rPr lang="zh-CN" altLang="en-US"/>
              <a:t>省掉进程启动开销），</a:t>
            </a:r>
            <a:r>
              <a:rPr lang="en-US" altLang="zh-CN"/>
              <a:t>worker </a:t>
            </a:r>
            <a:r>
              <a:rPr lang="zh-CN" altLang="en-US"/>
              <a:t>上限取表数、4、</a:t>
            </a:r>
            <a:r>
              <a:rPr lang="en-US" altLang="zh-CN"/>
              <a:t>CPU </a:t>
            </a:r>
            <a:r>
              <a:rPr lang="zh-CN" altLang="en-US"/>
              <a:t>核数三者的最小值。之所以不用纯 </a:t>
            </a:r>
            <a:r>
              <a:rPr lang="en-US" altLang="zh-CN"/>
              <a:t>ThreadPool，</a:t>
            </a:r>
            <a:r>
              <a:rPr lang="zh-CN" altLang="en-US"/>
              <a:t>是因为 </a:t>
            </a:r>
            <a:r>
              <a:rPr lang="en-US" altLang="zh-CN"/>
              <a:t>Python </a:t>
            </a:r>
            <a:r>
              <a:rPr lang="zh-CN" altLang="en-US"/>
              <a:t>的 </a:t>
            </a:r>
            <a:r>
              <a:rPr lang="en-US" altLang="zh-CN"/>
              <a:t>GIL </a:t>
            </a:r>
            <a:r>
              <a:rPr lang="zh-CN" altLang="en-US"/>
              <a:t>导致多线程跑 </a:t>
            </a:r>
            <a:r>
              <a:rPr lang="en-US" altLang="zh-CN"/>
              <a:t>CPU </a:t>
            </a:r>
            <a:r>
              <a:rPr lang="zh-CN" altLang="en-US"/>
              <a:t>密集任务时没有加速（实测只有 0.96 倍），多进程才是真正的并行。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fast_apply </a:t>
            </a:r>
            <a:r>
              <a:rPr lang="zh-CN" altLang="en-US"/>
              <a:t>快路径（大表写回）</a:t>
            </a:r>
            <a:endParaRPr lang="zh-CN" altLang="en-US"/>
          </a:p>
          <a:p>
            <a:r>
              <a:rPr lang="zh-CN" altLang="en-US"/>
              <a:t>大表写回也做了专门的优化。问题是 10 万行表用 </a:t>
            </a:r>
            <a:r>
              <a:rPr lang="en-US" altLang="zh-CN"/>
              <a:t>openpyxl </a:t>
            </a:r>
            <a:r>
              <a:rPr lang="zh-CN" altLang="en-US"/>
              <a:t>全量读入再保存大约要 13 秒，但合并通常只改十几个格子，为了十几个格子重写整个文件非常浪费。解决方法是直接操作文件底层的 </a:t>
            </a:r>
            <a:r>
              <a:rPr lang="en-US" altLang="zh-CN"/>
              <a:t>XML，</a:t>
            </a:r>
            <a:r>
              <a:rPr lang="zh-CN" altLang="en-US"/>
              <a:t>只改目标格：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zip </a:t>
            </a:r>
            <a:r>
              <a:rPr lang="zh-CN" altLang="en-US"/>
              <a:t>解包 → </a:t>
            </a:r>
            <a:r>
              <a:rPr lang="en-US" altLang="zh-CN"/>
              <a:t>lxml </a:t>
            </a:r>
            <a:r>
              <a:rPr lang="zh-CN" altLang="en-US"/>
              <a:t>改目标 </a:t>
            </a:r>
            <a:r>
              <a:rPr lang="en-US" altLang="zh-CN"/>
              <a:t>sheet XML → </a:t>
            </a:r>
            <a:r>
              <a:rPr lang="zh-CN" altLang="en-US"/>
              <a:t>重打包</a:t>
            </a:r>
            <a:endParaRPr lang="zh-CN" altLang="en-US"/>
          </a:p>
          <a:p>
            <a:r>
              <a:rPr lang="zh-CN" altLang="en-US"/>
              <a:t>快路径有资格判定：文件不小于 512</a:t>
            </a:r>
            <a:r>
              <a:rPr lang="en-US" altLang="zh-CN"/>
              <a:t>KB（</a:t>
            </a:r>
            <a:r>
              <a:rPr lang="zh-CN" altLang="en-US"/>
              <a:t>小表不值得走快路径）、不含合并单元格、含公式时仅允许"更新格"操作。由于 </a:t>
            </a:r>
            <a:r>
              <a:rPr lang="en-US" altLang="zh-CN"/>
              <a:t>lxml </a:t>
            </a:r>
            <a:r>
              <a:rPr lang="zh-CN" altLang="en-US"/>
              <a:t>是 </a:t>
            </a:r>
            <a:r>
              <a:rPr lang="en-US" altLang="zh-CN"/>
              <a:t>C </a:t>
            </a:r>
            <a:r>
              <a:rPr lang="zh-CN" altLang="en-US"/>
              <a:t>实现，25</a:t>
            </a:r>
            <a:r>
              <a:rPr lang="en-US" altLang="zh-CN"/>
              <a:t>MB </a:t>
            </a:r>
            <a:r>
              <a:rPr lang="zh-CN" altLang="en-US"/>
              <a:t>的 </a:t>
            </a:r>
            <a:r>
              <a:rPr lang="en-US" altLang="zh-CN"/>
              <a:t>sheet XML </a:t>
            </a:r>
            <a:r>
              <a:rPr lang="zh-CN" altLang="en-US"/>
              <a:t>序列化从 3.4 秒降到了约 1 秒。</a:t>
            </a:r>
            <a:endParaRPr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dirty="0"/>
              <a:t>四、总结</a:t>
            </a:r>
            <a:endParaRPr lang="en-US" altLang="zh-CN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模板使用说明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/>
          <p:cNvSpPr txBox="1"/>
          <p:nvPr/>
        </p:nvSpPr>
        <p:spPr>
          <a:xfrm>
            <a:off x="780579" y="1486264"/>
            <a:ext cx="10336696" cy="4706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、本模板为通用模板，仅适用于基础性制作需求，使用时请根据工作实际需求进行微调。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 PPT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模板中的背景版式、辅助图形、文字内容、配图等，可进行相应替换、删减。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 PPT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模板中的公司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Logo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，仅适用于可代表公司层面的相关商务洽谈、合作、展示场景。非必要情况，请勿使用，或可替换为其它适用的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Logo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、如您在使用中对此模板有任何问题及建议，请添加 </a:t>
            </a:r>
            <a:r>
              <a:rPr kumimoji="1"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popo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群沟通反馈（ </a:t>
            </a:r>
            <a:r>
              <a:rPr kumimoji="1"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popo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群号：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1587248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）。本模板将基于使用者建议定期优化更新。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联系人</a:t>
            </a:r>
            <a:endParaRPr kumimoji="1"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总裁办 薛婧婷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hlinkClick r:id="rId1"/>
              </a:rPr>
              <a:t>hzxuejingting@crop.netease.com</a:t>
            </a:r>
            <a:endParaRPr kumimoji="1"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</a:pP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UEDC 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杨魏 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hlinkClick r:id="rId2"/>
              </a:rPr>
              <a:t>hzyangwei@corp.netease.com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" name="图形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5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、基本背景样式</a:t>
            </a:r>
            <a:endParaRPr lang="zh-CN" altLang="en-US" dirty="0"/>
          </a:p>
        </p:txBody>
      </p:sp>
      <p:pic>
        <p:nvPicPr>
          <p:cNvPr id="4" name="图形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4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、基本版面样式</a:t>
            </a:r>
            <a:endParaRPr lang="zh-CN" altLang="en-US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6" name="图形 1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+mj-ea"/>
                <a:ea typeface="+mj-ea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6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1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文本框 31"/>
          <p:cNvSpPr txBox="1"/>
          <p:nvPr/>
        </p:nvSpPr>
        <p:spPr>
          <a:xfrm>
            <a:off x="2666878" y="1916597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2666878" y="2382893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3" name="对角圆角矩形 2"/>
          <p:cNvSpPr/>
          <p:nvPr/>
        </p:nvSpPr>
        <p:spPr>
          <a:xfrm>
            <a:off x="1877057" y="1981184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1870775" y="2026624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2666878" y="4250586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2666878" y="4684608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7882580" y="1913902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7882580" y="2380198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58" name="对角圆角矩形 2"/>
          <p:cNvSpPr/>
          <p:nvPr/>
        </p:nvSpPr>
        <p:spPr>
          <a:xfrm>
            <a:off x="7092759" y="1978489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7086478" y="2039084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7882580" y="4250586"/>
            <a:ext cx="44196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22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7882580" y="4684608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1200" dirty="0">
                <a:solidFill>
                  <a:srgbClr val="A80D0B"/>
                </a:solidFill>
                <a:latin typeface="+mj-ea"/>
                <a:ea typeface="+mj-ea"/>
              </a:rPr>
              <a:t>具体事项简述内容分类项目关系</a:t>
            </a:r>
            <a:endParaRPr kumimoji="1" lang="zh-CN" altLang="en-US" sz="1200" dirty="0">
              <a:solidFill>
                <a:srgbClr val="A80D0B"/>
              </a:solidFill>
              <a:latin typeface="+mj-ea"/>
              <a:ea typeface="+mj-ea"/>
            </a:endParaRPr>
          </a:p>
        </p:txBody>
      </p:sp>
      <p:sp>
        <p:nvSpPr>
          <p:cNvPr id="22" name="对角圆角矩形 2"/>
          <p:cNvSpPr/>
          <p:nvPr/>
        </p:nvSpPr>
        <p:spPr>
          <a:xfrm>
            <a:off x="1878320" y="4304376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1872039" y="4364971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4" name="对角圆角矩形 2"/>
          <p:cNvSpPr/>
          <p:nvPr/>
        </p:nvSpPr>
        <p:spPr>
          <a:xfrm>
            <a:off x="7092759" y="4304376"/>
            <a:ext cx="619490" cy="619490"/>
          </a:xfrm>
          <a:prstGeom prst="roundRect">
            <a:avLst>
              <a:gd name="adj" fmla="val 3341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rgbClr val="A80D0B"/>
              </a:solidFill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7086478" y="4364971"/>
            <a:ext cx="625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b="1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kumimoji="1" lang="zh-CN" altLang="en-US" sz="28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pic>
        <p:nvPicPr>
          <p:cNvPr id="26" name="图形 2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333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1409626" y="1587488"/>
            <a:ext cx="5719380" cy="1015663"/>
            <a:chOff x="3034476" y="6900502"/>
            <a:chExt cx="5719380" cy="1015663"/>
          </a:xfrm>
        </p:grpSpPr>
        <p:sp>
          <p:nvSpPr>
            <p:cNvPr id="31" name="文本框 30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34" name="直线连接符 33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组合 35"/>
          <p:cNvGrpSpPr/>
          <p:nvPr/>
        </p:nvGrpSpPr>
        <p:grpSpPr>
          <a:xfrm>
            <a:off x="6705241" y="1587488"/>
            <a:ext cx="5719380" cy="1015663"/>
            <a:chOff x="3034476" y="6900502"/>
            <a:chExt cx="5719380" cy="1015663"/>
          </a:xfrm>
        </p:grpSpPr>
        <p:sp>
          <p:nvSpPr>
            <p:cNvPr id="37" name="文本框 36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40" name="直线连接符 39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组合 40"/>
          <p:cNvGrpSpPr/>
          <p:nvPr/>
        </p:nvGrpSpPr>
        <p:grpSpPr>
          <a:xfrm>
            <a:off x="1409626" y="4206168"/>
            <a:ext cx="5719380" cy="1015663"/>
            <a:chOff x="3034476" y="6900502"/>
            <a:chExt cx="5719380" cy="1015663"/>
          </a:xfrm>
        </p:grpSpPr>
        <p:sp>
          <p:nvSpPr>
            <p:cNvPr id="42" name="文本框 41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60" name="直线连接符 59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组合 60"/>
          <p:cNvGrpSpPr/>
          <p:nvPr/>
        </p:nvGrpSpPr>
        <p:grpSpPr>
          <a:xfrm>
            <a:off x="6705241" y="4206168"/>
            <a:ext cx="5719380" cy="1015663"/>
            <a:chOff x="3034476" y="6900502"/>
            <a:chExt cx="5719380" cy="1015663"/>
          </a:xfrm>
        </p:grpSpPr>
        <p:sp>
          <p:nvSpPr>
            <p:cNvPr id="62" name="文本框 61"/>
            <p:cNvSpPr txBox="1"/>
            <p:nvPr/>
          </p:nvSpPr>
          <p:spPr>
            <a:xfrm>
              <a:off x="3034476" y="6900502"/>
              <a:ext cx="13392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6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4334256" y="6999994"/>
              <a:ext cx="44196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小标题内容</a:t>
              </a:r>
              <a:endParaRPr kumimoji="1"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4334256" y="7477048"/>
              <a:ext cx="44196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1200" dirty="0">
                  <a:solidFill>
                    <a:schemeClr val="bg1"/>
                  </a:solidFill>
                  <a:latin typeface="+mj-ea"/>
                  <a:ea typeface="+mj-ea"/>
                </a:rPr>
                <a:t>具体事项简述内容分类项目关系</a:t>
              </a:r>
              <a:endParaRPr kumimoji="1" lang="zh-CN" altLang="en-US" sz="1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cxnSp>
          <p:nvCxnSpPr>
            <p:cNvPr id="65" name="直线连接符 64"/>
            <p:cNvCxnSpPr/>
            <p:nvPr/>
          </p:nvCxnSpPr>
          <p:spPr>
            <a:xfrm>
              <a:off x="4204511" y="7070636"/>
              <a:ext cx="0" cy="61052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/>
          <p:nvPr/>
        </p:nvSpPr>
        <p:spPr>
          <a:xfrm>
            <a:off x="597712" y="3120437"/>
            <a:ext cx="7927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597712" y="3654249"/>
            <a:ext cx="7489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小标题内容说明小标题内容说明小标题内容说明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597712" y="4188061"/>
            <a:ext cx="7489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97713" y="4721873"/>
            <a:ext cx="7489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小标题内容说明小标题内容说明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97712" y="5255686"/>
            <a:ext cx="74890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   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4719920" y="364242"/>
            <a:ext cx="763893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10000" dirty="0">
                <a:solidFill>
                  <a:srgbClr val="C21C1C"/>
                </a:solidFill>
                <a:ea typeface="PingFang SC Regular" panose="020B0300000000000000" pitchFamily="34" charset="-128"/>
                <a:cs typeface="Arial" panose="020B0604020202020204" pitchFamily="34" charset="0"/>
              </a:rPr>
              <a:t>CONTENTS</a:t>
            </a:r>
            <a:endParaRPr kumimoji="1" lang="zh-CN" altLang="en-US" sz="10000" dirty="0">
              <a:solidFill>
                <a:srgbClr val="C21C1C"/>
              </a:solidFill>
              <a:ea typeface="PingFang SC Regular" panose="020B0300000000000000" pitchFamily="34" charset="-128"/>
              <a:cs typeface="Arial" panose="020B0604020202020204" pitchFamily="34" charset="0"/>
            </a:endParaRPr>
          </a:p>
        </p:txBody>
      </p:sp>
      <p:cxnSp>
        <p:nvCxnSpPr>
          <p:cNvPr id="67" name="直接连接符 66"/>
          <p:cNvCxnSpPr/>
          <p:nvPr/>
        </p:nvCxnSpPr>
        <p:spPr>
          <a:xfrm>
            <a:off x="683438" y="6111095"/>
            <a:ext cx="10718593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形 1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0" name="组合 19"/>
          <p:cNvGrpSpPr/>
          <p:nvPr/>
        </p:nvGrpSpPr>
        <p:grpSpPr>
          <a:xfrm>
            <a:off x="4770526" y="1277040"/>
            <a:ext cx="2722227" cy="2714683"/>
            <a:chOff x="3462868" y="3718731"/>
            <a:chExt cx="2722227" cy="2714683"/>
          </a:xfrm>
        </p:grpSpPr>
        <p:sp>
          <p:nvSpPr>
            <p:cNvPr id="21" name="文本框 20"/>
            <p:cNvSpPr txBox="1"/>
            <p:nvPr/>
          </p:nvSpPr>
          <p:spPr>
            <a:xfrm>
              <a:off x="3462868" y="3718731"/>
              <a:ext cx="27222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主标题内容详情</a:t>
              </a:r>
              <a:endParaRPr kumimoji="1"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3462868" y="4537895"/>
              <a:ext cx="2722227" cy="18955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  <a:spcAft>
                  <a:spcPts val="1200"/>
                </a:spcAft>
              </a:pP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而是看到了这句话在当下的价值。当时推出句话“网聚人的力量”。我们将这句话写入公司使命。</a:t>
              </a:r>
              <a:endParaRPr kumimoji="1"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4" name="直线连接符 101"/>
            <p:cNvCxnSpPr/>
            <p:nvPr/>
          </p:nvCxnSpPr>
          <p:spPr>
            <a:xfrm>
              <a:off x="3555678" y="43018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组合 24"/>
          <p:cNvGrpSpPr/>
          <p:nvPr/>
        </p:nvGrpSpPr>
        <p:grpSpPr>
          <a:xfrm>
            <a:off x="1325990" y="1277040"/>
            <a:ext cx="2722227" cy="4561342"/>
            <a:chOff x="3462868" y="3718731"/>
            <a:chExt cx="2722227" cy="4561342"/>
          </a:xfrm>
        </p:grpSpPr>
        <p:sp>
          <p:nvSpPr>
            <p:cNvPr id="26" name="文本框 25"/>
            <p:cNvSpPr txBox="1"/>
            <p:nvPr/>
          </p:nvSpPr>
          <p:spPr>
            <a:xfrm>
              <a:off x="3462868" y="3718731"/>
              <a:ext cx="27222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主标题内容详情</a:t>
              </a:r>
              <a:endParaRPr kumimoji="1"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3462868" y="4537895"/>
              <a:ext cx="2722227" cy="37421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  <a:spcAft>
                  <a:spcPts val="1200"/>
                </a:spcAft>
              </a:pP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而是看到了这句话在当下的价值。当时推出句话“网聚人的力量”。我们将这句话写入公司使命，不是说要重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而是看到这句句话在当下的价值互联网怎么改变未来</a:t>
              </a:r>
              <a:endParaRPr kumimoji="1"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8" name="直线连接符 101"/>
            <p:cNvCxnSpPr/>
            <p:nvPr/>
          </p:nvCxnSpPr>
          <p:spPr>
            <a:xfrm>
              <a:off x="3555678" y="43018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组合 28"/>
          <p:cNvGrpSpPr/>
          <p:nvPr/>
        </p:nvGrpSpPr>
        <p:grpSpPr>
          <a:xfrm>
            <a:off x="8217236" y="1277040"/>
            <a:ext cx="2722227" cy="3453347"/>
            <a:chOff x="3462868" y="3718731"/>
            <a:chExt cx="2722227" cy="3453347"/>
          </a:xfrm>
        </p:grpSpPr>
        <p:sp>
          <p:nvSpPr>
            <p:cNvPr id="30" name="文本框 29"/>
            <p:cNvSpPr txBox="1"/>
            <p:nvPr/>
          </p:nvSpPr>
          <p:spPr>
            <a:xfrm>
              <a:off x="3462868" y="3718731"/>
              <a:ext cx="272222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sz="28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主标题内容详情</a:t>
              </a:r>
              <a:endParaRPr kumimoji="1" lang="en-US" altLang="zh-CN" sz="2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3462868" y="4537895"/>
              <a:ext cx="2722227" cy="26341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  <a:spcAft>
                  <a:spcPts val="1200"/>
                </a:spcAft>
              </a:pP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而是看到了这句话在当下的价值。当时推出句话“网聚人的力量”。我们将这句话写入公司使命，不是说要重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而是看到了不是说要重</a:t>
              </a:r>
              <a:r>
                <a:rPr kumimoji="1" lang="en-US" altLang="zh-CN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而是看到不是说要重</a:t>
              </a:r>
              <a:endParaRPr kumimoji="1" lang="en-US" altLang="zh-CN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2" name="直线连接符 101"/>
            <p:cNvCxnSpPr/>
            <p:nvPr/>
          </p:nvCxnSpPr>
          <p:spPr>
            <a:xfrm>
              <a:off x="3555678" y="4301829"/>
              <a:ext cx="533375" cy="0"/>
            </a:xfrm>
            <a:prstGeom prst="line">
              <a:avLst/>
            </a:prstGeom>
            <a:ln w="25400">
              <a:solidFill>
                <a:srgbClr val="A50A0D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、小标题页</a:t>
            </a:r>
            <a:endParaRPr lang="zh-CN" altLang="en-US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dirty="0"/>
              <a:t>三、成果</a:t>
            </a:r>
            <a:r>
              <a:rPr lang="zh-CN" altLang="en-US" dirty="0"/>
              <a:t>数据</a:t>
            </a:r>
            <a:endParaRPr lang="zh-CN" altLang="en-US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7592838" y="-350089"/>
            <a:ext cx="5211427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0" dirty="0">
                <a:solidFill>
                  <a:srgbClr val="C21C1C"/>
                </a:solidFill>
                <a:latin typeface="+mj-ea"/>
                <a:ea typeface="+mj-ea"/>
                <a:cs typeface="Arial" panose="020B0604020202020204" pitchFamily="34" charset="0"/>
              </a:rPr>
              <a:t>2</a:t>
            </a:r>
            <a:endParaRPr kumimoji="1" lang="zh-CN" altLang="en-US" sz="40000" dirty="0">
              <a:solidFill>
                <a:srgbClr val="C21C1C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612265" y="3809846"/>
            <a:ext cx="52913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50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50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12265" y="5361290"/>
            <a:ext cx="395067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100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100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>
            <a:off x="683438" y="6111095"/>
            <a:ext cx="10718593" cy="0"/>
          </a:xfrm>
          <a:prstGeom prst="line">
            <a:avLst/>
          </a:prstGeom>
          <a:ln w="57150">
            <a:solidFill>
              <a:srgbClr val="A80D0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形 8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直线连接符 33"/>
          <p:cNvCxnSpPr/>
          <p:nvPr/>
        </p:nvCxnSpPr>
        <p:spPr>
          <a:xfrm>
            <a:off x="-234980" y="8379851"/>
            <a:ext cx="0" cy="6105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5267774" y="2986000"/>
            <a:ext cx="4419600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500" b="1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小标题内容</a:t>
            </a:r>
            <a:endParaRPr kumimoji="1" lang="zh-CN" altLang="en-US" sz="3500" b="1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对角圆角矩形 10"/>
          <p:cNvSpPr/>
          <p:nvPr/>
        </p:nvSpPr>
        <p:spPr>
          <a:xfrm>
            <a:off x="4274301" y="3029400"/>
            <a:ext cx="875172" cy="875172"/>
          </a:xfrm>
          <a:prstGeom prst="roundRect">
            <a:avLst>
              <a:gd name="adj" fmla="val 4695"/>
            </a:avLst>
          </a:prstGeom>
          <a:solidFill>
            <a:srgbClr val="A80D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4274301" y="3153333"/>
            <a:ext cx="8751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kumimoji="1" lang="zh-CN" altLang="en-US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5294668" y="3594861"/>
            <a:ext cx="42044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100" dirty="0">
                <a:solidFill>
                  <a:srgbClr val="A80D0B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100" dirty="0">
              <a:solidFill>
                <a:srgbClr val="A80D0B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8" name="图形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769718" y="583704"/>
            <a:ext cx="131625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5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kumimoji="1" lang="zh-CN" altLang="en-US" sz="56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769718" y="2268547"/>
            <a:ext cx="6602632" cy="205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6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07818" y="4321417"/>
            <a:ext cx="829376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" name="直接连接符 7"/>
          <p:cNvCxnSpPr/>
          <p:nvPr/>
        </p:nvCxnSpPr>
        <p:spPr>
          <a:xfrm>
            <a:off x="914400" y="1594961"/>
            <a:ext cx="352540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、单图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多图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文字页</a:t>
            </a:r>
            <a:endParaRPr lang="zh-CN" altLang="en-US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3168336" y="3154632"/>
            <a:ext cx="58553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</a:t>
            </a:r>
            <a:endParaRPr kumimoji="1"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线连接符 11"/>
          <p:cNvCxnSpPr/>
          <p:nvPr/>
        </p:nvCxnSpPr>
        <p:spPr>
          <a:xfrm>
            <a:off x="5842042" y="3969280"/>
            <a:ext cx="533375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/>
          <p:cNvPicPr>
            <a:picLocks noChangeAspect="1"/>
          </p:cNvPicPr>
          <p:nvPr/>
        </p:nvPicPr>
        <p:blipFill rotWithShape="1">
          <a:blip r:embed="rId1"/>
          <a:srcRect t="24036" b="46067"/>
          <a:stretch>
            <a:fillRect/>
          </a:stretch>
        </p:blipFill>
        <p:spPr>
          <a:xfrm>
            <a:off x="0" y="0"/>
            <a:ext cx="12192000" cy="2406642"/>
          </a:xfrm>
          <a:prstGeom prst="rect">
            <a:avLst/>
          </a:prstGeom>
        </p:spPr>
      </p:pic>
      <p:pic>
        <p:nvPicPr>
          <p:cNvPr id="20" name="图形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333339" y="4475447"/>
            <a:ext cx="7550779" cy="787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互联网怎么改变未来，当时推出了一句话“网聚人的力量”。我们将这句话写了这句而是到了这句话互联网怎么改变未来，当时推当改变未来</a:t>
            </a:r>
            <a:endParaRPr kumimoji="1"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7435" y="6327573"/>
            <a:ext cx="886932" cy="165100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359587" y="0"/>
            <a:ext cx="4831335" cy="68580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058933" y="1255747"/>
            <a:ext cx="4979917" cy="1399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" name="直线连接符 11"/>
          <p:cNvCxnSpPr/>
          <p:nvPr/>
        </p:nvCxnSpPr>
        <p:spPr>
          <a:xfrm>
            <a:off x="1155948" y="2756952"/>
            <a:ext cx="533375" cy="0"/>
          </a:xfrm>
          <a:prstGeom prst="line">
            <a:avLst/>
          </a:prstGeom>
          <a:ln w="2540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/>
          <p:cNvSpPr txBox="1"/>
          <p:nvPr/>
        </p:nvSpPr>
        <p:spPr>
          <a:xfrm>
            <a:off x="1058933" y="3171958"/>
            <a:ext cx="5037067" cy="1526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600" dirty="0">
                <a:solidFill>
                  <a:schemeClr val="bg1"/>
                </a:solidFill>
                <a:latin typeface="+mj-ea"/>
                <a:ea typeface="+mj-ea"/>
              </a:rPr>
              <a:t>互联网怎么改变未来，当时推出了一句话“网聚人的力量”。我们将这句话写了这句而是到了这句话互联网怎么改变未来，当时推当改变未来，当时推当时推出出时推出出了一句话“网聚人的力量”。</a:t>
            </a:r>
            <a:endParaRPr kumimoji="1" lang="en-US" altLang="zh-CN" sz="16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965433" y="1244171"/>
            <a:ext cx="4175180" cy="4369659"/>
          </a:xfrm>
          <a:prstGeom prst="roundRect">
            <a:avLst>
              <a:gd name="adj" fmla="val 2910"/>
            </a:avLst>
          </a:prstGeom>
        </p:spPr>
      </p:pic>
      <p:pic>
        <p:nvPicPr>
          <p:cNvPr id="6" name="图形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949693" y="1095428"/>
            <a:ext cx="5304160" cy="1399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标题内容简述部分说明通知说明</a:t>
            </a:r>
            <a:endParaRPr kumimoji="1"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959218" y="3025376"/>
            <a:ext cx="5304160" cy="2264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228600" indent="-228600">
              <a:lnSpc>
                <a:spcPct val="150000"/>
              </a:lnSpc>
              <a:buFont typeface="+mj-ea"/>
              <a:buAutoNum type="circleNumDbPlain"/>
              <a:defRPr kumimoji="1" sz="1600">
                <a:solidFill>
                  <a:schemeClr val="tx1">
                    <a:lumMod val="75000"/>
                    <a:lumOff val="25000"/>
                  </a:schemeClr>
                </a:solidFill>
                <a:latin typeface="PingFang SC Light" panose="020B0300000000000000" pitchFamily="34" charset="-122"/>
                <a:ea typeface="PingFang SC Light" panose="020B0300000000000000" pitchFamily="34" charset="-122"/>
              </a:defRPr>
            </a:lvl1pPr>
          </a:lstStyle>
          <a:p>
            <a:r>
              <a:rPr lang="zh-CN" altLang="en-US" dirty="0">
                <a:latin typeface="+mj-ea"/>
                <a:ea typeface="+mj-ea"/>
              </a:rPr>
              <a:t>互联网怎么改变未来当时推出了一句话“网聚人的力量”</a:t>
            </a:r>
            <a:endParaRPr lang="en-US" altLang="zh-CN" dirty="0">
              <a:latin typeface="+mj-ea"/>
              <a:ea typeface="+mj-ea"/>
            </a:endParaRPr>
          </a:p>
          <a:p>
            <a:endParaRPr lang="en-US" altLang="zh-CN" dirty="0">
              <a:latin typeface="+mj-ea"/>
              <a:ea typeface="+mj-ea"/>
            </a:endParaRPr>
          </a:p>
          <a:p>
            <a:r>
              <a:rPr lang="zh-CN" altLang="en-US" dirty="0">
                <a:latin typeface="+mj-ea"/>
                <a:ea typeface="+mj-ea"/>
              </a:rPr>
              <a:t>互联网怎么改变未来，我们将这句话写了这句</a:t>
            </a:r>
            <a:endParaRPr lang="en-US" altLang="zh-CN" dirty="0">
              <a:latin typeface="+mj-ea"/>
              <a:ea typeface="+mj-ea"/>
            </a:endParaRPr>
          </a:p>
          <a:p>
            <a:endParaRPr lang="en-US" altLang="zh-CN" dirty="0">
              <a:latin typeface="+mj-ea"/>
              <a:ea typeface="+mj-ea"/>
            </a:endParaRPr>
          </a:p>
          <a:p>
            <a:r>
              <a:rPr lang="zh-CN" altLang="en-US" dirty="0">
                <a:latin typeface="+mj-ea"/>
                <a:ea typeface="+mj-ea"/>
              </a:rPr>
              <a:t>互联网怎么改变未来，当时推出了一句话</a:t>
            </a:r>
            <a:endParaRPr lang="en-US" altLang="zh-CN" dirty="0">
              <a:latin typeface="+mj-ea"/>
              <a:ea typeface="+mj-ea"/>
            </a:endParaRPr>
          </a:p>
          <a:p>
            <a:endParaRPr lang="en-US" altLang="zh-CN" dirty="0">
              <a:latin typeface="+mj-ea"/>
              <a:ea typeface="+mj-ea"/>
            </a:endParaRPr>
          </a:p>
        </p:txBody>
      </p:sp>
      <p:cxnSp>
        <p:nvCxnSpPr>
          <p:cNvPr id="9" name="直线连接符 11"/>
          <p:cNvCxnSpPr/>
          <p:nvPr/>
        </p:nvCxnSpPr>
        <p:spPr>
          <a:xfrm>
            <a:off x="1051418" y="2593639"/>
            <a:ext cx="533375" cy="0"/>
          </a:xfrm>
          <a:prstGeom prst="line">
            <a:avLst/>
          </a:prstGeom>
          <a:ln w="25400">
            <a:solidFill>
              <a:srgbClr val="C21C1C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图形 2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8" name="组合 27"/>
          <p:cNvGrpSpPr/>
          <p:nvPr/>
        </p:nvGrpSpPr>
        <p:grpSpPr>
          <a:xfrm>
            <a:off x="4603300" y="4000412"/>
            <a:ext cx="2985400" cy="1564116"/>
            <a:chOff x="872806" y="3520575"/>
            <a:chExt cx="2985400" cy="1564116"/>
          </a:xfrm>
        </p:grpSpPr>
        <p:sp>
          <p:nvSpPr>
            <p:cNvPr id="29" name="文本框 28"/>
            <p:cNvSpPr txBox="1"/>
            <p:nvPr/>
          </p:nvSpPr>
          <p:spPr>
            <a:xfrm>
              <a:off x="872806" y="4297168"/>
              <a:ext cx="2985400" cy="787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互联网怎么改变未来，当时推出了一句话“网聚人的力量”。</a:t>
              </a:r>
              <a:endPara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989831" y="3520575"/>
              <a:ext cx="27513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标题内容简述</a:t>
              </a:r>
              <a:endPara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989831" y="3938990"/>
              <a:ext cx="27513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3" name="组合 32"/>
          <p:cNvGrpSpPr/>
          <p:nvPr/>
        </p:nvGrpSpPr>
        <p:grpSpPr>
          <a:xfrm>
            <a:off x="8241850" y="4000412"/>
            <a:ext cx="2985400" cy="1561136"/>
            <a:chOff x="872806" y="3520575"/>
            <a:chExt cx="2985400" cy="1561136"/>
          </a:xfrm>
        </p:grpSpPr>
        <p:sp>
          <p:nvSpPr>
            <p:cNvPr id="34" name="文本框 33"/>
            <p:cNvSpPr txBox="1"/>
            <p:nvPr/>
          </p:nvSpPr>
          <p:spPr>
            <a:xfrm>
              <a:off x="872806" y="4294188"/>
              <a:ext cx="2985400" cy="787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互联网怎么改变未来，当时推出了一句话“网聚人的力量”。</a:t>
              </a:r>
              <a:endPara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989831" y="3520575"/>
              <a:ext cx="27513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标题内容简述</a:t>
              </a:r>
              <a:endPara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989831" y="3938990"/>
              <a:ext cx="27513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847632" y="1235714"/>
            <a:ext cx="2985400" cy="4325834"/>
            <a:chOff x="872806" y="757367"/>
            <a:chExt cx="2985400" cy="4325834"/>
          </a:xfrm>
        </p:grpSpPr>
        <p:sp>
          <p:nvSpPr>
            <p:cNvPr id="39" name="文本框 38"/>
            <p:cNvSpPr txBox="1"/>
            <p:nvPr/>
          </p:nvSpPr>
          <p:spPr>
            <a:xfrm>
              <a:off x="872806" y="4295678"/>
              <a:ext cx="2985400" cy="787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互联网怎么改变未来，当时推出了一句话“网聚人的力量”。</a:t>
              </a:r>
              <a:endPara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989831" y="3520575"/>
              <a:ext cx="27513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标题内容简述</a:t>
              </a:r>
              <a:endPara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1" name="图片 4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>
            <a:xfrm>
              <a:off x="1114892" y="757367"/>
              <a:ext cx="2501227" cy="2452749"/>
            </a:xfrm>
            <a:prstGeom prst="roundRect">
              <a:avLst>
                <a:gd name="adj" fmla="val 50000"/>
              </a:avLst>
            </a:prstGeom>
          </p:spPr>
        </p:pic>
        <p:sp>
          <p:nvSpPr>
            <p:cNvPr id="42" name="文本框 41"/>
            <p:cNvSpPr txBox="1"/>
            <p:nvPr/>
          </p:nvSpPr>
          <p:spPr>
            <a:xfrm>
              <a:off x="989831" y="3938990"/>
              <a:ext cx="27513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8" name="图片 1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45386" y="1235714"/>
            <a:ext cx="2501227" cy="2452749"/>
          </a:xfrm>
          <a:prstGeom prst="roundRect">
            <a:avLst>
              <a:gd name="adj" fmla="val 50000"/>
            </a:avLst>
          </a:prstGeom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483936" y="1235714"/>
            <a:ext cx="2501227" cy="2452749"/>
          </a:xfrm>
          <a:prstGeom prst="roundRect">
            <a:avLst>
              <a:gd name="adj" fmla="val 50000"/>
            </a:avLst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: 圆角 34"/>
          <p:cNvSpPr/>
          <p:nvPr/>
        </p:nvSpPr>
        <p:spPr>
          <a:xfrm>
            <a:off x="890269" y="1918886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47" name="图片 46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89528" y="1918887"/>
            <a:ext cx="2271600" cy="2270118"/>
          </a:xfrm>
          <a:prstGeom prst="round2SameRect">
            <a:avLst>
              <a:gd name="adj1" fmla="val 3253"/>
              <a:gd name="adj2" fmla="val 0"/>
            </a:avLst>
          </a:prstGeom>
        </p:spPr>
      </p:pic>
      <p:sp>
        <p:nvSpPr>
          <p:cNvPr id="50" name="文本框 49"/>
          <p:cNvSpPr txBox="1"/>
          <p:nvPr/>
        </p:nvSpPr>
        <p:spPr>
          <a:xfrm>
            <a:off x="945291" y="4309138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9" name="直线连接符 48"/>
          <p:cNvCxnSpPr/>
          <p:nvPr/>
        </p:nvCxnSpPr>
        <p:spPr>
          <a:xfrm>
            <a:off x="1046601" y="4697477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/>
          <p:cNvSpPr txBox="1"/>
          <p:nvPr/>
        </p:nvSpPr>
        <p:spPr>
          <a:xfrm>
            <a:off x="945291" y="4777126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1" y="657160"/>
            <a:ext cx="1219199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1" y="1206917"/>
            <a:ext cx="12191999" cy="377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我们将写入写入这句话写入公司使命不是说要重</a:t>
            </a:r>
            <a:r>
              <a:rPr kumimoji="1" lang="en-US" altLang="zh-CN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,</a:t>
            </a:r>
            <a:r>
              <a:rPr kumimoji="1" lang="zh-CN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而是看到了这句话在当下的价值。</a:t>
            </a:r>
            <a:endParaRPr kumimoji="1" lang="en-US" altLang="zh-CN" sz="14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34" name="图形 3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sp>
        <p:nvSpPr>
          <p:cNvPr id="72" name="矩形: 圆角 71"/>
          <p:cNvSpPr/>
          <p:nvPr/>
        </p:nvSpPr>
        <p:spPr>
          <a:xfrm>
            <a:off x="3613593" y="1913571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73" name="图片 7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613593" y="1913572"/>
            <a:ext cx="2271589" cy="2272329"/>
          </a:xfrm>
          <a:prstGeom prst="round2SameRect">
            <a:avLst>
              <a:gd name="adj1" fmla="val 3253"/>
              <a:gd name="adj2" fmla="val 0"/>
            </a:avLst>
          </a:prstGeom>
        </p:spPr>
      </p:pic>
      <p:sp>
        <p:nvSpPr>
          <p:cNvPr id="74" name="文本框 73"/>
          <p:cNvSpPr txBox="1"/>
          <p:nvPr/>
        </p:nvSpPr>
        <p:spPr>
          <a:xfrm>
            <a:off x="3668616" y="4303823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5" name="直线连接符 48"/>
          <p:cNvCxnSpPr/>
          <p:nvPr/>
        </p:nvCxnSpPr>
        <p:spPr>
          <a:xfrm>
            <a:off x="3769926" y="4698024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文本框 75"/>
          <p:cNvSpPr txBox="1"/>
          <p:nvPr/>
        </p:nvSpPr>
        <p:spPr>
          <a:xfrm>
            <a:off x="3668616" y="4768148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矩形: 圆角 29"/>
          <p:cNvSpPr/>
          <p:nvPr/>
        </p:nvSpPr>
        <p:spPr>
          <a:xfrm>
            <a:off x="6336176" y="1913571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文本框 31"/>
          <p:cNvSpPr txBox="1"/>
          <p:nvPr/>
        </p:nvSpPr>
        <p:spPr>
          <a:xfrm>
            <a:off x="6391198" y="4303823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线连接符 48"/>
          <p:cNvCxnSpPr/>
          <p:nvPr/>
        </p:nvCxnSpPr>
        <p:spPr>
          <a:xfrm>
            <a:off x="6492508" y="4692162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6391198" y="4771811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8" name="矩形: 圆角 47"/>
          <p:cNvSpPr/>
          <p:nvPr/>
        </p:nvSpPr>
        <p:spPr>
          <a:xfrm>
            <a:off x="9060243" y="1913571"/>
            <a:ext cx="2272330" cy="3929529"/>
          </a:xfrm>
          <a:prstGeom prst="roundRect">
            <a:avLst>
              <a:gd name="adj" fmla="val 3648"/>
            </a:avLst>
          </a:prstGeom>
          <a:solidFill>
            <a:srgbClr val="EFEC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/>
          <p:cNvSpPr txBox="1"/>
          <p:nvPr/>
        </p:nvSpPr>
        <p:spPr>
          <a:xfrm>
            <a:off x="9115265" y="4303823"/>
            <a:ext cx="2191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en-US" altLang="zh-CN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4" name="直线连接符 48"/>
          <p:cNvCxnSpPr/>
          <p:nvPr/>
        </p:nvCxnSpPr>
        <p:spPr>
          <a:xfrm>
            <a:off x="9216575" y="4692162"/>
            <a:ext cx="295558" cy="0"/>
          </a:xfrm>
          <a:prstGeom prst="line">
            <a:avLst/>
          </a:prstGeom>
          <a:ln w="22225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/>
          <p:cNvSpPr txBox="1"/>
          <p:nvPr/>
        </p:nvSpPr>
        <p:spPr>
          <a:xfrm>
            <a:off x="9115265" y="4771811"/>
            <a:ext cx="2191252" cy="8989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</a:rPr>
              <a:t>互联网怎么改变未来，当时推出了一句话“网聚人的力量”。我们将这句话写入公司使命。</a:t>
            </a:r>
            <a:endParaRPr kumimoji="1" lang="en-US" altLang="zh-CN" sz="1200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25" name="图片 2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51024" y="1913571"/>
            <a:ext cx="2271600" cy="2270118"/>
          </a:xfrm>
          <a:prstGeom prst="round2SameRect">
            <a:avLst>
              <a:gd name="adj1" fmla="val 3253"/>
              <a:gd name="adj2" fmla="val 0"/>
            </a:avLst>
          </a:prstGeom>
        </p:spPr>
      </p:pic>
      <p:pic>
        <p:nvPicPr>
          <p:cNvPr id="26" name="图片 2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75091" y="1913571"/>
            <a:ext cx="2271600" cy="2270118"/>
          </a:xfrm>
          <a:prstGeom prst="round2SameRect">
            <a:avLst>
              <a:gd name="adj1" fmla="val 3253"/>
              <a:gd name="adj2" fmla="val 0"/>
            </a:avLst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、多文字页</a:t>
            </a: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列表页</a:t>
            </a:r>
            <a:endParaRPr lang="zh-CN" alt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文本框 52"/>
          <p:cNvSpPr txBox="1"/>
          <p:nvPr/>
        </p:nvSpPr>
        <p:spPr>
          <a:xfrm>
            <a:off x="-25066" y="1051577"/>
            <a:ext cx="1221706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3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标题内容简述部分说明通知</a:t>
            </a:r>
            <a:endParaRPr kumimoji="1" lang="zh-CN" altLang="en-US" sz="3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-12533" y="1605575"/>
            <a:ext cx="12192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GB" altLang="zh-CN" sz="1400" spc="1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400" spc="1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grpSp>
        <p:nvGrpSpPr>
          <p:cNvPr id="3" name="组合 2"/>
          <p:cNvGrpSpPr/>
          <p:nvPr/>
        </p:nvGrpSpPr>
        <p:grpSpPr>
          <a:xfrm>
            <a:off x="1104125" y="2428806"/>
            <a:ext cx="2818861" cy="3155079"/>
            <a:chOff x="1104125" y="2428806"/>
            <a:chExt cx="2818861" cy="3155079"/>
          </a:xfrm>
        </p:grpSpPr>
        <p:sp>
          <p:nvSpPr>
            <p:cNvPr id="26" name="矩形: 圆角 25"/>
            <p:cNvSpPr/>
            <p:nvPr/>
          </p:nvSpPr>
          <p:spPr>
            <a:xfrm>
              <a:off x="1104125" y="2428806"/>
              <a:ext cx="2818861" cy="3155079"/>
            </a:xfrm>
            <a:prstGeom prst="roundRect">
              <a:avLst>
                <a:gd name="adj" fmla="val 25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1291735" y="2760238"/>
              <a:ext cx="2428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latin typeface="PingFang SC Light" panose="020B0300000000000000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sz="2400" b="1" dirty="0">
                <a:latin typeface="PingFang SC Light" panose="020B0300000000000000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244466" y="3482358"/>
              <a:ext cx="2531060" cy="1257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244466" y="3144810"/>
              <a:ext cx="25310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4674036" y="2428806"/>
            <a:ext cx="2818861" cy="3155079"/>
            <a:chOff x="1104125" y="2428806"/>
            <a:chExt cx="2818861" cy="3155079"/>
          </a:xfrm>
        </p:grpSpPr>
        <p:sp>
          <p:nvSpPr>
            <p:cNvPr id="31" name="矩形: 圆角 30"/>
            <p:cNvSpPr/>
            <p:nvPr/>
          </p:nvSpPr>
          <p:spPr>
            <a:xfrm>
              <a:off x="1104125" y="2428806"/>
              <a:ext cx="2818861" cy="3155079"/>
            </a:xfrm>
            <a:prstGeom prst="roundRect">
              <a:avLst>
                <a:gd name="adj" fmla="val 25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文本框 31"/>
            <p:cNvSpPr txBox="1"/>
            <p:nvPr/>
          </p:nvSpPr>
          <p:spPr>
            <a:xfrm>
              <a:off x="1291735" y="2760238"/>
              <a:ext cx="2428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latin typeface="PingFang SC Light" panose="020B0300000000000000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sz="2400" b="1" dirty="0">
                <a:latin typeface="PingFang SC Light" panose="020B0300000000000000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文本框 32"/>
            <p:cNvSpPr txBox="1"/>
            <p:nvPr/>
          </p:nvSpPr>
          <p:spPr>
            <a:xfrm>
              <a:off x="1244466" y="3482358"/>
              <a:ext cx="2531060" cy="1257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1244466" y="3144810"/>
              <a:ext cx="25310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35" name="组合 34"/>
          <p:cNvGrpSpPr/>
          <p:nvPr/>
        </p:nvGrpSpPr>
        <p:grpSpPr>
          <a:xfrm>
            <a:off x="8269014" y="2428806"/>
            <a:ext cx="2818861" cy="3155079"/>
            <a:chOff x="1104125" y="2428806"/>
            <a:chExt cx="2818861" cy="3155079"/>
          </a:xfrm>
        </p:grpSpPr>
        <p:sp>
          <p:nvSpPr>
            <p:cNvPr id="36" name="矩形: 圆角 35"/>
            <p:cNvSpPr/>
            <p:nvPr/>
          </p:nvSpPr>
          <p:spPr>
            <a:xfrm>
              <a:off x="1104125" y="2428806"/>
              <a:ext cx="2818861" cy="3155079"/>
            </a:xfrm>
            <a:prstGeom prst="roundRect">
              <a:avLst>
                <a:gd name="adj" fmla="val 258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1291735" y="2760238"/>
              <a:ext cx="242864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400" b="1" dirty="0">
                  <a:latin typeface="PingFang SC Light" panose="020B0300000000000000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sz="2400" b="1" dirty="0">
                <a:latin typeface="PingFang SC Light" panose="020B0300000000000000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244466" y="3482358"/>
              <a:ext cx="2531060" cy="12572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3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3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244466" y="3144810"/>
              <a:ext cx="253106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>The content of the title</a:t>
              </a:r>
              <a:endParaRPr kumimoji="1" lang="zh-CN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图片 36"/>
          <p:cNvPicPr>
            <a:picLocks noChangeAspect="1"/>
          </p:cNvPicPr>
          <p:nvPr>
            <p:custDataLst>
              <p:tags r:id="rId1"/>
            </p:custData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76"/>
          <a:stretch>
            <a:fillRect/>
          </a:stretch>
        </p:blipFill>
        <p:spPr>
          <a:xfrm>
            <a:off x="0" y="3747221"/>
            <a:ext cx="12192000" cy="2566542"/>
          </a:xfrm>
          <a:prstGeom prst="rect">
            <a:avLst/>
          </a:prstGeom>
        </p:spPr>
      </p:pic>
      <p:sp>
        <p:nvSpPr>
          <p:cNvPr id="34" name="文本框 33"/>
          <p:cNvSpPr txBox="1"/>
          <p:nvPr/>
        </p:nvSpPr>
        <p:spPr>
          <a:xfrm>
            <a:off x="575872" y="591376"/>
            <a:ext cx="7121068" cy="768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kumimoji="1"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时间轴标题内容</a:t>
            </a:r>
            <a:endParaRPr kumimoji="1"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直线连接符 11"/>
          <p:cNvCxnSpPr/>
          <p:nvPr/>
        </p:nvCxnSpPr>
        <p:spPr>
          <a:xfrm>
            <a:off x="683058" y="1704938"/>
            <a:ext cx="533375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575872" y="1320563"/>
            <a:ext cx="360746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GB" altLang="zh-CN" sz="1500" spc="1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Template description</a:t>
            </a:r>
            <a:endParaRPr kumimoji="1" lang="zh-CN" altLang="en-US" sz="1500" spc="1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5046" y="5879704"/>
            <a:ext cx="747798" cy="139201"/>
          </a:xfrm>
          <a:prstGeom prst="rect">
            <a:avLst/>
          </a:prstGeom>
        </p:spPr>
      </p:pic>
      <p:cxnSp>
        <p:nvCxnSpPr>
          <p:cNvPr id="25" name="直线连接符 11"/>
          <p:cNvCxnSpPr/>
          <p:nvPr/>
        </p:nvCxnSpPr>
        <p:spPr>
          <a:xfrm>
            <a:off x="-826" y="3737492"/>
            <a:ext cx="12192000" cy="0"/>
          </a:xfrm>
          <a:prstGeom prst="line">
            <a:avLst/>
          </a:prstGeom>
          <a:ln w="19050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/>
          <p:cNvGrpSpPr/>
          <p:nvPr/>
        </p:nvGrpSpPr>
        <p:grpSpPr>
          <a:xfrm>
            <a:off x="571597" y="3068862"/>
            <a:ext cx="2458507" cy="1973604"/>
            <a:chOff x="615987" y="3619287"/>
            <a:chExt cx="2458507" cy="1973604"/>
          </a:xfrm>
        </p:grpSpPr>
        <p:sp>
          <p:nvSpPr>
            <p:cNvPr id="39" name="文本框 38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624865" y="4569149"/>
              <a:ext cx="2449629" cy="1023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当时推出句话“网聚人的力量”。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椭圆 40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3440919" y="3068862"/>
            <a:ext cx="2458507" cy="2296769"/>
            <a:chOff x="615987" y="3619287"/>
            <a:chExt cx="2458507" cy="2296769"/>
          </a:xfrm>
        </p:grpSpPr>
        <p:sp>
          <p:nvSpPr>
            <p:cNvPr id="43" name="文本框 42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624865" y="4569149"/>
              <a:ext cx="2449629" cy="1346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 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椭圆 44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6310241" y="3068862"/>
            <a:ext cx="2458507" cy="2296769"/>
            <a:chOff x="615987" y="3619287"/>
            <a:chExt cx="2458507" cy="2296769"/>
          </a:xfrm>
        </p:grpSpPr>
        <p:sp>
          <p:nvSpPr>
            <p:cNvPr id="47" name="文本框 46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624865" y="4569149"/>
              <a:ext cx="2449629" cy="13469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而是看到了这句话在当下的价值。当时推出句话“网聚人的力量”。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椭圆 48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0" name="组合 49"/>
          <p:cNvGrpSpPr/>
          <p:nvPr/>
        </p:nvGrpSpPr>
        <p:grpSpPr>
          <a:xfrm>
            <a:off x="9179564" y="3068862"/>
            <a:ext cx="2458507" cy="1973604"/>
            <a:chOff x="615987" y="3619287"/>
            <a:chExt cx="2458507" cy="1973604"/>
          </a:xfrm>
        </p:grpSpPr>
        <p:sp>
          <p:nvSpPr>
            <p:cNvPr id="51" name="文本框 50"/>
            <p:cNvSpPr txBox="1"/>
            <p:nvPr/>
          </p:nvSpPr>
          <p:spPr>
            <a:xfrm>
              <a:off x="615987" y="3619287"/>
              <a:ext cx="18637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zh-CN" altLang="en-US" b="1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主标题内容</a:t>
              </a:r>
              <a:endParaRPr kumimoji="1" lang="en-US" altLang="zh-CN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624865" y="4569149"/>
              <a:ext cx="2449629" cy="102374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lnSpc>
                  <a:spcPct val="150000"/>
                </a:lnSpc>
              </a:pP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互联网怎么改变未来，当时推出不是说要重</a:t>
              </a:r>
              <a:r>
                <a:rPr kumimoji="1"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,</a:t>
              </a:r>
              <a:r>
                <a:rPr kumimoji="1"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而是看到了这句话在当下的价值。</a:t>
              </a:r>
              <a:endParaRPr kumimoji="1"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椭圆 52"/>
            <p:cNvSpPr/>
            <p:nvPr/>
          </p:nvSpPr>
          <p:spPr>
            <a:xfrm>
              <a:off x="717916" y="4217207"/>
              <a:ext cx="134340" cy="134340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图片 1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57" name="文本框 56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8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77" name="直线连接符 11"/>
          <p:cNvCxnSpPr/>
          <p:nvPr/>
        </p:nvCxnSpPr>
        <p:spPr>
          <a:xfrm>
            <a:off x="-826" y="5298982"/>
            <a:ext cx="12192000" cy="0"/>
          </a:xfrm>
          <a:prstGeom prst="line">
            <a:avLst/>
          </a:prstGeom>
          <a:ln w="1905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9" name="组合 78"/>
          <p:cNvGrpSpPr/>
          <p:nvPr/>
        </p:nvGrpSpPr>
        <p:grpSpPr>
          <a:xfrm>
            <a:off x="9782945" y="2968837"/>
            <a:ext cx="1998043" cy="2393775"/>
            <a:chOff x="673526" y="2759287"/>
            <a:chExt cx="1998043" cy="2393775"/>
          </a:xfrm>
        </p:grpSpPr>
        <p:grpSp>
          <p:nvGrpSpPr>
            <p:cNvPr id="80" name="组合 79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85" name="文本框 84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81" name="组合 80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82" name="椭圆 81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3" name="椭圆 82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84" name="直接连接符 83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1" name="文本框 100"/>
          <p:cNvSpPr txBox="1"/>
          <p:nvPr/>
        </p:nvSpPr>
        <p:spPr>
          <a:xfrm>
            <a:off x="23351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2017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2537235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2018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484095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2019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716136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2020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947342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2021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6" name="组合 105"/>
          <p:cNvGrpSpPr/>
          <p:nvPr/>
        </p:nvGrpSpPr>
        <p:grpSpPr>
          <a:xfrm>
            <a:off x="5161068" y="2968837"/>
            <a:ext cx="1998043" cy="2393775"/>
            <a:chOff x="673526" y="2759287"/>
            <a:chExt cx="1998043" cy="2393775"/>
          </a:xfrm>
        </p:grpSpPr>
        <p:grpSp>
          <p:nvGrpSpPr>
            <p:cNvPr id="107" name="组合 106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112" name="文本框 111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3" name="文本框 112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08" name="组合 107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109" name="椭圆 108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0" name="椭圆 109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11" name="直接连接符 110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4" name="组合 113"/>
          <p:cNvGrpSpPr/>
          <p:nvPr/>
        </p:nvGrpSpPr>
        <p:grpSpPr>
          <a:xfrm>
            <a:off x="539192" y="2968837"/>
            <a:ext cx="1998043" cy="2393775"/>
            <a:chOff x="673526" y="2759287"/>
            <a:chExt cx="1998043" cy="2393775"/>
          </a:xfrm>
        </p:grpSpPr>
        <p:grpSp>
          <p:nvGrpSpPr>
            <p:cNvPr id="115" name="组合 114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120" name="文本框 119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1" name="文本框 120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117" name="椭圆 116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8" name="椭圆 117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19" name="直接连接符 118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2" name="组合 121"/>
          <p:cNvGrpSpPr/>
          <p:nvPr/>
        </p:nvGrpSpPr>
        <p:grpSpPr>
          <a:xfrm>
            <a:off x="2850130" y="2425912"/>
            <a:ext cx="1998043" cy="2936700"/>
            <a:chOff x="673526" y="2759287"/>
            <a:chExt cx="1998043" cy="2936700"/>
          </a:xfrm>
        </p:grpSpPr>
        <p:grpSp>
          <p:nvGrpSpPr>
            <p:cNvPr id="123" name="组合 122"/>
            <p:cNvGrpSpPr/>
            <p:nvPr/>
          </p:nvGrpSpPr>
          <p:grpSpPr>
            <a:xfrm>
              <a:off x="807866" y="3067257"/>
              <a:ext cx="1863703" cy="1829984"/>
              <a:chOff x="807866" y="3067257"/>
              <a:chExt cx="1863703" cy="1829984"/>
            </a:xfrm>
          </p:grpSpPr>
          <p:sp>
            <p:nvSpPr>
              <p:cNvPr id="136" name="文本框 135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8" name="文本框 137"/>
              <p:cNvSpPr txBox="1"/>
              <p:nvPr/>
            </p:nvSpPr>
            <p:spPr>
              <a:xfrm>
                <a:off x="816745" y="3729549"/>
                <a:ext cx="1583419" cy="11676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而是看到了这句话在当下的价值。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24" name="组合 123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125" name="椭圆 124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26" name="椭圆 125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27" name="直接连接符 126"/>
              <p:cNvCxnSpPr>
                <a:stCxn id="125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39" name="组合 138"/>
          <p:cNvGrpSpPr/>
          <p:nvPr/>
        </p:nvGrpSpPr>
        <p:grpSpPr>
          <a:xfrm>
            <a:off x="7472006" y="2425912"/>
            <a:ext cx="1998043" cy="2936700"/>
            <a:chOff x="673526" y="2759287"/>
            <a:chExt cx="1998043" cy="2936700"/>
          </a:xfrm>
        </p:grpSpPr>
        <p:grpSp>
          <p:nvGrpSpPr>
            <p:cNvPr id="140" name="组合 139"/>
            <p:cNvGrpSpPr/>
            <p:nvPr/>
          </p:nvGrpSpPr>
          <p:grpSpPr>
            <a:xfrm>
              <a:off x="807866" y="3067257"/>
              <a:ext cx="1863703" cy="1552985"/>
              <a:chOff x="807866" y="3067257"/>
              <a:chExt cx="1863703" cy="1552985"/>
            </a:xfrm>
          </p:grpSpPr>
          <p:sp>
            <p:nvSpPr>
              <p:cNvPr id="145" name="文本框 144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816745" y="3729549"/>
                <a:ext cx="1583419" cy="890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41" name="组合 140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142" name="椭圆 141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3" name="椭圆 142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44" name="直接连接符 143"/>
              <p:cNvCxnSpPr>
                <a:stCxn id="142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线连接符 11"/>
          <p:cNvCxnSpPr/>
          <p:nvPr/>
        </p:nvCxnSpPr>
        <p:spPr>
          <a:xfrm>
            <a:off x="-826" y="5298982"/>
            <a:ext cx="12192000" cy="0"/>
          </a:xfrm>
          <a:prstGeom prst="line">
            <a:avLst/>
          </a:prstGeom>
          <a:ln w="19050">
            <a:solidFill>
              <a:schemeClr val="bg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8" name="组合 127"/>
          <p:cNvGrpSpPr/>
          <p:nvPr/>
        </p:nvGrpSpPr>
        <p:grpSpPr>
          <a:xfrm>
            <a:off x="9782945" y="2968837"/>
            <a:ext cx="1998043" cy="2393775"/>
            <a:chOff x="673526" y="2759287"/>
            <a:chExt cx="1998043" cy="2393775"/>
          </a:xfrm>
        </p:grpSpPr>
        <p:grpSp>
          <p:nvGrpSpPr>
            <p:cNvPr id="129" name="组合 128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134" name="文本框 133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5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5" name="文本框 134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131" name="椭圆 130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椭圆 131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33" name="直接连接符 132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37" name="图片 1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5046" y="6430129"/>
            <a:ext cx="747798" cy="139201"/>
          </a:xfrm>
          <a:prstGeom prst="rect">
            <a:avLst/>
          </a:prstGeom>
        </p:spPr>
      </p:pic>
      <p:sp>
        <p:nvSpPr>
          <p:cNvPr id="51" name="文本框 50"/>
          <p:cNvSpPr txBox="1"/>
          <p:nvPr/>
        </p:nvSpPr>
        <p:spPr>
          <a:xfrm>
            <a:off x="23351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2017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2537235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2018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84095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2019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7161363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2020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9473427" y="5457211"/>
            <a:ext cx="745693" cy="328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2021</a:t>
            </a:r>
            <a:endParaRPr kumimoji="1" lang="en-US" altLang="zh-CN" sz="1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9" name="组合 58"/>
          <p:cNvGrpSpPr/>
          <p:nvPr/>
        </p:nvGrpSpPr>
        <p:grpSpPr>
          <a:xfrm>
            <a:off x="5161068" y="2968837"/>
            <a:ext cx="1998043" cy="2393775"/>
            <a:chOff x="673526" y="2759287"/>
            <a:chExt cx="1998043" cy="2393775"/>
          </a:xfrm>
        </p:grpSpPr>
        <p:grpSp>
          <p:nvGrpSpPr>
            <p:cNvPr id="60" name="组合 59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65" name="文本框 64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6" name="文本框 65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61" name="组合 60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62" name="椭圆 61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3" name="椭圆 62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64" name="直接连接符 63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7" name="组合 66"/>
          <p:cNvGrpSpPr/>
          <p:nvPr/>
        </p:nvGrpSpPr>
        <p:grpSpPr>
          <a:xfrm>
            <a:off x="539192" y="2968837"/>
            <a:ext cx="1998043" cy="2393775"/>
            <a:chOff x="673526" y="2759287"/>
            <a:chExt cx="1998043" cy="2393775"/>
          </a:xfrm>
        </p:grpSpPr>
        <p:grpSp>
          <p:nvGrpSpPr>
            <p:cNvPr id="68" name="组合 67"/>
            <p:cNvGrpSpPr/>
            <p:nvPr/>
          </p:nvGrpSpPr>
          <p:grpSpPr>
            <a:xfrm>
              <a:off x="807866" y="3067257"/>
              <a:ext cx="1863703" cy="1275986"/>
              <a:chOff x="807866" y="3067257"/>
              <a:chExt cx="1863703" cy="1275986"/>
            </a:xfrm>
          </p:grpSpPr>
          <p:sp>
            <p:nvSpPr>
              <p:cNvPr id="73" name="文本框 72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4" name="文本框 73"/>
              <p:cNvSpPr txBox="1"/>
              <p:nvPr/>
            </p:nvSpPr>
            <p:spPr>
              <a:xfrm>
                <a:off x="816745" y="3729549"/>
                <a:ext cx="1583419" cy="6136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69" name="组合 68"/>
            <p:cNvGrpSpPr/>
            <p:nvPr/>
          </p:nvGrpSpPr>
          <p:grpSpPr>
            <a:xfrm>
              <a:off x="673526" y="2759287"/>
              <a:ext cx="134340" cy="2393775"/>
              <a:chOff x="673526" y="2759287"/>
              <a:chExt cx="134340" cy="2393775"/>
            </a:xfrm>
          </p:grpSpPr>
          <p:sp>
            <p:nvSpPr>
              <p:cNvPr id="70" name="椭圆 69"/>
              <p:cNvSpPr/>
              <p:nvPr/>
            </p:nvSpPr>
            <p:spPr>
              <a:xfrm>
                <a:off x="673526" y="5018722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1" name="椭圆 70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72" name="直接连接符 71"/>
              <p:cNvCxnSpPr/>
              <p:nvPr/>
            </p:nvCxnSpPr>
            <p:spPr>
              <a:xfrm flipV="1">
                <a:off x="740696" y="2894047"/>
                <a:ext cx="0" cy="2151636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5" name="组合 74"/>
          <p:cNvGrpSpPr/>
          <p:nvPr/>
        </p:nvGrpSpPr>
        <p:grpSpPr>
          <a:xfrm>
            <a:off x="2850130" y="2425912"/>
            <a:ext cx="1998043" cy="2936700"/>
            <a:chOff x="673526" y="2759287"/>
            <a:chExt cx="1998043" cy="2936700"/>
          </a:xfrm>
        </p:grpSpPr>
        <p:grpSp>
          <p:nvGrpSpPr>
            <p:cNvPr id="76" name="组合 75"/>
            <p:cNvGrpSpPr/>
            <p:nvPr/>
          </p:nvGrpSpPr>
          <p:grpSpPr>
            <a:xfrm>
              <a:off x="807866" y="3067257"/>
              <a:ext cx="1863703" cy="1829984"/>
              <a:chOff x="807866" y="3067257"/>
              <a:chExt cx="1863703" cy="1829984"/>
            </a:xfrm>
          </p:grpSpPr>
          <p:sp>
            <p:nvSpPr>
              <p:cNvPr id="90" name="文本框 89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816745" y="3729549"/>
                <a:ext cx="1583419" cy="11676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而是看到了这句话在当下的价值。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86" name="组合 85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87" name="椭圆 86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8" name="椭圆 87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89" name="直接连接符 88"/>
              <p:cNvCxnSpPr>
                <a:stCxn id="87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2" name="组合 91"/>
          <p:cNvGrpSpPr/>
          <p:nvPr/>
        </p:nvGrpSpPr>
        <p:grpSpPr>
          <a:xfrm>
            <a:off x="7472006" y="2425912"/>
            <a:ext cx="1998043" cy="2936700"/>
            <a:chOff x="673526" y="2759287"/>
            <a:chExt cx="1998043" cy="2936700"/>
          </a:xfrm>
        </p:grpSpPr>
        <p:grpSp>
          <p:nvGrpSpPr>
            <p:cNvPr id="93" name="组合 92"/>
            <p:cNvGrpSpPr/>
            <p:nvPr/>
          </p:nvGrpSpPr>
          <p:grpSpPr>
            <a:xfrm>
              <a:off x="807866" y="3067257"/>
              <a:ext cx="1863703" cy="1552985"/>
              <a:chOff x="807866" y="3067257"/>
              <a:chExt cx="1863703" cy="1552985"/>
            </a:xfrm>
          </p:grpSpPr>
          <p:sp>
            <p:nvSpPr>
              <p:cNvPr id="98" name="文本框 97"/>
              <p:cNvSpPr txBox="1"/>
              <p:nvPr/>
            </p:nvSpPr>
            <p:spPr>
              <a:xfrm>
                <a:off x="807866" y="3067257"/>
                <a:ext cx="1863703" cy="6582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en-US" altLang="zh-CN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  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20000"/>
                  </a:lnSpc>
                </a:pPr>
                <a:r>
                  <a:rPr kumimoji="1" lang="zh-CN" altLang="en-US" sz="1600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主标题内容</a:t>
                </a:r>
                <a:endParaRPr kumimoji="1"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816745" y="3729549"/>
                <a:ext cx="1583419" cy="890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>
                  <a:lnSpc>
                    <a:spcPct val="150000"/>
                  </a:lnSpc>
                  <a:spcAft>
                    <a:spcPts val="600"/>
                  </a:spcAft>
                </a:pP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互联网怎么改变未来，当时推出不是说要重</a:t>
                </a:r>
                <a:r>
                  <a:rPr kumimoji="1" lang="en-US" altLang="zh-CN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kumimoji="1" lang="zh-CN" altLang="en-US" sz="12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而是看到了。</a:t>
                </a:r>
                <a:endParaRPr kumimoji="1"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94" name="组合 93"/>
            <p:cNvGrpSpPr/>
            <p:nvPr/>
          </p:nvGrpSpPr>
          <p:grpSpPr>
            <a:xfrm>
              <a:off x="673526" y="2759287"/>
              <a:ext cx="134340" cy="2936700"/>
              <a:chOff x="673526" y="2759287"/>
              <a:chExt cx="134340" cy="2936700"/>
            </a:xfrm>
          </p:grpSpPr>
          <p:sp>
            <p:nvSpPr>
              <p:cNvPr id="95" name="椭圆 94"/>
              <p:cNvSpPr/>
              <p:nvPr/>
            </p:nvSpPr>
            <p:spPr>
              <a:xfrm>
                <a:off x="673526" y="5561647"/>
                <a:ext cx="134340" cy="134340"/>
              </a:xfrm>
              <a:prstGeom prst="ellipse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6" name="椭圆 95"/>
              <p:cNvSpPr/>
              <p:nvPr/>
            </p:nvSpPr>
            <p:spPr>
              <a:xfrm>
                <a:off x="673526" y="2759287"/>
                <a:ext cx="134336" cy="134336"/>
              </a:xfrm>
              <a:prstGeom prst="ellipse">
                <a:avLst/>
              </a:prstGeom>
              <a:noFill/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97" name="直接连接符 96"/>
              <p:cNvCxnSpPr>
                <a:stCxn id="95" idx="0"/>
              </p:cNvCxnSpPr>
              <p:nvPr/>
            </p:nvCxnSpPr>
            <p:spPr>
              <a:xfrm flipV="1">
                <a:off x="740696" y="2894047"/>
                <a:ext cx="0" cy="2667600"/>
              </a:xfrm>
              <a:prstGeom prst="line">
                <a:avLst/>
              </a:prstGeom>
              <a:ln w="19050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7" name="文本框 56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bg1"/>
                </a:solidFill>
                <a:latin typeface="+mj-ea"/>
                <a:ea typeface="+mj-ea"/>
              </a:rPr>
              <a:t>标题内容简述</a:t>
            </a:r>
            <a:endParaRPr kumimoji="1" lang="zh-CN" altLang="en-US" sz="30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cxnSp>
        <p:nvCxnSpPr>
          <p:cNvPr id="58" name="直线连接符 5"/>
          <p:cNvCxnSpPr/>
          <p:nvPr/>
        </p:nvCxnSpPr>
        <p:spPr>
          <a:xfrm>
            <a:off x="514179" y="1300733"/>
            <a:ext cx="532800" cy="0"/>
          </a:xfrm>
          <a:prstGeom prst="line">
            <a:avLst/>
          </a:prstGeom>
          <a:ln w="25400">
            <a:solidFill>
              <a:srgbClr val="C00000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/>
          <p:cNvSpPr txBox="1"/>
          <p:nvPr/>
        </p:nvSpPr>
        <p:spPr>
          <a:xfrm>
            <a:off x="416520" y="920236"/>
            <a:ext cx="441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solidFill>
                  <a:schemeClr val="bg1"/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、图表页</a:t>
            </a:r>
            <a:endParaRPr lang="zh-CN" altLang="en-US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图表内容简述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1116287" y="1733749"/>
          <a:ext cx="9738360" cy="368236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216163"/>
                <a:gridCol w="1796603"/>
                <a:gridCol w="1842670"/>
                <a:gridCol w="1234589"/>
                <a:gridCol w="1787390"/>
                <a:gridCol w="1861094"/>
              </a:tblGrid>
              <a:tr h="59118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9050" cap="flat" cmpd="sng" algn="ctr">
                      <a:solidFill>
                        <a:srgbClr val="C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dirty="0">
                          <a:solidFill>
                            <a:srgbClr val="85786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dirty="0">
                        <a:solidFill>
                          <a:srgbClr val="85786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图表内容简述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59" name="表格 2"/>
          <p:cNvGraphicFramePr>
            <a:graphicFrameLocks noGrp="1"/>
          </p:cNvGraphicFramePr>
          <p:nvPr/>
        </p:nvGraphicFramePr>
        <p:xfrm>
          <a:off x="1116287" y="1714064"/>
          <a:ext cx="9738509" cy="370178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216163"/>
                <a:gridCol w="1796603"/>
                <a:gridCol w="1842670"/>
                <a:gridCol w="1234589"/>
                <a:gridCol w="1787390"/>
                <a:gridCol w="1861094"/>
              </a:tblGrid>
              <a:tr h="61080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线路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调整前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>
                          <a:solidFill>
                            <a:srgbClr val="604E39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调整后</a:t>
                      </a:r>
                      <a:endParaRPr lang="zh-CN" altLang="en-US" sz="1400" dirty="0">
                        <a:solidFill>
                          <a:srgbClr val="604E39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B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A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8:00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古翠东路环路交叉口公交站（古翠路）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8:20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凤起路环路交叉口公交站（古翠南路）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20000"/>
                      </a:schemeClr>
                    </a:solidFill>
                  </a:tcPr>
                </a:tc>
              </a:tr>
              <a:tr h="77274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</a:t>
                      </a:r>
                      <a:r>
                        <a:rPr lang="zh-CN" altLang="en-US" sz="14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线</a:t>
                      </a:r>
                      <a:endParaRPr lang="zh-CN" altLang="en-US" sz="14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altLang="zh-CN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8:10</a:t>
                      </a:r>
                      <a:r>
                        <a:rPr lang="zh-CN" altLang="en-US" sz="1200" b="0" dirty="0">
                          <a:solidFill>
                            <a:srgbClr val="968C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体育场路东交叉口公交站（凤起东路）</a:t>
                      </a:r>
                      <a:endParaRPr lang="zh-CN" altLang="en-US" sz="1200" b="0" dirty="0">
                        <a:solidFill>
                          <a:srgbClr val="968C8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E6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CCC5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图表配色建议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1778646" y="2490810"/>
            <a:ext cx="8634707" cy="2078734"/>
            <a:chOff x="3885094" y="264500"/>
            <a:chExt cx="4755130" cy="1144758"/>
          </a:xfrm>
        </p:grpSpPr>
        <p:sp>
          <p:nvSpPr>
            <p:cNvPr id="6" name="矩形: 圆角 5"/>
            <p:cNvSpPr/>
            <p:nvPr/>
          </p:nvSpPr>
          <p:spPr>
            <a:xfrm>
              <a:off x="3885094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8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  <a:ea typeface="+mj-ea"/>
                </a:rPr>
                <a:t>#800000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  <a:ea typeface="+mj-ea"/>
              </a:endParaRPr>
            </a:p>
          </p:txBody>
        </p:sp>
        <p:sp>
          <p:nvSpPr>
            <p:cNvPr id="14" name="矩形: 圆角 13"/>
            <p:cNvSpPr/>
            <p:nvPr/>
          </p:nvSpPr>
          <p:spPr>
            <a:xfrm>
              <a:off x="4836120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#C00000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5" name="矩形: 圆角 14"/>
            <p:cNvSpPr/>
            <p:nvPr/>
          </p:nvSpPr>
          <p:spPr>
            <a:xfrm>
              <a:off x="5787146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EE121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#EE1212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6" name="矩形: 圆角 15"/>
            <p:cNvSpPr/>
            <p:nvPr/>
          </p:nvSpPr>
          <p:spPr>
            <a:xfrm>
              <a:off x="6738172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EE6E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#EE6E4A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7" name="矩形: 圆角 16"/>
            <p:cNvSpPr/>
            <p:nvPr/>
          </p:nvSpPr>
          <p:spPr>
            <a:xfrm>
              <a:off x="7689198" y="26450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49E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#F49E86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8" name="矩形: 圆角 17"/>
            <p:cNvSpPr/>
            <p:nvPr/>
          </p:nvSpPr>
          <p:spPr>
            <a:xfrm>
              <a:off x="3885094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A64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#A64D00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9" name="矩形: 圆角 18"/>
            <p:cNvSpPr/>
            <p:nvPr/>
          </p:nvSpPr>
          <p:spPr>
            <a:xfrm>
              <a:off x="4836120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BF7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#BF7230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20" name="矩形: 圆角 19"/>
            <p:cNvSpPr/>
            <p:nvPr/>
          </p:nvSpPr>
          <p:spPr>
            <a:xfrm>
              <a:off x="5787146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F7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#FF7600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21" name="矩形: 圆角 20"/>
            <p:cNvSpPr/>
            <p:nvPr/>
          </p:nvSpPr>
          <p:spPr>
            <a:xfrm>
              <a:off x="6738172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F98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#FF9840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22" name="矩形: 圆角 21"/>
            <p:cNvSpPr/>
            <p:nvPr/>
          </p:nvSpPr>
          <p:spPr>
            <a:xfrm>
              <a:off x="7689198" y="859590"/>
              <a:ext cx="951026" cy="549668"/>
            </a:xfrm>
            <a:prstGeom prst="roundRect">
              <a:avLst>
                <a:gd name="adj" fmla="val 0"/>
              </a:avLst>
            </a:prstGeom>
            <a:solidFill>
              <a:srgbClr val="FFB47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spc="50" dirty="0">
                  <a:ln>
                    <a:solidFill>
                      <a:schemeClr val="bg1"/>
                    </a:solidFill>
                  </a:ln>
                </a:rPr>
                <a:t>#FFB473</a:t>
              </a:r>
              <a:endParaRPr lang="zh-CN" altLang="en-US" sz="1400" spc="50" dirty="0">
                <a:ln>
                  <a:solidFill>
                    <a:schemeClr val="bg1"/>
                  </a:solidFill>
                </a:ln>
              </a:endParaRP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</a:t>
            </a:r>
            <a:r>
              <a:rPr kumimoji="1"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柱状图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4" name="图表 3"/>
          <p:cNvGraphicFramePr/>
          <p:nvPr/>
        </p:nvGraphicFramePr>
        <p:xfrm>
          <a:off x="1226746" y="1417864"/>
          <a:ext cx="9738509" cy="46818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</a:t>
            </a:r>
            <a:r>
              <a:rPr kumimoji="1"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柱状图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graphicFrame>
        <p:nvGraphicFramePr>
          <p:cNvPr id="6" name="图表 5"/>
          <p:cNvGraphicFramePr/>
          <p:nvPr/>
        </p:nvGraphicFramePr>
        <p:xfrm>
          <a:off x="1238249" y="1323976"/>
          <a:ext cx="9738509" cy="47757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416520" y="337113"/>
            <a:ext cx="441960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图表内容</a:t>
            </a:r>
            <a:r>
              <a:rPr kumimoji="1" lang="en-US" altLang="zh-CN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饼状图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16520" y="758311"/>
            <a:ext cx="4419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The content of the title</a:t>
            </a:r>
            <a:endParaRPr kumimoji="1" lang="zh-CN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9463" y="6430128"/>
            <a:ext cx="763381" cy="139201"/>
          </a:xfrm>
          <a:prstGeom prst="rect">
            <a:avLst/>
          </a:prstGeom>
        </p:spPr>
      </p:pic>
      <p:pic>
        <p:nvPicPr>
          <p:cNvPr id="4" name="图表 3"/>
          <p:cNvPicPr>
            <a:picLocks noGrp="1" noRot="1" noChangeAspect="1" noMove="1" noResize="1" noEditPoints="1" noAdjustHandles="1" noChangeArrowheads="1" noChangeShapeType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895" y="1400435"/>
            <a:ext cx="7572210" cy="4699254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、尾页</a:t>
            </a:r>
            <a:endParaRPr lang="zh-CN" altLang="en-US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0" y="2680382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YOU</a:t>
            </a:r>
            <a:endParaRPr kumimoji="1" lang="zh-CN" altLang="en-US" sz="6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3" name="图形 12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97313" y="3723592"/>
            <a:ext cx="1197375" cy="200978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0" y="2680382"/>
            <a:ext cx="1219199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 YOU</a:t>
            </a:r>
            <a:endParaRPr kumimoji="1" lang="zh-CN" altLang="en-US" sz="6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" name="图形 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97313" y="3723592"/>
            <a:ext cx="1197375" cy="200978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4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9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、背景辅助图形</a:t>
            </a:r>
            <a:endParaRPr lang="zh-CN" altLang="en-US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391923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391923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80D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144"/>
            <a:ext cx="12192000" cy="6320573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 txBox="1"/>
          <p:nvPr/>
        </p:nvSpPr>
        <p:spPr>
          <a:xfrm>
            <a:off x="1524000" y="2284527"/>
            <a:ext cx="9144000" cy="15517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附：网易公司品牌标识</a:t>
            </a:r>
            <a:endParaRPr lang="zh-CN" altLang="en-US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405790" y="60431"/>
            <a:ext cx="3428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b="1" dirty="0">
                <a:solidFill>
                  <a:schemeClr val="bg1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</a:rPr>
              <a:t>网易品牌色</a:t>
            </a:r>
            <a:endParaRPr kumimoji="1" lang="zh-CN" altLang="en-US" b="1" dirty="0">
              <a:solidFill>
                <a:schemeClr val="bg1"/>
              </a:solidFill>
              <a:latin typeface="PingFang SC Medium" panose="020B0400000000000000" pitchFamily="34" charset="-122"/>
              <a:ea typeface="PingFang SC Medium" panose="020B0400000000000000" pitchFamily="34" charset="-122"/>
            </a:endParaRPr>
          </a:p>
        </p:txBody>
      </p:sp>
      <p:sp>
        <p:nvSpPr>
          <p:cNvPr id="13" name="矩形: 圆角 12"/>
          <p:cNvSpPr/>
          <p:nvPr>
            <p:custDataLst>
              <p:tags r:id="rId1"/>
            </p:custDataLst>
          </p:nvPr>
        </p:nvSpPr>
        <p:spPr>
          <a:xfrm>
            <a:off x="1247775" y="3145959"/>
            <a:ext cx="2586297" cy="1594016"/>
          </a:xfrm>
          <a:prstGeom prst="roundRect">
            <a:avLst>
              <a:gd name="adj" fmla="val 330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4" name="文本框 13"/>
          <p:cNvSpPr txBox="1"/>
          <p:nvPr>
            <p:custDataLst>
              <p:tags r:id="rId2"/>
            </p:custDataLst>
          </p:nvPr>
        </p:nvSpPr>
        <p:spPr>
          <a:xfrm>
            <a:off x="5619485" y="2167104"/>
            <a:ext cx="94676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黑色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文本框 14"/>
          <p:cNvSpPr txBox="1"/>
          <p:nvPr>
            <p:custDataLst>
              <p:tags r:id="rId3"/>
            </p:custDataLst>
          </p:nvPr>
        </p:nvSpPr>
        <p:spPr>
          <a:xfrm>
            <a:off x="1727978" y="2167104"/>
            <a:ext cx="16258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</a:t>
            </a:r>
            <a:endParaRPr kumimoji="1" lang="en-US" altLang="zh-CN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文本框 16"/>
          <p:cNvSpPr txBox="1"/>
          <p:nvPr>
            <p:custDataLst>
              <p:tags r:id="rId4"/>
            </p:custDataLst>
          </p:nvPr>
        </p:nvSpPr>
        <p:spPr>
          <a:xfrm>
            <a:off x="9172315" y="2167104"/>
            <a:ext cx="946760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白色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: 圆角 17"/>
          <p:cNvSpPr/>
          <p:nvPr>
            <p:custDataLst>
              <p:tags r:id="rId5"/>
            </p:custDataLst>
          </p:nvPr>
        </p:nvSpPr>
        <p:spPr>
          <a:xfrm>
            <a:off x="4797471" y="3145958"/>
            <a:ext cx="2586297" cy="1594016"/>
          </a:xfrm>
          <a:prstGeom prst="roundRect">
            <a:avLst>
              <a:gd name="adj" fmla="val 3307"/>
            </a:avLst>
          </a:prstGeom>
          <a:solidFill>
            <a:srgbClr val="1A1A1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9" name="矩形: 圆角 18"/>
          <p:cNvSpPr/>
          <p:nvPr>
            <p:custDataLst>
              <p:tags r:id="rId6"/>
            </p:custDataLst>
          </p:nvPr>
        </p:nvSpPr>
        <p:spPr>
          <a:xfrm>
            <a:off x="8331636" y="3145957"/>
            <a:ext cx="2586297" cy="1594016"/>
          </a:xfrm>
          <a:prstGeom prst="roundRect">
            <a:avLst>
              <a:gd name="adj" fmla="val 3307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20" name="文本框 19"/>
          <p:cNvSpPr txBox="1"/>
          <p:nvPr>
            <p:custDataLst>
              <p:tags r:id="rId7"/>
            </p:custDataLst>
          </p:nvPr>
        </p:nvSpPr>
        <p:spPr>
          <a:xfrm>
            <a:off x="1727978" y="2629207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#C00000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文本框 20"/>
          <p:cNvSpPr txBox="1"/>
          <p:nvPr>
            <p:custDataLst>
              <p:tags r:id="rId8"/>
            </p:custDataLst>
          </p:nvPr>
        </p:nvSpPr>
        <p:spPr>
          <a:xfrm>
            <a:off x="5277674" y="2631676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#1A1A1B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/>
          <p:cNvSpPr txBox="1"/>
          <p:nvPr>
            <p:custDataLst>
              <p:tags r:id="rId9"/>
            </p:custDataLst>
          </p:nvPr>
        </p:nvSpPr>
        <p:spPr>
          <a:xfrm>
            <a:off x="8811839" y="2644158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#FFFFFF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网易品牌色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3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 26"/>
          <p:cNvSpPr txBox="1"/>
          <p:nvPr/>
        </p:nvSpPr>
        <p:spPr>
          <a:xfrm>
            <a:off x="6564139" y="2378264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黑色文字颜色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6881187" y="2839929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#404040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015638" y="2378264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红色文字颜色</a:t>
            </a:r>
            <a:endParaRPr kumimoji="1" lang="zh-CN" altLang="en-US" sz="2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332686" y="2839929"/>
            <a:ext cx="1625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#C00000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6564139" y="3670926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正文字体字号</a:t>
            </a:r>
            <a:endParaRPr kumimoji="1" lang="zh-CN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722662" y="4132591"/>
            <a:ext cx="19429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微软雅黑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12-16</a:t>
            </a:r>
            <a:r>
              <a:rPr kumimoji="1"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kumimoji="1"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3015638" y="3670926"/>
            <a:ext cx="22599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标题字体字号</a:t>
            </a:r>
            <a:endParaRPr kumimoji="1" lang="zh-CN" altLang="en-US" sz="24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332686" y="4132591"/>
            <a:ext cx="16258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微软雅黑 加粗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号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文本框 31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字体</a:t>
            </a:r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字号要求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1" y="1677906"/>
            <a:ext cx="12192000" cy="4594160"/>
            <a:chOff x="1" y="1344441"/>
            <a:chExt cx="12192000" cy="5513558"/>
          </a:xfrm>
        </p:grpSpPr>
        <p:sp>
          <p:nvSpPr>
            <p:cNvPr id="19" name="矩形 18"/>
            <p:cNvSpPr/>
            <p:nvPr/>
          </p:nvSpPr>
          <p:spPr>
            <a:xfrm>
              <a:off x="6096001" y="1344441"/>
              <a:ext cx="6096000" cy="275677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1" y="1344441"/>
              <a:ext cx="6095999" cy="275677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1" y="4101220"/>
              <a:ext cx="6095999" cy="2756779"/>
            </a:xfrm>
            <a:prstGeom prst="rect">
              <a:avLst/>
            </a:prstGeom>
            <a:solidFill>
              <a:srgbClr val="1C1C1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dirty="0">
                <a:ln>
                  <a:solidFill>
                    <a:schemeClr val="bg1"/>
                  </a:solidFill>
                </a:ln>
              </a:endParaRPr>
            </a:p>
            <a:p>
              <a:pPr algn="ctr"/>
              <a:endParaRPr lang="zh-CN" altLang="en-US" dirty="0">
                <a:ln>
                  <a:solidFill>
                    <a:schemeClr val="bg1"/>
                  </a:solidFill>
                </a:ln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6096001" y="4101220"/>
              <a:ext cx="6096000" cy="2756779"/>
            </a:xfrm>
            <a:prstGeom prst="rect">
              <a:avLst/>
            </a:prstGeom>
            <a:solidFill>
              <a:srgbClr val="AB110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n>
                  <a:solidFill>
                    <a:schemeClr val="bg1"/>
                  </a:solidFill>
                </a:ln>
              </a:endParaRPr>
            </a:p>
          </p:txBody>
        </p:sp>
      </p:grpSp>
      <p:pic>
        <p:nvPicPr>
          <p:cNvPr id="4" name="图形 3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62" y="2988116"/>
            <a:ext cx="4029075" cy="676275"/>
          </a:xfrm>
          <a:prstGeom prst="rect">
            <a:avLst/>
          </a:prstGeom>
        </p:spPr>
      </p:pic>
      <p:pic>
        <p:nvPicPr>
          <p:cNvPr id="10" name="图形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8080" y="5371322"/>
            <a:ext cx="4029075" cy="676275"/>
          </a:xfrm>
          <a:prstGeom prst="rect">
            <a:avLst/>
          </a:prstGeom>
        </p:spPr>
      </p:pic>
      <p:pic>
        <p:nvPicPr>
          <p:cNvPr id="20" name="图形 19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6008" y="2988116"/>
            <a:ext cx="4029075" cy="676275"/>
          </a:xfrm>
          <a:prstGeom prst="rect">
            <a:avLst/>
          </a:prstGeom>
        </p:spPr>
      </p:pic>
      <p:pic>
        <p:nvPicPr>
          <p:cNvPr id="2" name="图形 1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3461" y="5323296"/>
            <a:ext cx="4029075" cy="67627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网易品牌</a:t>
            </a:r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LOGO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使用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: 圆顶角 14"/>
          <p:cNvSpPr/>
          <p:nvPr/>
        </p:nvSpPr>
        <p:spPr>
          <a:xfrm rot="16200000">
            <a:off x="1582045" y="900015"/>
            <a:ext cx="3476531" cy="5551382"/>
          </a:xfrm>
          <a:prstGeom prst="round2SameRect">
            <a:avLst>
              <a:gd name="adj1" fmla="val 1872"/>
              <a:gd name="adj2" fmla="val 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sp>
        <p:nvSpPr>
          <p:cNvPr id="13" name="矩形: 圆顶角 12"/>
          <p:cNvSpPr/>
          <p:nvPr/>
        </p:nvSpPr>
        <p:spPr>
          <a:xfrm rot="5400000">
            <a:off x="7130289" y="900016"/>
            <a:ext cx="3476532" cy="5551381"/>
          </a:xfrm>
          <a:prstGeom prst="round2SameRect">
            <a:avLst>
              <a:gd name="adj1" fmla="val 2146"/>
              <a:gd name="adj2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n>
                <a:solidFill>
                  <a:schemeClr val="bg1"/>
                </a:solidFill>
              </a:ln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255" y="2599138"/>
            <a:ext cx="3753327" cy="2087404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5027" y="2599138"/>
            <a:ext cx="3753327" cy="2087404"/>
          </a:xfrm>
          <a:prstGeom prst="rect">
            <a:avLst/>
          </a:prstGeom>
        </p:spPr>
      </p:pic>
      <p:sp>
        <p:nvSpPr>
          <p:cNvPr id="8" name="文本框 7"/>
          <p:cNvSpPr txBox="1"/>
          <p:nvPr/>
        </p:nvSpPr>
        <p:spPr>
          <a:xfrm>
            <a:off x="416520" y="394263"/>
            <a:ext cx="441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其他辅助图形</a:t>
            </a:r>
            <a:r>
              <a:rPr kumimoji="1" lang="en-US" altLang="zh-CN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kumimoji="1" lang="zh-CN" altLang="en-US" sz="3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网易大楼</a:t>
            </a:r>
            <a:endParaRPr kumimoji="1" lang="zh-CN" altLang="en-US" sz="3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直线连接符 5"/>
          <p:cNvCxnSpPr/>
          <p:nvPr/>
        </p:nvCxnSpPr>
        <p:spPr>
          <a:xfrm>
            <a:off x="514179" y="1101951"/>
            <a:ext cx="532800" cy="0"/>
          </a:xfrm>
          <a:prstGeom prst="line">
            <a:avLst/>
          </a:prstGeom>
          <a:ln w="25400">
            <a:solidFill>
              <a:srgbClr val="A50A0D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2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3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4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5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6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7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8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9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0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1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2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3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4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5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6.xml><?xml version="1.0" encoding="utf-8"?>
<p:tagLst xmlns:p="http://schemas.openxmlformats.org/presentationml/2006/main">
  <p:tag name="KSO_WM_DIAGRAM_VIRTUALLY_FRAME" val="{&quot;height&quot;:218.45001767314426,&quot;left&quot;:62.01732283464567,&quot;top&quot;:159.79818897637793,&quot;width&quot;:827.3806299212598}"/>
</p:tagLst>
</file>

<file path=ppt/tags/tag17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18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19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0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1.xml><?xml version="1.0" encoding="utf-8"?>
<p:tagLst xmlns:p="http://schemas.openxmlformats.org/presentationml/2006/main">
  <p:tag name="TABLE_ENDDRAG_ORIGIN_RECT" val="352*121"/>
  <p:tag name="TABLE_ENDDRAG_RECT" val="46*247*352*121"/>
</p:tagLst>
</file>

<file path=ppt/tags/tag22.xml><?xml version="1.0" encoding="utf-8"?>
<p:tagLst xmlns:p="http://schemas.openxmlformats.org/presentationml/2006/main">
  <p:tag name="TABLE_ENDDRAG_ORIGIN_RECT" val="810*354"/>
  <p:tag name="TABLE_ENDDRAG_RECT" val="40*162*810*354"/>
</p:tagLst>
</file>

<file path=ppt/tags/tag23.xml><?xml version="1.0" encoding="utf-8"?>
<p:tagLst xmlns:p="http://schemas.openxmlformats.org/presentationml/2006/main">
  <p:tag name="KSO_WM_UNIT_PLACING_PICTURE_USER_VIEWPORT" val="{&quot;height&quot;:4041.7984251968505,&quot;width&quot;:19200}"/>
</p:tagLst>
</file>

<file path=ppt/tags/tag24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5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6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7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8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29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0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1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2.xml><?xml version="1.0" encoding="utf-8"?>
<p:tagLst xmlns:p="http://schemas.openxmlformats.org/presentationml/2006/main">
  <p:tag name="KSO_WM_DIAGRAM_VIRTUALLY_FRAME" val="{&quot;height&quot;:202.5882677165354,&quot;left&quot;:98.25,&quot;top&quot;:170.63811023622048,&quot;width&quot;:761.4297637795277}"/>
</p:tagLst>
</file>

<file path=ppt/tags/tag33.xml><?xml version="1.0" encoding="utf-8"?>
<p:tagLst xmlns:p="http://schemas.openxmlformats.org/presentationml/2006/main">
  <p:tag name="COMMONDATA" val="eyJoZGlkIjoiMzA3YmEwZTZiZTcwOGUxNGRjZDIwNzAwMzQ1ZGJkNWEifQ=="/>
</p:tagLst>
</file>

<file path=ppt/theme/theme1.xml><?xml version="1.0" encoding="utf-8"?>
<a:theme xmlns:a="http://schemas.openxmlformats.org/drawingml/2006/main" name="Office 主题​​">
  <a:themeElements>
    <a:clrScheme name="红色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8659</Words>
  <Application>WPS 演示</Application>
  <PresentationFormat>宽屏</PresentationFormat>
  <Paragraphs>995</Paragraphs>
  <Slides>75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75</vt:i4>
      </vt:variant>
    </vt:vector>
  </HeadingPairs>
  <TitlesOfParts>
    <vt:vector size="86" baseType="lpstr">
      <vt:lpstr>Arial</vt:lpstr>
      <vt:lpstr>宋体</vt:lpstr>
      <vt:lpstr>Wingdings</vt:lpstr>
      <vt:lpstr>微软雅黑</vt:lpstr>
      <vt:lpstr>Arial Unicode MS</vt:lpstr>
      <vt:lpstr>Arial Black</vt:lpstr>
      <vt:lpstr>黑体</vt:lpstr>
      <vt:lpstr>PingFang SC Regular</vt:lpstr>
      <vt:lpstr>PingFang SC Light</vt:lpstr>
      <vt:lpstr>PingFang SC Medium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网易集团PPT模板</dc:title>
  <dc:creator>Netease</dc:creator>
  <cp:lastModifiedBy>吴植贤</cp:lastModifiedBy>
  <cp:revision>296</cp:revision>
  <dcterms:created xsi:type="dcterms:W3CDTF">2020-10-23T08:28:00Z</dcterms:created>
  <dcterms:modified xsi:type="dcterms:W3CDTF">2026-08-29T10:10:56Z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CBF6EA77B58649A69751C5AC90853E80</vt:lpwstr>
  </property>
  <property fmtid="{D5CDD505-2E9C-101B-9397-08002B2CF9AE}" pid="3" name="KSOProductBuildVer">
    <vt:lpwstr>2052-12.1.0.28043</vt:lpwstr>
  </property>
</Properties>
</file>