
<file path=[Content_Types].xml><?xml version="1.0" encoding="utf-8"?>
<Types xmlns="http://schemas.openxmlformats.org/package/2006/content-types">
  <Default Extension="jpeg" ContentType="image/jpeg"/>
  <Default Extension="JPG" ContentType="image/.jpg"/>
  <Default Extension="tiff" ContentType="image/tiff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5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0.svg" ContentType="image/svg+xml"/>
  <Override PartName="/ppt/media/image21.svg" ContentType="image/svg+xml"/>
  <Override PartName="/ppt/media/image22.svg" ContentType="image/svg+xml"/>
  <Override PartName="/ppt/media/image23.svg" ContentType="image/svg+xml"/>
  <Override PartName="/ppt/media/image43.svg" ContentType="image/svg+xml"/>
  <Override PartName="/ppt/media/image4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4"/>
  </p:handoutMasterIdLst>
  <p:sldIdLst>
    <p:sldId id="468" r:id="rId3"/>
    <p:sldId id="339" r:id="rId5"/>
    <p:sldId id="284" r:id="rId6"/>
    <p:sldId id="426" r:id="rId7"/>
    <p:sldId id="485" r:id="rId8"/>
    <p:sldId id="427" r:id="rId9"/>
    <p:sldId id="471" r:id="rId10"/>
    <p:sldId id="434" r:id="rId11"/>
    <p:sldId id="500" r:id="rId12"/>
    <p:sldId id="474" r:id="rId13"/>
    <p:sldId id="435" r:id="rId14"/>
    <p:sldId id="501" r:id="rId15"/>
    <p:sldId id="464" r:id="rId16"/>
    <p:sldId id="505" r:id="rId17"/>
    <p:sldId id="506" r:id="rId18"/>
    <p:sldId id="507" r:id="rId19"/>
    <p:sldId id="508" r:id="rId20"/>
    <p:sldId id="502" r:id="rId21"/>
    <p:sldId id="466" r:id="rId22"/>
    <p:sldId id="465" r:id="rId23"/>
    <p:sldId id="504" r:id="rId24"/>
    <p:sldId id="510" r:id="rId25"/>
    <p:sldId id="509" r:id="rId26"/>
    <p:sldId id="439" r:id="rId27"/>
    <p:sldId id="511" r:id="rId28"/>
    <p:sldId id="475" r:id="rId29"/>
    <p:sldId id="484" r:id="rId30"/>
    <p:sldId id="476" r:id="rId31"/>
    <p:sldId id="477" r:id="rId32"/>
    <p:sldId id="483" r:id="rId33"/>
    <p:sldId id="456" r:id="rId34"/>
    <p:sldId id="470" r:id="rId35"/>
    <p:sldId id="490" r:id="rId36"/>
    <p:sldId id="453" r:id="rId37"/>
    <p:sldId id="495" r:id="rId38"/>
    <p:sldId id="445" r:id="rId39"/>
    <p:sldId id="486" r:id="rId40"/>
    <p:sldId id="446" r:id="rId41"/>
    <p:sldId id="459" r:id="rId42"/>
    <p:sldId id="489" r:id="rId43"/>
    <p:sldId id="488" r:id="rId44"/>
    <p:sldId id="499" r:id="rId45"/>
    <p:sldId id="487" r:id="rId46"/>
    <p:sldId id="461" r:id="rId47"/>
    <p:sldId id="493" r:id="rId48"/>
    <p:sldId id="462" r:id="rId49"/>
    <p:sldId id="494" r:id="rId50"/>
    <p:sldId id="496" r:id="rId51"/>
    <p:sldId id="451" r:id="rId52"/>
    <p:sldId id="371" r:id="rId53"/>
  </p:sldIdLst>
  <p:sldSz cx="12192000" cy="6858000"/>
  <p:notesSz cx="6858000" cy="9144000"/>
  <p:custDataLst>
    <p:tags r:id="rId5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徐小欢" initials="徐小欢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80D0B"/>
    <a:srgbClr val="C21C1C"/>
    <a:srgbClr val="CB1313"/>
    <a:srgbClr val="DB1F1F"/>
    <a:srgbClr val="E12F2F"/>
    <a:srgbClr val="1A1A1B"/>
    <a:srgbClr val="313134"/>
    <a:srgbClr val="181819"/>
    <a:srgbClr val="A50A09"/>
    <a:srgbClr val="DF39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61"/>
    <p:restoredTop sz="94270" autoAdjust="0"/>
  </p:normalViewPr>
  <p:slideViewPr>
    <p:cSldViewPr snapToGrid="0">
      <p:cViewPr varScale="1">
        <p:scale>
          <a:sx n="108" d="100"/>
          <a:sy n="108" d="100"/>
        </p:scale>
        <p:origin x="1026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" d="100"/>
        <a:sy n="2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9" Type="http://schemas.openxmlformats.org/officeDocument/2006/relationships/tags" Target="tags/tag61.xml"/><Relationship Id="rId58" Type="http://schemas.openxmlformats.org/officeDocument/2006/relationships/commentAuthors" Target="commentAuthors.xml"/><Relationship Id="rId57" Type="http://schemas.openxmlformats.org/officeDocument/2006/relationships/tableStyles" Target="tableStyles.xml"/><Relationship Id="rId56" Type="http://schemas.openxmlformats.org/officeDocument/2006/relationships/viewProps" Target="viewProps.xml"/><Relationship Id="rId55" Type="http://schemas.openxmlformats.org/officeDocument/2006/relationships/presProps" Target="presProps.xml"/><Relationship Id="rId54" Type="http://schemas.openxmlformats.org/officeDocument/2006/relationships/handoutMaster" Target="handoutMasters/handoutMaster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/>
              <a:t>网易内部资料，请勿外传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26E12E-97A2-40B7-A362-065E30B989D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zh-CN" altLang="en-US"/>
              <a:t>网易内部资料，请勿外传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43C561-CBA4-45D6-BD55-1C5FFEC0346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59CD4FC-624D-AB4E-9533-E6A468B0E056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zh-CN" altLang="en-US"/>
              <a:t>编辑母版文本样式
第二级
第三级
第四级
第五级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8D024F85-CB1C-7445-9B98-7B8479DF2CF8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microsoft.com/office/2007/relationships/hdphoto" Target="../media/image7.wdp"/><Relationship Id="rId4" Type="http://schemas.openxmlformats.org/officeDocument/2006/relationships/image" Target="../media/image6.png"/><Relationship Id="rId3" Type="http://schemas.microsoft.com/office/2007/relationships/hdphoto" Target="../media/image5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A7191-98FC-4568-95DD-ED3C44E606A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-红色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A7191-98FC-4568-95DD-ED3C44E606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-红色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2533" y="0"/>
            <a:ext cx="12204533" cy="6858000"/>
          </a:xfrm>
          <a:prstGeom prst="rect">
            <a:avLst/>
          </a:prstGeom>
        </p:spPr>
      </p:pic>
      <p:sp>
        <p:nvSpPr>
          <p:cNvPr id="3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A7191-98FC-4568-95DD-ED3C44E606AA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3011686" y="6408107"/>
            <a:ext cx="61686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r>
              <a:rPr lang="zh-CN" altLang="en-US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网易内部商业机密，请勿外传</a:t>
            </a:r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endParaRPr lang="zh-CN" altLang="en-US" sz="1100" kern="1200" dirty="0">
              <a:solidFill>
                <a:schemeClr val="bg1">
                  <a:lumMod val="65000"/>
                </a:schemeClr>
              </a:solidFill>
              <a:latin typeface="+mj-ea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-红色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A7191-98FC-4568-95DD-ED3C44E606AA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3011686" y="6408107"/>
            <a:ext cx="61686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r>
              <a:rPr lang="zh-CN" altLang="en-US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网易内部商业机密，请勿外传</a:t>
            </a:r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endParaRPr lang="zh-CN" altLang="en-US" sz="1100" kern="1200" dirty="0">
              <a:solidFill>
                <a:schemeClr val="bg1">
                  <a:lumMod val="65000"/>
                </a:schemeClr>
              </a:solidFill>
              <a:latin typeface="+mj-ea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-红色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A7191-98FC-4568-95DD-ED3C44E606AA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3011686" y="6408107"/>
            <a:ext cx="61686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r>
              <a:rPr lang="zh-CN" altLang="en-US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网易内部商业机密，请勿外传</a:t>
            </a:r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endParaRPr lang="zh-CN" altLang="en-US" sz="1100" kern="1200" dirty="0">
              <a:solidFill>
                <a:schemeClr val="bg1">
                  <a:lumMod val="65000"/>
                </a:schemeClr>
              </a:solidFill>
              <a:latin typeface="+mj-ea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-红色热爱">
    <p:bg>
      <p:bgPr>
        <a:solidFill>
          <a:srgbClr val="A80D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169819" y="0"/>
            <a:ext cx="12018615" cy="6858000"/>
            <a:chOff x="63375" y="-155701"/>
            <a:chExt cx="12018615" cy="685800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820"/>
            <a:stretch>
              <a:fillRect/>
            </a:stretch>
          </p:blipFill>
          <p:spPr>
            <a:xfrm>
              <a:off x="63375" y="-155701"/>
              <a:ext cx="5800210" cy="6013009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6736" y="876394"/>
              <a:ext cx="5145254" cy="5825905"/>
            </a:xfrm>
            <a:prstGeom prst="rect">
              <a:avLst/>
            </a:prstGeom>
          </p:spPr>
        </p:pic>
      </p:grp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A7191-98FC-4568-95DD-ED3C44E606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-红色大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5"/>
          <p:cNvSpPr txBox="1"/>
          <p:nvPr userDrawn="1"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A4A7191-98FC-4568-95DD-ED3C44E606AA}" type="slidenum">
              <a:rPr lang="zh-CN" altLang="en-US" smtClean="0"/>
            </a:fld>
            <a:endParaRPr lang="zh-CN" altLang="en-US"/>
          </a:p>
        </p:txBody>
      </p:sp>
      <p:sp>
        <p:nvSpPr>
          <p:cNvPr id="9" name="文本框 8"/>
          <p:cNvSpPr txBox="1"/>
          <p:nvPr userDrawn="1"/>
        </p:nvSpPr>
        <p:spPr>
          <a:xfrm>
            <a:off x="3011686" y="6408107"/>
            <a:ext cx="61686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r>
              <a:rPr lang="zh-CN" altLang="en-US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网易内部商业机密，请勿外传</a:t>
            </a:r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endParaRPr lang="zh-CN" altLang="en-US" sz="1100" kern="1200" dirty="0">
              <a:solidFill>
                <a:schemeClr val="bg1">
                  <a:lumMod val="65000"/>
                </a:schemeClr>
              </a:solidFill>
              <a:latin typeface="+mj-ea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背景-黑色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A7191-98FC-4568-95DD-ED3C44E606AA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3011686" y="6408107"/>
            <a:ext cx="61686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r>
              <a:rPr lang="zh-CN" altLang="en-US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网易内部商业机密，请勿外传</a:t>
            </a:r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endParaRPr lang="zh-CN" altLang="en-US" sz="1100" kern="1200" dirty="0">
              <a:solidFill>
                <a:schemeClr val="bg1">
                  <a:lumMod val="65000"/>
                </a:schemeClr>
              </a:solidFill>
              <a:latin typeface="+mj-ea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620190" y="7578368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5A4A7191-98FC-4568-95DD-ED3C44E606A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3011686" y="6408107"/>
            <a:ext cx="61686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r>
              <a:rPr lang="zh-CN" altLang="en-US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网易内部商业机密，请勿外传</a:t>
            </a:r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endParaRPr lang="zh-CN" altLang="en-US" sz="1100" kern="1200" dirty="0">
              <a:solidFill>
                <a:schemeClr val="bg1">
                  <a:lumMod val="65000"/>
                </a:schemeClr>
              </a:solidFill>
              <a:latin typeface="+mj-ea"/>
              <a:ea typeface="+mj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image" Target="../media/image10.tiff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9" Type="http://schemas.openxmlformats.org/officeDocument/2006/relationships/notesSlide" Target="../notesSlides/notesSlide2.xml"/><Relationship Id="rId18" Type="http://schemas.openxmlformats.org/officeDocument/2006/relationships/slideLayout" Target="../slideLayouts/slideLayout1.xml"/><Relationship Id="rId17" Type="http://schemas.openxmlformats.org/officeDocument/2006/relationships/image" Target="../media/image13.png"/><Relationship Id="rId16" Type="http://schemas.openxmlformats.org/officeDocument/2006/relationships/tags" Target="../tags/tag19.xml"/><Relationship Id="rId15" Type="http://schemas.openxmlformats.org/officeDocument/2006/relationships/tags" Target="../tags/tag18.xml"/><Relationship Id="rId14" Type="http://schemas.openxmlformats.org/officeDocument/2006/relationships/tags" Target="../tags/tag17.xml"/><Relationship Id="rId13" Type="http://schemas.openxmlformats.org/officeDocument/2006/relationships/tags" Target="../tags/tag16.xml"/><Relationship Id="rId12" Type="http://schemas.openxmlformats.org/officeDocument/2006/relationships/tags" Target="../tags/tag15.xml"/><Relationship Id="rId11" Type="http://schemas.openxmlformats.org/officeDocument/2006/relationships/tags" Target="../tags/tag14.xml"/><Relationship Id="rId10" Type="http://schemas.openxmlformats.org/officeDocument/2006/relationships/tags" Target="../tags/tag13.xml"/><Relationship Id="rId1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image" Target="../media/image15.svg"/><Relationship Id="rId16" Type="http://schemas.openxmlformats.org/officeDocument/2006/relationships/notesSlide" Target="../notesSlides/notesSlide3.xml"/><Relationship Id="rId15" Type="http://schemas.openxmlformats.org/officeDocument/2006/relationships/slideLayout" Target="../slideLayouts/slideLayout1.xml"/><Relationship Id="rId14" Type="http://schemas.openxmlformats.org/officeDocument/2006/relationships/tags" Target="../tags/tag31.xml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svg"/><Relationship Id="rId1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svg"/><Relationship Id="rId1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7.svg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32.xml"/><Relationship Id="rId2" Type="http://schemas.openxmlformats.org/officeDocument/2006/relationships/image" Target="../media/image18.svg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33.xml"/><Relationship Id="rId2" Type="http://schemas.openxmlformats.org/officeDocument/2006/relationships/image" Target="../media/image19.svg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34.xml"/><Relationship Id="rId2" Type="http://schemas.openxmlformats.org/officeDocument/2006/relationships/image" Target="../media/image18.svg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35.xml"/><Relationship Id="rId2" Type="http://schemas.openxmlformats.org/officeDocument/2006/relationships/image" Target="../media/image19.svg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svg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image" Target="../media/image20.svg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38.xml"/><Relationship Id="rId2" Type="http://schemas.openxmlformats.org/officeDocument/2006/relationships/image" Target="../media/image21.svg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39.xml"/><Relationship Id="rId2" Type="http://schemas.openxmlformats.org/officeDocument/2006/relationships/image" Target="../media/image22.svg"/><Relationship Id="rId1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40.xml"/><Relationship Id="rId2" Type="http://schemas.openxmlformats.org/officeDocument/2006/relationships/image" Target="../media/image23.svg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svg"/><Relationship Id="rId1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svg"/><Relationship Id="rId1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41.xml"/><Relationship Id="rId2" Type="http://schemas.openxmlformats.org/officeDocument/2006/relationships/image" Target="../media/image20.svg"/><Relationship Id="rId1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42.xml"/><Relationship Id="rId2" Type="http://schemas.openxmlformats.org/officeDocument/2006/relationships/image" Target="../media/image21.svg"/><Relationship Id="rId1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43.xml"/><Relationship Id="rId2" Type="http://schemas.openxmlformats.org/officeDocument/2006/relationships/image" Target="../media/image20.svg"/><Relationship Id="rId1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44.xml"/><Relationship Id="rId2" Type="http://schemas.openxmlformats.org/officeDocument/2006/relationships/image" Target="../media/image20.svg"/><Relationship Id="rId1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45.xml"/><Relationship Id="rId2" Type="http://schemas.openxmlformats.org/officeDocument/2006/relationships/image" Target="../media/image19.svg"/><Relationship Id="rId1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svg"/><Relationship Id="rId1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46.xml"/><Relationship Id="rId2" Type="http://schemas.openxmlformats.org/officeDocument/2006/relationships/image" Target="../media/image19.svg"/><Relationship Id="rId1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47.xml"/><Relationship Id="rId2" Type="http://schemas.openxmlformats.org/officeDocument/2006/relationships/image" Target="../media/image20.svg"/><Relationship Id="rId1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svg"/><Relationship Id="rId1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svg"/><Relationship Id="rId1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48.xml"/><Relationship Id="rId2" Type="http://schemas.openxmlformats.org/officeDocument/2006/relationships/image" Target="../media/image20.svg"/><Relationship Id="rId1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3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5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image" Target="../media/image1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svg"/><Relationship Id="rId1" Type="http://schemas.openxmlformats.org/officeDocument/2006/relationships/image" Target="../media/image24.png"/></Relationships>
</file>

<file path=ppt/slides/_rels/slide3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1.svg"/><Relationship Id="rId1" Type="http://schemas.openxmlformats.org/officeDocument/2006/relationships/image" Target="../media/image14.png"/></Relationships>
</file>

<file path=ppt/slides/_rels/slide3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9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54.xml"/><Relationship Id="rId4" Type="http://schemas.openxmlformats.org/officeDocument/2006/relationships/image" Target="../media/image27.png"/><Relationship Id="rId3" Type="http://schemas.openxmlformats.org/officeDocument/2006/relationships/tags" Target="../tags/tag53.xml"/><Relationship Id="rId2" Type="http://schemas.openxmlformats.org/officeDocument/2006/relationships/image" Target="../media/image21.svg"/><Relationship Id="rId1" Type="http://schemas.openxmlformats.org/officeDocument/2006/relationships/image" Target="../media/image14.png"/></Relationships>
</file>

<file path=ppt/slides/_rels/slide3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14.png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55.xml"/><Relationship Id="rId2" Type="http://schemas.openxmlformats.org/officeDocument/2006/relationships/image" Target="../media/image22.svg"/><Relationship Id="rId1" Type="http://schemas.openxmlformats.org/officeDocument/2006/relationships/image" Target="../media/image14.png"/></Relationships>
</file>

<file path=ppt/slides/_rels/slide3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5.png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6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57.xml"/><Relationship Id="rId1" Type="http://schemas.openxmlformats.org/officeDocument/2006/relationships/tags" Target="../tags/tag56.xml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8.xml"/></Relationships>
</file>

<file path=ppt/slides/_rels/slide4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4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2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image" Target="../media/image43.svg"/><Relationship Id="rId1" Type="http://schemas.openxmlformats.org/officeDocument/2006/relationships/image" Target="../media/image14.png"/></Relationships>
</file>

<file path=ppt/slides/_rels/slide5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5.svg"/><Relationship Id="rId1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0" y="2680382"/>
            <a:ext cx="12191999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配表助手</a:t>
            </a:r>
            <a:endParaRPr lang="zh-CN" altLang="en-US" sz="6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494155" y="3690620"/>
            <a:ext cx="93097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2000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kumimoji="1" lang="zh-CN" altLang="en-US" sz="2000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自然语言驱动配表</a:t>
            </a:r>
            <a:r>
              <a:rPr kumimoji="1" lang="en-US" altLang="zh-CN" sz="2000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kumimoji="1" lang="zh-CN" altLang="en-US" sz="2000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表格</a:t>
            </a:r>
            <a:r>
              <a:rPr kumimoji="1" lang="en-US" altLang="zh-CN" sz="2000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Merge</a:t>
            </a:r>
            <a:endParaRPr kumimoji="1" lang="en-US" altLang="zh-CN" sz="2000" spc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21980" y="4293258"/>
            <a:ext cx="4531659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dirty="0">
                <a:solidFill>
                  <a:schemeClr val="bg1"/>
                </a:solidFill>
                <a:latin typeface="+mj-ea"/>
                <a:ea typeface="+mj-ea"/>
              </a:rPr>
              <a:t>吴植贤</a:t>
            </a:r>
            <a:endParaRPr kumimoji="1" lang="en-US" altLang="zh-CN" sz="1600" dirty="0">
              <a:solidFill>
                <a:schemeClr val="bg1"/>
              </a:solidFill>
              <a:latin typeface="+mj-ea"/>
              <a:ea typeface="+mj-ea"/>
            </a:endParaRPr>
          </a:p>
          <a:p>
            <a:r>
              <a:rPr kumimoji="1" lang="en-US" altLang="zh-CN" sz="1600" dirty="0">
                <a:solidFill>
                  <a:schemeClr val="bg1"/>
                </a:solidFill>
                <a:latin typeface="+mj-ea"/>
                <a:ea typeface="+mj-ea"/>
              </a:rPr>
              <a:t>2026</a:t>
            </a:r>
            <a:r>
              <a:rPr kumimoji="1" lang="zh-CN" altLang="en-US" sz="1600" dirty="0">
                <a:solidFill>
                  <a:schemeClr val="bg1"/>
                </a:solidFill>
                <a:latin typeface="+mj-ea"/>
                <a:ea typeface="+mj-ea"/>
              </a:rPr>
              <a:t>年</a:t>
            </a:r>
            <a:r>
              <a:rPr kumimoji="1" lang="en-US" altLang="zh-CN" sz="1600" dirty="0">
                <a:solidFill>
                  <a:schemeClr val="bg1"/>
                </a:solidFill>
                <a:latin typeface="+mj-ea"/>
                <a:ea typeface="+mj-ea"/>
              </a:rPr>
              <a:t>9</a:t>
            </a:r>
            <a:r>
              <a:rPr kumimoji="1" lang="zh-CN" altLang="en-US" sz="1600" dirty="0">
                <a:solidFill>
                  <a:schemeClr val="bg1"/>
                </a:solidFill>
                <a:latin typeface="+mj-ea"/>
                <a:ea typeface="+mj-ea"/>
              </a:rPr>
              <a:t>月</a:t>
            </a:r>
            <a:r>
              <a:rPr kumimoji="1" lang="en-US" altLang="zh-CN" sz="1600" dirty="0">
                <a:solidFill>
                  <a:schemeClr val="bg1"/>
                </a:solidFill>
                <a:latin typeface="+mj-ea"/>
                <a:ea typeface="+mj-ea"/>
              </a:rPr>
              <a:t>4</a:t>
            </a:r>
            <a:r>
              <a:rPr kumimoji="1" lang="zh-CN" altLang="en-US" sz="1600" dirty="0">
                <a:solidFill>
                  <a:schemeClr val="bg1"/>
                </a:solidFill>
                <a:latin typeface="+mj-ea"/>
                <a:ea typeface="+mj-ea"/>
              </a:rPr>
              <a:t>日</a:t>
            </a:r>
            <a:endParaRPr kumimoji="1" lang="zh-CN" altLang="en-US" sz="1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11" name="直线连接符 10"/>
          <p:cNvCxnSpPr/>
          <p:nvPr/>
        </p:nvCxnSpPr>
        <p:spPr>
          <a:xfrm>
            <a:off x="1608060" y="4363295"/>
            <a:ext cx="0" cy="413100"/>
          </a:xfrm>
          <a:prstGeom prst="line">
            <a:avLst/>
          </a:prstGeom>
          <a:ln w="0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/>
        </p:nvGrpSpPr>
        <p:grpSpPr>
          <a:xfrm>
            <a:off x="1582645" y="2194103"/>
            <a:ext cx="1377981" cy="393832"/>
            <a:chOff x="1870051" y="-461450"/>
            <a:chExt cx="1377981" cy="393832"/>
          </a:xfrm>
        </p:grpSpPr>
        <p:sp>
          <p:nvSpPr>
            <p:cNvPr id="15" name="对角圆角矩形 14"/>
            <p:cNvSpPr/>
            <p:nvPr/>
          </p:nvSpPr>
          <p:spPr>
            <a:xfrm>
              <a:off x="1870051" y="-461450"/>
              <a:ext cx="1377981" cy="393832"/>
            </a:xfrm>
            <a:prstGeom prst="round2DiagRect">
              <a:avLst>
                <a:gd name="adj1" fmla="val 4901"/>
                <a:gd name="adj2" fmla="val 4289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928491" y="-461450"/>
              <a:ext cx="1319541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900" spc="300" dirty="0">
                  <a:solidFill>
                    <a:srgbClr val="A30B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规范模版</a:t>
              </a:r>
              <a:endParaRPr kumimoji="1" lang="zh-CN" altLang="en-US" sz="1900" spc="300" dirty="0">
                <a:solidFill>
                  <a:srgbClr val="A30B0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5046" y="6430129"/>
            <a:ext cx="747798" cy="139201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700" cy="127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1360785" y="66630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组合 57"/>
          <p:cNvGrpSpPr/>
          <p:nvPr>
            <p:custDataLst>
              <p:tags r:id="rId1"/>
            </p:custDataLst>
          </p:nvPr>
        </p:nvGrpSpPr>
        <p:grpSpPr>
          <a:xfrm>
            <a:off x="787620" y="2029437"/>
            <a:ext cx="1957218" cy="2326895"/>
            <a:chOff x="2372291" y="6696934"/>
            <a:chExt cx="1957218" cy="2179449"/>
          </a:xfrm>
        </p:grpSpPr>
        <p:sp>
          <p:nvSpPr>
            <p:cNvPr id="59" name="文本框 58"/>
            <p:cNvSpPr txBox="1"/>
            <p:nvPr>
              <p:custDataLst>
                <p:tags r:id="rId2"/>
              </p:custDataLst>
            </p:nvPr>
          </p:nvSpPr>
          <p:spPr>
            <a:xfrm>
              <a:off x="2695207" y="6696934"/>
              <a:ext cx="1287967" cy="11242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7200" b="1" dirty="0">
                  <a:solidFill>
                    <a:srgbClr val="A80D0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7200" b="1" dirty="0">
                <a:solidFill>
                  <a:srgbClr val="A80D0B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文本框 65"/>
            <p:cNvSpPr txBox="1"/>
            <p:nvPr>
              <p:custDataLst>
                <p:tags r:id="rId3"/>
              </p:custDataLst>
            </p:nvPr>
          </p:nvSpPr>
          <p:spPr>
            <a:xfrm>
              <a:off x="2544134" y="7941893"/>
              <a:ext cx="1590114" cy="4026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2200" b="1" dirty="0">
                  <a:solidFill>
                    <a:srgbClr val="A80D0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业务背景</a:t>
              </a:r>
              <a:endParaRPr kumimoji="1" lang="zh-CN" altLang="en-US" sz="2200" b="1" dirty="0">
                <a:solidFill>
                  <a:srgbClr val="A80D0B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文本框 66"/>
            <p:cNvSpPr txBox="1"/>
            <p:nvPr>
              <p:custDataLst>
                <p:tags r:id="rId4"/>
              </p:custDataLst>
            </p:nvPr>
          </p:nvSpPr>
          <p:spPr>
            <a:xfrm>
              <a:off x="2372291" y="8324157"/>
              <a:ext cx="1957218" cy="5522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40000"/>
                </a:lnSpc>
              </a:pPr>
              <a:r>
                <a:rPr kumimoji="1" lang="zh-CN" altLang="en-US" sz="1200" dirty="0">
                  <a:latin typeface="+mj-ea"/>
                  <a:ea typeface="+mj-ea"/>
                </a:rPr>
                <a:t>具体事项简述内容分类项目关系具体事项简述内容</a:t>
              </a:r>
              <a:endParaRPr kumimoji="1" lang="zh-CN" altLang="en-US" sz="1200" dirty="0">
                <a:latin typeface="+mj-ea"/>
                <a:ea typeface="+mj-ea"/>
              </a:endParaRPr>
            </a:p>
          </p:txBody>
        </p:sp>
      </p:grpSp>
      <p:grpSp>
        <p:nvGrpSpPr>
          <p:cNvPr id="19" name="组合 18"/>
          <p:cNvGrpSpPr/>
          <p:nvPr>
            <p:custDataLst>
              <p:tags r:id="rId5"/>
            </p:custDataLst>
          </p:nvPr>
        </p:nvGrpSpPr>
        <p:grpSpPr>
          <a:xfrm>
            <a:off x="3452372" y="2029437"/>
            <a:ext cx="2399665" cy="2348485"/>
            <a:chOff x="2186871" y="6696934"/>
            <a:chExt cx="2399665" cy="2199671"/>
          </a:xfrm>
        </p:grpSpPr>
        <p:sp>
          <p:nvSpPr>
            <p:cNvPr id="20" name="文本框 19"/>
            <p:cNvSpPr txBox="1"/>
            <p:nvPr>
              <p:custDataLst>
                <p:tags r:id="rId6"/>
              </p:custDataLst>
            </p:nvPr>
          </p:nvSpPr>
          <p:spPr>
            <a:xfrm>
              <a:off x="2695207" y="6696934"/>
              <a:ext cx="1287967" cy="11242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7200" b="1" dirty="0">
                  <a:solidFill>
                    <a:srgbClr val="A80D0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7200" b="1" dirty="0">
                <a:solidFill>
                  <a:srgbClr val="A80D0B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框 20"/>
            <p:cNvSpPr txBox="1"/>
            <p:nvPr>
              <p:custDataLst>
                <p:tags r:id="rId7"/>
              </p:custDataLst>
            </p:nvPr>
          </p:nvSpPr>
          <p:spPr>
            <a:xfrm>
              <a:off x="2186871" y="7942962"/>
              <a:ext cx="2399665" cy="4026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2200" b="1" dirty="0">
                  <a:solidFill>
                    <a:srgbClr val="A80D0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实现方案</a:t>
              </a:r>
              <a:endParaRPr kumimoji="1" lang="zh-CN" altLang="en-US" sz="2200" b="1" dirty="0">
                <a:solidFill>
                  <a:srgbClr val="A80D0B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文本框 21"/>
            <p:cNvSpPr txBox="1"/>
            <p:nvPr>
              <p:custDataLst>
                <p:tags r:id="rId8"/>
              </p:custDataLst>
            </p:nvPr>
          </p:nvSpPr>
          <p:spPr>
            <a:xfrm>
              <a:off x="2458016" y="8344379"/>
              <a:ext cx="1957218" cy="5522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40000"/>
                </a:lnSpc>
              </a:pPr>
              <a:r>
                <a:rPr kumimoji="1" lang="zh-CN" altLang="en-US" sz="1200" dirty="0">
                  <a:latin typeface="+mj-ea"/>
                  <a:ea typeface="+mj-ea"/>
                </a:rPr>
                <a:t>具体事项简述内容分类项目关系具体事项简述内容</a:t>
              </a:r>
              <a:endParaRPr kumimoji="1" lang="zh-CN" altLang="en-US" sz="1200" dirty="0">
                <a:latin typeface="+mj-ea"/>
                <a:ea typeface="+mj-ea"/>
              </a:endParaRPr>
            </a:p>
          </p:txBody>
        </p:sp>
      </p:grpSp>
      <p:grpSp>
        <p:nvGrpSpPr>
          <p:cNvPr id="23" name="组合 22"/>
          <p:cNvGrpSpPr/>
          <p:nvPr>
            <p:custDataLst>
              <p:tags r:id="rId9"/>
            </p:custDataLst>
          </p:nvPr>
        </p:nvGrpSpPr>
        <p:grpSpPr>
          <a:xfrm>
            <a:off x="6487964" y="2029437"/>
            <a:ext cx="1999615" cy="2774315"/>
            <a:chOff x="2372291" y="6696934"/>
            <a:chExt cx="1999615" cy="2598518"/>
          </a:xfrm>
        </p:grpSpPr>
        <p:sp>
          <p:nvSpPr>
            <p:cNvPr id="25" name="文本框 24"/>
            <p:cNvSpPr txBox="1"/>
            <p:nvPr>
              <p:custDataLst>
                <p:tags r:id="rId10"/>
              </p:custDataLst>
            </p:nvPr>
          </p:nvSpPr>
          <p:spPr>
            <a:xfrm>
              <a:off x="2695207" y="6696934"/>
              <a:ext cx="1287967" cy="11242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7200" b="1" dirty="0">
                  <a:solidFill>
                    <a:srgbClr val="A80D0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zh-CN" altLang="en-US" sz="7200" b="1" dirty="0">
                <a:solidFill>
                  <a:srgbClr val="A80D0B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文本框 25"/>
            <p:cNvSpPr txBox="1"/>
            <p:nvPr>
              <p:custDataLst>
                <p:tags r:id="rId11"/>
              </p:custDataLst>
            </p:nvPr>
          </p:nvSpPr>
          <p:spPr>
            <a:xfrm>
              <a:off x="2372291" y="7941772"/>
              <a:ext cx="1999615" cy="13536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2200" b="1" dirty="0">
                  <a:solidFill>
                    <a:srgbClr val="A80D0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成果数据</a:t>
              </a:r>
              <a:r>
                <a:rPr kumimoji="1" lang="en-US" altLang="zh-CN" sz="2200" b="1" dirty="0">
                  <a:solidFill>
                    <a:srgbClr val="A80D0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			</a:t>
              </a:r>
              <a:endParaRPr kumimoji="1" lang="en-US" altLang="zh-CN" sz="2200" b="1" dirty="0">
                <a:solidFill>
                  <a:srgbClr val="A80D0B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文本框 26"/>
            <p:cNvSpPr txBox="1"/>
            <p:nvPr>
              <p:custDataLst>
                <p:tags r:id="rId12"/>
              </p:custDataLst>
            </p:nvPr>
          </p:nvSpPr>
          <p:spPr>
            <a:xfrm>
              <a:off x="2372291" y="8324157"/>
              <a:ext cx="1957218" cy="5522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40000"/>
                </a:lnSpc>
              </a:pPr>
              <a:r>
                <a:rPr kumimoji="1" lang="zh-CN" altLang="en-US" sz="1200" dirty="0">
                  <a:latin typeface="+mj-ea"/>
                  <a:ea typeface="+mj-ea"/>
                </a:rPr>
                <a:t>具体事项简述内容分类项目关系具体事项简述内容</a:t>
              </a:r>
              <a:endParaRPr kumimoji="1" lang="zh-CN" altLang="en-US" sz="1200" dirty="0">
                <a:latin typeface="+mj-ea"/>
                <a:ea typeface="+mj-ea"/>
              </a:endParaRPr>
            </a:p>
          </p:txBody>
        </p:sp>
      </p:grpSp>
      <p:grpSp>
        <p:nvGrpSpPr>
          <p:cNvPr id="28" name="组合 27"/>
          <p:cNvGrpSpPr/>
          <p:nvPr>
            <p:custDataLst>
              <p:tags r:id="rId13"/>
            </p:custDataLst>
          </p:nvPr>
        </p:nvGrpSpPr>
        <p:grpSpPr>
          <a:xfrm>
            <a:off x="9338136" y="2029437"/>
            <a:ext cx="1957218" cy="2326895"/>
            <a:chOff x="2372291" y="6696934"/>
            <a:chExt cx="1957218" cy="2179449"/>
          </a:xfrm>
        </p:grpSpPr>
        <p:sp>
          <p:nvSpPr>
            <p:cNvPr id="29" name="文本框 28"/>
            <p:cNvSpPr txBox="1"/>
            <p:nvPr>
              <p:custDataLst>
                <p:tags r:id="rId14"/>
              </p:custDataLst>
            </p:nvPr>
          </p:nvSpPr>
          <p:spPr>
            <a:xfrm>
              <a:off x="2695207" y="6696934"/>
              <a:ext cx="1287967" cy="11242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7200" b="1" dirty="0">
                  <a:solidFill>
                    <a:srgbClr val="A80D0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7200" b="1" dirty="0">
                <a:solidFill>
                  <a:srgbClr val="A80D0B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文本框 29"/>
            <p:cNvSpPr txBox="1"/>
            <p:nvPr>
              <p:custDataLst>
                <p:tags r:id="rId15"/>
              </p:custDataLst>
            </p:nvPr>
          </p:nvSpPr>
          <p:spPr>
            <a:xfrm>
              <a:off x="2544134" y="7941893"/>
              <a:ext cx="1590114" cy="4026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2200" b="1" dirty="0">
                  <a:solidFill>
                    <a:srgbClr val="A80D0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总结</a:t>
              </a:r>
              <a:r>
                <a:rPr kumimoji="1" lang="en-US" altLang="zh-CN" sz="2200" b="1" dirty="0">
                  <a:solidFill>
                    <a:srgbClr val="A80D0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Demo</a:t>
              </a:r>
              <a:endParaRPr kumimoji="1" lang="en-US" altLang="zh-CN" sz="2200" b="1" dirty="0">
                <a:solidFill>
                  <a:srgbClr val="A80D0B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文本框 30"/>
            <p:cNvSpPr txBox="1"/>
            <p:nvPr>
              <p:custDataLst>
                <p:tags r:id="rId16"/>
              </p:custDataLst>
            </p:nvPr>
          </p:nvSpPr>
          <p:spPr>
            <a:xfrm>
              <a:off x="2372291" y="8324157"/>
              <a:ext cx="1957218" cy="5522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40000"/>
                </a:lnSpc>
              </a:pPr>
              <a:r>
                <a:rPr kumimoji="1" lang="zh-CN" altLang="en-US" sz="1200" dirty="0">
                  <a:latin typeface="+mj-ea"/>
                  <a:ea typeface="+mj-ea"/>
                </a:rPr>
                <a:t>具体事项简述内容分类项目关系具体事项简述内容</a:t>
              </a:r>
              <a:endParaRPr kumimoji="1" lang="zh-CN" altLang="en-US" sz="1200" dirty="0">
                <a:latin typeface="+mj-ea"/>
                <a:ea typeface="+mj-ea"/>
              </a:endParaRPr>
            </a:p>
          </p:txBody>
        </p:sp>
      </p:grpSp>
      <p:pic>
        <p:nvPicPr>
          <p:cNvPr id="18" name="图形 17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68" name="Rectangle 67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85216" y="137160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目录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234440" y="1325880"/>
            <a:ext cx="9418320" cy="2026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noAutofit/>
          </a:bodyPr>
          <a:lstStyle/>
          <a:p>
            <a:pPr>
              <a:lnSpc>
                <a:spcPct val="258000"/>
              </a:lnSpc>
              <a:defRPr sz="22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01 业务背景与任务目标</a:t>
            </a:r>
          </a:p>
          <a:p>
            <a:pPr>
              <a:lnSpc>
                <a:spcPct val="258000"/>
              </a:lnSpc>
              <a:defRPr sz="22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02 Excel-Agent</a:t>
            </a:r>
            <a:r>
              <a:rPr lang="zh-CN"/>
              <a:t>：</a:t>
            </a:r>
            <a:r>
              <a:t>多Agent配表流水线</a:t>
            </a:r>
          </a:p>
          <a:p>
            <a:pPr>
              <a:lnSpc>
                <a:spcPct val="258000"/>
              </a:lnSpc>
              <a:defRPr sz="22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03 Merge</a:t>
            </a:r>
            <a:r>
              <a:rPr lang="zh-CN"/>
              <a:t>：</a:t>
            </a:r>
            <a:r>
              <a:t>面向 SVN 目录分支的三方合并</a:t>
            </a:r>
          </a:p>
          <a:p>
            <a:pPr>
              <a:lnSpc>
                <a:spcPct val="258000"/>
              </a:lnSpc>
              <a:defRPr sz="22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en-US"/>
              <a:t>04 </a:t>
            </a:r>
            <a:r>
              <a:rPr lang="zh-CN" altLang="en-US"/>
              <a:t>总结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2240280"/>
            <a:ext cx="9966960" cy="80467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ctr">
              <a:lnSpc>
                <a:spcPct val="115000"/>
              </a:lnSpc>
              <a:defRPr sz="3600" b="1">
                <a:solidFill>
                  <a:srgbClr val="C00000"/>
                </a:solidFill>
                <a:latin typeface="微软雅黑" panose="020B0503020204020204" pitchFamily="34" charset="-122"/>
              </a:defRPr>
            </a:pPr>
            <a:r>
              <a:t>一、业务背景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127248"/>
            <a:ext cx="9144000" cy="8229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ctr">
              <a:lnSpc>
                <a:spcPct val="115000"/>
              </a:lnSpc>
              <a:defRPr sz="20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复杂 Excel 配表不是单表编辑问题，而是跨表、跨目录、跨版本的一致性工程。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业务背景：真实配表的复杂性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>
            <p:custDataLst>
              <p:tags r:id="rId3"/>
            </p:custDataLst>
          </p:nvPr>
        </p:nvSpPr>
        <p:spPr>
          <a:xfrm>
            <a:off x="685800" y="1508760"/>
            <a:ext cx="3337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>
            <p:custDataLst>
              <p:tags r:id="rId4"/>
            </p:custDataLst>
          </p:nvPr>
        </p:nvSpPr>
        <p:spPr>
          <a:xfrm>
            <a:off x="685800" y="1508760"/>
            <a:ext cx="73152" cy="12344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5"/>
            </p:custDataLst>
          </p:nvPr>
        </p:nvSpPr>
        <p:spPr>
          <a:xfrm>
            <a:off x="850392" y="1618488"/>
            <a:ext cx="3081528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微软雅黑" panose="020B0503020204020204" pitchFamily="34" charset="-122"/>
              </a:rPr>
              <a:t>规模复杂</a:t>
            </a:r>
            <a:endParaRPr sz="1300" b="1">
              <a:solidFill>
                <a:srgbClr val="1A1A1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6"/>
            </p:custDataLst>
          </p:nvPr>
        </p:nvSpPr>
        <p:spPr>
          <a:xfrm>
            <a:off x="832104" y="1947672"/>
            <a:ext cx="3081528" cy="51689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00" b="0">
                <a:solidFill>
                  <a:srgbClr val="404040"/>
                </a:solidFill>
                <a:latin typeface="微软雅黑" panose="020B0503020204020204" pitchFamily="34" charset="-122"/>
              </a:defRPr>
            </a:pPr>
            <a:r>
              <a:t>表多、字段多、跨表引用密集；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00" b="0">
                <a:solidFill>
                  <a:srgbClr val="404040"/>
                </a:solidFill>
                <a:latin typeface="微软雅黑" panose="020B0503020204020204" pitchFamily="34" charset="-122"/>
              </a:defRPr>
            </a:pPr>
            <a:r>
              <a:t>活动、奖励、技能、NPC、刷新点常跨多表。</a:t>
            </a:r>
          </a:p>
        </p:txBody>
      </p:sp>
      <p:sp>
        <p:nvSpPr>
          <p:cNvPr id="12" name="Rounded Rectangle 11"/>
          <p:cNvSpPr/>
          <p:nvPr>
            <p:custDataLst>
              <p:tags r:id="rId7"/>
            </p:custDataLst>
          </p:nvPr>
        </p:nvSpPr>
        <p:spPr>
          <a:xfrm>
            <a:off x="4389120" y="1508760"/>
            <a:ext cx="3337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>
            <p:custDataLst>
              <p:tags r:id="rId8"/>
            </p:custDataLst>
          </p:nvPr>
        </p:nvSpPr>
        <p:spPr>
          <a:xfrm>
            <a:off x="4389120" y="1508760"/>
            <a:ext cx="73152" cy="1234440"/>
          </a:xfrm>
          <a:prstGeom prst="rect">
            <a:avLst/>
          </a:prstGeom>
          <a:solidFill>
            <a:srgbClr val="2D6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9"/>
            </p:custDataLst>
          </p:nvPr>
        </p:nvSpPr>
        <p:spPr>
          <a:xfrm>
            <a:off x="4553712" y="1618488"/>
            <a:ext cx="3081528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微软雅黑" panose="020B0503020204020204" pitchFamily="34" charset="-122"/>
              </a:rPr>
              <a:t>表达复杂</a:t>
            </a:r>
            <a:endParaRPr sz="1300" b="1">
              <a:solidFill>
                <a:srgbClr val="1A1A1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10"/>
            </p:custDataLst>
          </p:nvPr>
        </p:nvSpPr>
        <p:spPr>
          <a:xfrm>
            <a:off x="4535424" y="1947672"/>
            <a:ext cx="3081528" cy="47815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00" b="0">
                <a:solidFill>
                  <a:srgbClr val="404040"/>
                </a:solidFill>
                <a:latin typeface="微软雅黑" panose="020B0503020204020204" pitchFamily="34" charset="-122"/>
              </a:defRPr>
            </a:pPr>
            <a:r>
              <a:t>用自然语言描述目标，</a:t>
            </a:r>
            <a:r>
              <a:t>通常不会精确写表名、列名、枚举值和外键链。</a:t>
            </a:r>
          </a:p>
        </p:txBody>
      </p:sp>
      <p:sp>
        <p:nvSpPr>
          <p:cNvPr id="3" name="Rounded Rectangle 15"/>
          <p:cNvSpPr/>
          <p:nvPr>
            <p:custDataLst>
              <p:tags r:id="rId11"/>
            </p:custDataLst>
          </p:nvPr>
        </p:nvSpPr>
        <p:spPr>
          <a:xfrm>
            <a:off x="8092440" y="1508760"/>
            <a:ext cx="3337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16"/>
          <p:cNvSpPr/>
          <p:nvPr>
            <p:custDataLst>
              <p:tags r:id="rId12"/>
            </p:custDataLst>
          </p:nvPr>
        </p:nvSpPr>
        <p:spPr>
          <a:xfrm>
            <a:off x="8092440" y="1508760"/>
            <a:ext cx="73152" cy="1234440"/>
          </a:xfrm>
          <a:prstGeom prst="rect">
            <a:avLst/>
          </a:prstGeom>
          <a:solidFill>
            <a:srgbClr val="CC7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17"/>
          <p:cNvSpPr txBox="1"/>
          <p:nvPr>
            <p:custDataLst>
              <p:tags r:id="rId13"/>
            </p:custDataLst>
          </p:nvPr>
        </p:nvSpPr>
        <p:spPr>
          <a:xfrm>
            <a:off x="8257031" y="1618488"/>
            <a:ext cx="3081528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微软雅黑" panose="020B0503020204020204" pitchFamily="34" charset="-122"/>
              </a:rPr>
              <a:t>协作复杂</a:t>
            </a:r>
            <a:endParaRPr sz="1300" b="1">
              <a:solidFill>
                <a:srgbClr val="1A1A1B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TextBox 18"/>
          <p:cNvSpPr txBox="1"/>
          <p:nvPr>
            <p:custDataLst>
              <p:tags r:id="rId14"/>
            </p:custDataLst>
          </p:nvPr>
        </p:nvSpPr>
        <p:spPr>
          <a:xfrm>
            <a:off x="8238744" y="1947672"/>
            <a:ext cx="3081528" cy="72237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00" b="0">
                <a:solidFill>
                  <a:srgbClr val="404040"/>
                </a:solidFill>
                <a:latin typeface="微软雅黑" panose="020B0503020204020204" pitchFamily="34" charset="-122"/>
              </a:defRPr>
            </a:pPr>
            <a:r>
              <a:t>SVN 目录分支和外链并存；多人并行改 Excel，人工合并容易漏行、丢公式。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734060" y="3231515"/>
            <a:ext cx="9813925" cy="24917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样例</a:t>
            </a:r>
            <a:r>
              <a:rPr lang="en-US" altLang="zh-CN" b="1"/>
              <a:t>:</a:t>
            </a:r>
            <a:endParaRPr lang="en-US" altLang="zh-CN" b="1"/>
          </a:p>
          <a:p>
            <a:endParaRPr lang="en-US" altLang="zh-CN"/>
          </a:p>
          <a:p>
            <a:r>
              <a:rPr lang="zh-CN" altLang="en-US" sz="1400"/>
              <a:t>新增节日活动「中秋签到」，类型节日，开始 2025-09-25 00:00:00、结束 2025-10-01 23:59:59；配奖励包 100900「中秋礼」每日限领 1 次、必给 10001×10；新建邮件模板 30101「中秋祝福」内容「中秋快乐」，发全服邮件 </a:t>
            </a:r>
            <a:r>
              <a:rPr lang="en-US" altLang="zh-CN" sz="1400"/>
              <a:t>global_id 8 </a:t>
            </a:r>
            <a:r>
              <a:rPr lang="zh-CN" altLang="en-US" sz="1400"/>
              <a:t>用该模板、附奖励包 100900。</a:t>
            </a:r>
            <a:endParaRPr lang="zh-CN" altLang="en-US" sz="1400"/>
          </a:p>
          <a:p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涉及：活动、奖励、邮件三个表</a:t>
            </a:r>
            <a:endParaRPr lang="zh-CN" altLang="en-US" sz="1400"/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8890" y="69113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业务背景：真实配表的复杂性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" name="表格 2"/>
          <p:cNvGraphicFramePr>
            <a:graphicFrameLocks noGrp="1"/>
          </p:cNvGraphicFramePr>
          <p:nvPr/>
        </p:nvGraphicFramePr>
        <p:xfrm>
          <a:off x="675005" y="1300480"/>
          <a:ext cx="8980805" cy="40005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5005705"/>
                <a:gridCol w="3975100"/>
              </a:tblGrid>
              <a:tr h="436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存在问题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后果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24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Merge</a:t>
                      </a: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过程出现漏行丢数据情况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数据会静默消失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310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跨分支编号冲突，多分支创作过程新建同一编号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后提交的进行了覆盖导致线上</a:t>
                      </a:r>
                      <a:r>
                        <a:rPr lang="en-US" altLang="zh-CN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bug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310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公式缓存丢失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编表会出现输出</a:t>
                      </a:r>
                      <a:r>
                        <a:rPr lang="en-US" altLang="zh-CN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0</a:t>
                      </a: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或者空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</a:tr>
              <a:tr h="71310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改表慢、易错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效率低、易漏外键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1835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AI 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误写不可逆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写坏数据找不回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任务目标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" name="表格 2"/>
          <p:cNvGraphicFramePr>
            <a:graphicFrameLocks noGrp="1"/>
          </p:cNvGraphicFramePr>
          <p:nvPr/>
        </p:nvGraphicFramePr>
        <p:xfrm>
          <a:off x="1047115" y="1543050"/>
          <a:ext cx="10144760" cy="205486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924685"/>
                <a:gridCol w="4371975"/>
                <a:gridCol w="3848100"/>
              </a:tblGrid>
              <a:tr h="44259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引擎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目标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关键约束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216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Excel-Agent</a:t>
                      </a:r>
                      <a:endParaRPr lang="en-US" altLang="zh-CN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输入自然语言</a:t>
                      </a:r>
                      <a:r>
                        <a:rPr lang="en-US" altLang="zh-CN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-&gt;</a:t>
                      </a: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提取</a:t>
                      </a:r>
                      <a:r>
                        <a:rPr lang="zh-CN" altLang="en-US" sz="12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结构化意图</a:t>
                      </a:r>
                      <a:r>
                        <a:rPr lang="en-US" altLang="zh-CN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+</a:t>
                      </a: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多表</a:t>
                      </a: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配表</a:t>
                      </a:r>
                      <a:endParaRPr lang="zh-CN" altLang="en-US" sz="120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存在校验、可执行、可跟踪的结构化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意图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4010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Merge</a:t>
                      </a:r>
                      <a:endParaRPr lang="en-US" altLang="zh-CN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目标目录分支模式实现</a:t>
                      </a: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Excel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三方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合并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保护公式、</a:t>
                      </a:r>
                      <a:r>
                        <a:rPr lang="en-US" altLang="zh-CN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ID</a:t>
                      </a: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引用、冲突</a:t>
                      </a: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可解释性</a:t>
                      </a:r>
                      <a:endParaRPr lang="zh-CN" altLang="en-US" sz="120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圆角矩形 3"/>
          <p:cNvSpPr/>
          <p:nvPr/>
        </p:nvSpPr>
        <p:spPr>
          <a:xfrm>
            <a:off x="1610360" y="4148455"/>
            <a:ext cx="1955800" cy="48704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自然语言输入</a:t>
            </a:r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4250055" y="4148455"/>
            <a:ext cx="1955800" cy="48704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Excel-Agent</a:t>
            </a:r>
            <a:endParaRPr lang="en-US" altLang="zh-CN"/>
          </a:p>
        </p:txBody>
      </p:sp>
      <p:sp>
        <p:nvSpPr>
          <p:cNvPr id="7" name="圆角矩形 6"/>
          <p:cNvSpPr/>
          <p:nvPr/>
        </p:nvSpPr>
        <p:spPr>
          <a:xfrm>
            <a:off x="6889750" y="4148455"/>
            <a:ext cx="1955800" cy="48704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改表</a:t>
            </a:r>
            <a:r>
              <a:rPr lang="zh-CN" altLang="en-US"/>
              <a:t>结果</a:t>
            </a:r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4134485" y="4855210"/>
            <a:ext cx="2177415" cy="48704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表结构</a:t>
            </a:r>
            <a:r>
              <a:rPr lang="en-US" altLang="zh-CN"/>
              <a:t>/</a:t>
            </a:r>
            <a:r>
              <a:rPr lang="zh-CN" altLang="en-US"/>
              <a:t>约束</a:t>
            </a:r>
            <a:r>
              <a:rPr lang="en-US" altLang="zh-CN"/>
              <a:t>/</a:t>
            </a:r>
            <a:r>
              <a:rPr lang="zh-CN" altLang="en-US"/>
              <a:t>外键</a:t>
            </a:r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1610360" y="5538470"/>
            <a:ext cx="1955800" cy="48704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选择</a:t>
            </a:r>
            <a:r>
              <a:rPr lang="en-US" altLang="zh-CN"/>
              <a:t>From</a:t>
            </a:r>
            <a:r>
              <a:rPr lang="zh-CN" altLang="en-US"/>
              <a:t>和</a:t>
            </a:r>
            <a:r>
              <a:rPr lang="en-US" altLang="zh-CN"/>
              <a:t>To</a:t>
            </a:r>
            <a:endParaRPr lang="en-US" altLang="zh-CN"/>
          </a:p>
        </p:txBody>
      </p:sp>
      <p:sp>
        <p:nvSpPr>
          <p:cNvPr id="10" name="圆角矩形 9"/>
          <p:cNvSpPr/>
          <p:nvPr/>
        </p:nvSpPr>
        <p:spPr>
          <a:xfrm>
            <a:off x="4250055" y="5538470"/>
            <a:ext cx="1955800" cy="48704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Merge</a:t>
            </a:r>
            <a:r>
              <a:rPr lang="zh-CN" altLang="en-US"/>
              <a:t>三方</a:t>
            </a:r>
            <a:r>
              <a:rPr lang="zh-CN" altLang="en-US"/>
              <a:t>合并</a:t>
            </a:r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6967220" y="5538470"/>
            <a:ext cx="1955800" cy="48704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合并</a:t>
            </a:r>
            <a:r>
              <a:rPr lang="zh-CN" altLang="en-US"/>
              <a:t>结果</a:t>
            </a:r>
            <a:endParaRPr lang="zh-CN" altLang="en-US"/>
          </a:p>
        </p:txBody>
      </p:sp>
      <p:cxnSp>
        <p:nvCxnSpPr>
          <p:cNvPr id="12" name="直接箭头连接符 11"/>
          <p:cNvCxnSpPr>
            <a:stCxn id="4" idx="3"/>
            <a:endCxn id="5" idx="1"/>
          </p:cNvCxnSpPr>
          <p:nvPr/>
        </p:nvCxnSpPr>
        <p:spPr>
          <a:xfrm>
            <a:off x="3566160" y="4392295"/>
            <a:ext cx="68389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stCxn id="5" idx="3"/>
            <a:endCxn id="7" idx="1"/>
          </p:cNvCxnSpPr>
          <p:nvPr/>
        </p:nvCxnSpPr>
        <p:spPr>
          <a:xfrm>
            <a:off x="6205855" y="4392295"/>
            <a:ext cx="68389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stCxn id="5" idx="2"/>
            <a:endCxn id="8" idx="0"/>
          </p:cNvCxnSpPr>
          <p:nvPr/>
        </p:nvCxnSpPr>
        <p:spPr>
          <a:xfrm flipH="1">
            <a:off x="5223510" y="4635500"/>
            <a:ext cx="4445" cy="2197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stCxn id="9" idx="3"/>
            <a:endCxn id="10" idx="1"/>
          </p:cNvCxnSpPr>
          <p:nvPr/>
        </p:nvCxnSpPr>
        <p:spPr>
          <a:xfrm>
            <a:off x="3566160" y="5782310"/>
            <a:ext cx="68389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stCxn id="10" idx="3"/>
            <a:endCxn id="11" idx="1"/>
          </p:cNvCxnSpPr>
          <p:nvPr/>
        </p:nvCxnSpPr>
        <p:spPr>
          <a:xfrm>
            <a:off x="6205855" y="5782310"/>
            <a:ext cx="76136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stCxn id="10" idx="0"/>
            <a:endCxn id="8" idx="2"/>
          </p:cNvCxnSpPr>
          <p:nvPr/>
        </p:nvCxnSpPr>
        <p:spPr>
          <a:xfrm flipH="1" flipV="1">
            <a:off x="5223510" y="5342255"/>
            <a:ext cx="4445" cy="1962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2240280"/>
            <a:ext cx="9966960" cy="7086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ctr">
              <a:lnSpc>
                <a:spcPct val="115000"/>
              </a:lnSpc>
              <a:defRPr sz="3600" b="1">
                <a:solidFill>
                  <a:srgbClr val="C00000"/>
                </a:solidFill>
                <a:latin typeface="微软雅黑" panose="020B0503020204020204" pitchFamily="34" charset="-122"/>
              </a:defRPr>
            </a:pPr>
            <a:r>
              <a:t>二、</a:t>
            </a:r>
            <a:r>
              <a:rPr lang="en-US"/>
              <a:t>4Step Excel-Agent</a:t>
            </a:r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234440" y="3127248"/>
            <a:ext cx="9144000" cy="42608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ctr">
              <a:lnSpc>
                <a:spcPct val="115000"/>
              </a:lnSpc>
              <a:defRPr sz="20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Excel-Agent 总体定位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9135" y="1170305"/>
            <a:ext cx="10767060" cy="518287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no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400"/>
              <a:t>Excel-Agent</a:t>
            </a:r>
            <a:r>
              <a:rPr lang="zh-CN" sz="1400"/>
              <a:t>：</a:t>
            </a:r>
            <a:r>
              <a:rPr sz="1400"/>
              <a:t>面向用户提供复杂输入，能够将复杂输入进行解析</a:t>
            </a:r>
            <a:r>
              <a:rPr lang="zh-CN" sz="1400"/>
              <a:t>。</a:t>
            </a:r>
            <a:endParaRPr sz="14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sz="14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sz="14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400"/>
              <a:t>最终目标是</a:t>
            </a:r>
            <a:r>
              <a:rPr sz="1400">
                <a:highlight>
                  <a:srgbClr val="FFFF00"/>
                </a:highlight>
              </a:rPr>
              <a:t>让 Step1 的 JSON 足够</a:t>
            </a:r>
            <a:r>
              <a:rPr lang="zh-CN" sz="1400">
                <a:highlight>
                  <a:srgbClr val="FFFF00"/>
                </a:highlight>
              </a:rPr>
              <a:t>准确</a:t>
            </a:r>
            <a:r>
              <a:rPr sz="1400"/>
              <a:t>，因为后续 Step2/Step3/Step4 都依赖它。</a:t>
            </a:r>
            <a:endParaRPr sz="14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sz="14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en-US" sz="1400"/>
              <a:t>Agent</a:t>
            </a:r>
            <a:r>
              <a:rPr lang="zh-CN" altLang="en-US" sz="1400"/>
              <a:t>负责内容有：理解</a:t>
            </a:r>
            <a:r>
              <a:rPr lang="en-US" altLang="zh-CN" sz="1400"/>
              <a:t>-&gt;</a:t>
            </a:r>
            <a:r>
              <a:rPr lang="zh-CN" altLang="en-US" sz="1400"/>
              <a:t>定位</a:t>
            </a:r>
            <a:r>
              <a:rPr lang="en-US" altLang="zh-CN" sz="1400"/>
              <a:t>-&gt;</a:t>
            </a:r>
            <a:r>
              <a:rPr lang="zh-CN" altLang="en-US" sz="1400"/>
              <a:t>拆解</a:t>
            </a:r>
            <a:r>
              <a:rPr lang="en-US" altLang="zh-CN" sz="1400"/>
              <a:t>-&gt;</a:t>
            </a:r>
            <a:r>
              <a:rPr lang="zh-CN" altLang="en-US" sz="1400"/>
              <a:t>校验</a:t>
            </a:r>
            <a:r>
              <a:rPr lang="en-US" altLang="zh-CN" sz="1400"/>
              <a:t>-&gt;</a:t>
            </a:r>
            <a:r>
              <a:rPr lang="zh-CN" altLang="en-US" sz="1400"/>
              <a:t>执行</a:t>
            </a:r>
            <a:r>
              <a:rPr lang="en-US" altLang="zh-CN" sz="1400"/>
              <a:t>-&gt;</a:t>
            </a:r>
            <a:r>
              <a:rPr lang="zh-CN" altLang="en-US" sz="1400"/>
              <a:t>汇总</a:t>
            </a:r>
            <a:endParaRPr lang="zh-CN" altLang="en-US" sz="14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 sz="14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zh-CN" sz="1400"/>
              <a:t>使用</a:t>
            </a:r>
            <a:r>
              <a:rPr lang="zh-CN" sz="1400" b="1"/>
              <a:t>自研</a:t>
            </a:r>
            <a:r>
              <a:rPr lang="en-US" altLang="zh-CN" sz="1400" b="1"/>
              <a:t>Step Pipeline:4Step + </a:t>
            </a:r>
            <a:r>
              <a:rPr lang="zh-CN" altLang="en-US" sz="1400" b="1"/>
              <a:t>中间契约校验</a:t>
            </a:r>
            <a:r>
              <a:rPr lang="en-US" altLang="zh-CN" sz="1400" b="1"/>
              <a:t>Step1.5,</a:t>
            </a:r>
            <a:r>
              <a:rPr lang="zh-CN" altLang="en-US" sz="1400" b="1"/>
              <a:t>顺序由纯</a:t>
            </a:r>
            <a:r>
              <a:rPr lang="en-US" altLang="zh-CN" sz="1400" b="1"/>
              <a:t>Python</a:t>
            </a:r>
            <a:r>
              <a:rPr lang="zh-CN" altLang="en-US" sz="1400" b="1"/>
              <a:t>代码实现</a:t>
            </a:r>
            <a:endParaRPr lang="zh-CN" altLang="en-US" sz="1400"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 sz="1400"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 sz="1400"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 sz="1400"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 sz="1400"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 sz="1400"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 sz="1400"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zh-CN" altLang="en-US" sz="1400"/>
              <a:t>例子：用户输入</a:t>
            </a:r>
            <a:r>
              <a:rPr lang="en-US" altLang="zh-CN" sz="1400"/>
              <a:t>”</a:t>
            </a:r>
            <a:r>
              <a:rPr lang="zh-CN" altLang="en-US" sz="1400"/>
              <a:t>新增灵兽'白虎'，品质神兽、成长率 1.5，再配进化路线</a:t>
            </a:r>
            <a:r>
              <a:rPr lang="en-US" altLang="zh-CN" sz="1400"/>
              <a:t>“</a:t>
            </a:r>
            <a:r>
              <a:rPr lang="zh-CN" altLang="en-US" sz="1400"/>
              <a:t>，则</a:t>
            </a:r>
            <a:r>
              <a:rPr lang="en-US" altLang="zh-CN" sz="1400"/>
              <a:t>Agent</a:t>
            </a:r>
            <a:r>
              <a:rPr lang="zh-CN" altLang="en-US" sz="1400"/>
              <a:t>能够自动识别有关灵兽表和进化表</a:t>
            </a:r>
            <a:endParaRPr lang="en-US" altLang="zh-CN" sz="14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en-US" altLang="zh-CN" sz="1400"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sz="14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sz="14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sz="1400"/>
          </a:p>
        </p:txBody>
      </p:sp>
      <p:sp>
        <p:nvSpPr>
          <p:cNvPr id="11" name="圆角矩形 10"/>
          <p:cNvSpPr/>
          <p:nvPr/>
        </p:nvSpPr>
        <p:spPr>
          <a:xfrm>
            <a:off x="830580" y="3659505"/>
            <a:ext cx="1391920" cy="70167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zh-CN" altLang="en-US"/>
              <a:t>解析</a:t>
            </a:r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5114925" y="3659505"/>
            <a:ext cx="1391920" cy="70167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r>
              <a:rPr lang="zh-CN" altLang="en-US"/>
              <a:t>、校验</a:t>
            </a:r>
            <a:endParaRPr lang="en-US" altLang="zh-CN"/>
          </a:p>
        </p:txBody>
      </p:sp>
      <p:sp>
        <p:nvSpPr>
          <p:cNvPr id="13" name="圆角矩形 12"/>
          <p:cNvSpPr/>
          <p:nvPr/>
        </p:nvSpPr>
        <p:spPr>
          <a:xfrm>
            <a:off x="7160260" y="3659505"/>
            <a:ext cx="1391920" cy="70167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r>
              <a:rPr lang="zh-CN" altLang="en-US"/>
              <a:t>、</a:t>
            </a:r>
            <a:r>
              <a:rPr lang="zh-CN" altLang="en-US"/>
              <a:t>执行</a:t>
            </a:r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9309100" y="3659505"/>
            <a:ext cx="1391920" cy="70167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r>
              <a:rPr lang="zh-CN" altLang="en-US"/>
              <a:t>、</a:t>
            </a:r>
            <a:r>
              <a:rPr lang="zh-CN" altLang="en-US"/>
              <a:t>汇总</a:t>
            </a:r>
            <a:endParaRPr lang="zh-CN" altLang="en-US"/>
          </a:p>
        </p:txBody>
      </p:sp>
      <p:cxnSp>
        <p:nvCxnSpPr>
          <p:cNvPr id="22" name="直接箭头连接符 21"/>
          <p:cNvCxnSpPr>
            <a:stCxn id="12" idx="3"/>
            <a:endCxn id="13" idx="1"/>
          </p:cNvCxnSpPr>
          <p:nvPr/>
        </p:nvCxnSpPr>
        <p:spPr>
          <a:xfrm>
            <a:off x="6506845" y="4010660"/>
            <a:ext cx="65341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stCxn id="13" idx="3"/>
            <a:endCxn id="14" idx="1"/>
          </p:cNvCxnSpPr>
          <p:nvPr/>
        </p:nvCxnSpPr>
        <p:spPr>
          <a:xfrm>
            <a:off x="8552180" y="4010660"/>
            <a:ext cx="75692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圆角矩形 28"/>
          <p:cNvSpPr/>
          <p:nvPr/>
        </p:nvSpPr>
        <p:spPr>
          <a:xfrm>
            <a:off x="2694940" y="3659505"/>
            <a:ext cx="1885315" cy="70167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1.5</a:t>
            </a:r>
            <a:r>
              <a:rPr lang="zh-CN" altLang="en-US"/>
              <a:t>、</a:t>
            </a:r>
            <a:r>
              <a:rPr lang="zh-CN" altLang="en-US"/>
              <a:t>契约校验</a:t>
            </a:r>
            <a:endParaRPr lang="en-US" altLang="zh-CN"/>
          </a:p>
        </p:txBody>
      </p:sp>
      <p:cxnSp>
        <p:nvCxnSpPr>
          <p:cNvPr id="30" name="直接箭头连接符 29"/>
          <p:cNvCxnSpPr>
            <a:stCxn id="11" idx="3"/>
            <a:endCxn id="29" idx="1"/>
          </p:cNvCxnSpPr>
          <p:nvPr/>
        </p:nvCxnSpPr>
        <p:spPr>
          <a:xfrm>
            <a:off x="2222500" y="4010660"/>
            <a:ext cx="47244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29" idx="3"/>
            <a:endCxn id="12" idx="1"/>
          </p:cNvCxnSpPr>
          <p:nvPr/>
        </p:nvCxnSpPr>
        <p:spPr>
          <a:xfrm>
            <a:off x="4580255" y="4010660"/>
            <a:ext cx="53467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Excel-Agent 总体定位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9" name="表格 2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708660" y="1355725"/>
          <a:ext cx="8969375" cy="435673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736090"/>
                <a:gridCol w="7233285"/>
              </a:tblGrid>
              <a:tr h="3930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Step</a:t>
                      </a:r>
                      <a:endParaRPr lang="en-US" altLang="zh-CN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职责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400" b="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、解析</a:t>
                      </a:r>
                      <a:endParaRPr lang="zh-CN" altLang="en-US" sz="1400" b="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对输入执行：分段</a:t>
                      </a:r>
                      <a:r>
                        <a:rPr lang="en-US" altLang="zh-CN" sz="1200" b="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-&gt;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定位</a:t>
                      </a:r>
                      <a:r>
                        <a:rPr lang="en-US" altLang="zh-CN" sz="1200" b="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-&gt;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注入真实表结构</a:t>
                      </a:r>
                      <a:r>
                        <a:rPr lang="en-US" altLang="zh-CN" sz="1200" b="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-&gt;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生成执行计划</a:t>
                      </a:r>
                      <a:endParaRPr lang="zh-CN" altLang="en-US" sz="1200" b="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72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1.5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、契约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校验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编译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produces/consumes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引用图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语义判断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计划完整性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审查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032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校验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根据业务规则进行字段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类型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依赖等的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校验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02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执行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依赖顺序确定性写盘、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ID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分配、引用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回填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</a:tr>
              <a:tr h="8032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汇总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变更归纳、错误总结、沉淀自学习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经验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989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rPr lang="en-US"/>
              <a:t>Prompt</a:t>
            </a:r>
            <a:r>
              <a:rPr lang="zh-CN" altLang="en-US"/>
              <a:t>工程</a:t>
            </a:r>
            <a:endParaRPr lang="zh-CN" altLang="en-US"/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9" name="表格 2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836930" y="1051560"/>
          <a:ext cx="9067165" cy="296164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353945"/>
                <a:gridCol w="4077970"/>
                <a:gridCol w="2635250"/>
              </a:tblGrid>
              <a:tr h="3733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组件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内容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作用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</a:tr>
              <a:tr h="4318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角色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设定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设定为</a:t>
                      </a: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Excel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配表拆解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专家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限定任务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边界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18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真实</a:t>
                      </a: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schema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注入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表名、</a:t>
                      </a: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sheet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、列名、类型、外键</a:t>
                      </a: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FK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等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防止出现幻觉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字段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053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输出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格式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json</a:t>
                      </a:r>
                      <a:endParaRPr lang="en-US" altLang="zh-CN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后续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json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格式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可执行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11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反例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约束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约束不输出不存在列，不把叙述碎片当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字段值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降低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污染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示例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给出跨表引用的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例子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提升结构稳定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性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</a:tr>
              <a:tr h="4311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截断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策略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只注入</a:t>
                      </a: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schema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降低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token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使用，防止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超时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0" y="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55015" y="5575300"/>
            <a:ext cx="99148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graphicFrame>
        <p:nvGraphicFramePr>
          <p:cNvPr id="4" name="表格 3"/>
          <p:cNvGraphicFramePr/>
          <p:nvPr/>
        </p:nvGraphicFramePr>
        <p:xfrm>
          <a:off x="870585" y="4208145"/>
          <a:ext cx="9736455" cy="2203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5485"/>
                <a:gridCol w="3245485"/>
                <a:gridCol w="3245485"/>
              </a:tblGrid>
              <a:tr h="44069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优化</a:t>
                      </a:r>
                      <a:r>
                        <a:rPr lang="zh-CN" altLang="en-US"/>
                        <a:t>点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优化前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优化</a:t>
                      </a:r>
                      <a:r>
                        <a:rPr lang="zh-CN" altLang="en-US"/>
                        <a:t>后</a:t>
                      </a:r>
                      <a:endParaRPr lang="zh-CN" altLang="en-US"/>
                    </a:p>
                  </a:txBody>
                  <a:tcPr/>
                </a:tc>
              </a:tr>
              <a:tr h="4406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Prompt</a:t>
                      </a:r>
                      <a:r>
                        <a:rPr lang="zh-CN" altLang="en-US"/>
                        <a:t>上下文</a:t>
                      </a:r>
                      <a:r>
                        <a:rPr lang="zh-CN" altLang="en-US"/>
                        <a:t>缩减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全量表索引</a:t>
                      </a:r>
                      <a:r>
                        <a:rPr lang="en-US" altLang="zh-CN"/>
                        <a:t>76.11</a:t>
                      </a:r>
                      <a:r>
                        <a:rPr lang="en-US" altLang="zh-CN"/>
                        <a:t>MB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单任务聚焦</a:t>
                      </a:r>
                      <a:r>
                        <a:rPr lang="en-US" altLang="zh-CN"/>
                        <a:t>schema510</a:t>
                      </a:r>
                      <a:r>
                        <a:rPr lang="zh-CN" altLang="en-US"/>
                        <a:t>字符，约</a:t>
                      </a:r>
                      <a:r>
                        <a:rPr lang="en-US" altLang="zh-CN"/>
                        <a:t>159</a:t>
                      </a:r>
                      <a:r>
                        <a:rPr lang="en-US" altLang="zh-CN"/>
                        <a:t>token</a:t>
                      </a:r>
                      <a:endParaRPr lang="en-US" altLang="zh-CN"/>
                    </a:p>
                  </a:txBody>
                  <a:tcPr/>
                </a:tc>
              </a:tr>
              <a:tr h="44069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输出格式</a:t>
                      </a:r>
                      <a:r>
                        <a:rPr lang="zh-CN" altLang="en-US"/>
                        <a:t>约束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自由文本，解析</a:t>
                      </a:r>
                      <a:r>
                        <a:rPr lang="zh-CN" altLang="en-US"/>
                        <a:t>不稳定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固定</a:t>
                      </a:r>
                      <a:r>
                        <a:rPr lang="en-US" altLang="zh-CN"/>
                        <a:t>JSON</a:t>
                      </a:r>
                      <a:r>
                        <a:rPr lang="zh-CN" altLang="en-US"/>
                        <a:t>，可执行</a:t>
                      </a:r>
                      <a:r>
                        <a:rPr lang="zh-CN" altLang="en-US"/>
                        <a:t>可校验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Step1：全链路的核心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914" y="1051687"/>
            <a:ext cx="10058400" cy="431482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en-US"/>
              <a:t>Step1</a:t>
            </a:r>
            <a:r>
              <a:rPr lang="zh-CN" altLang="en-US"/>
              <a:t>：自然语言</a:t>
            </a:r>
            <a:r>
              <a:rPr lang="en-US" altLang="zh-CN"/>
              <a:t>-&gt;</a:t>
            </a:r>
            <a:r>
              <a:rPr lang="zh-CN" altLang="en-US" b="1"/>
              <a:t>可执行计划</a:t>
            </a:r>
            <a:r>
              <a:rPr lang="en-US" altLang="zh-CN" b="1"/>
              <a:t>intent</a:t>
            </a:r>
            <a:endParaRPr lang="en-US" altLang="zh-CN"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en-US" altLang="zh-CN"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zh-CN" altLang="en-US" b="1"/>
              <a:t>技术</a:t>
            </a:r>
            <a:r>
              <a:rPr lang="zh-CN" altLang="en-US" b="1"/>
              <a:t>内容</a:t>
            </a:r>
            <a:endParaRPr lang="zh-CN" altLang="en-US"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 b="1"/>
          </a:p>
        </p:txBody>
      </p:sp>
      <p:graphicFrame>
        <p:nvGraphicFramePr>
          <p:cNvPr id="59" name="表格 2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437515" y="2193925"/>
          <a:ext cx="11036935" cy="406654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024630"/>
                <a:gridCol w="7012305"/>
              </a:tblGrid>
              <a:tr h="3702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操作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</a:t>
                      </a:r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说明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</a:tr>
              <a:tr h="4298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分段</a:t>
                      </a: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指代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消解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LLM</a:t>
                      </a:r>
                      <a:r>
                        <a:rPr lang="zh-CN" altLang="en-US" sz="14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分段为主，如果失败则整段作为</a:t>
                      </a:r>
                      <a:r>
                        <a:rPr lang="en-US" altLang="zh-CN" sz="14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prompt</a:t>
                      </a:r>
                      <a:r>
                        <a:rPr lang="zh-CN" altLang="en-US" sz="14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进行</a:t>
                      </a:r>
                      <a:r>
                        <a:rPr lang="zh-CN" altLang="en-US" sz="14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输入</a:t>
                      </a:r>
                      <a:endParaRPr lang="zh-CN" altLang="en-US" sz="140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81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候选表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定位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TableLocator5</a:t>
                      </a:r>
                      <a:r>
                        <a:rPr lang="zh-CN" altLang="en-US" sz="14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级规则召回</a:t>
                      </a:r>
                      <a:r>
                        <a:rPr lang="en-US" altLang="zh-CN" sz="14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+ColumnExtractor</a:t>
                      </a:r>
                      <a:r>
                        <a:rPr lang="zh-CN" altLang="en-US" sz="14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列名信号补候选</a:t>
                      </a:r>
                      <a:r>
                        <a:rPr lang="en-US" altLang="zh-CN" sz="14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+LLM</a:t>
                      </a:r>
                      <a:r>
                        <a:rPr lang="zh-CN" altLang="en-US" sz="14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候选</a:t>
                      </a:r>
                      <a:r>
                        <a:rPr lang="en-US" altLang="zh-CN" sz="14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+</a:t>
                      </a:r>
                      <a:r>
                        <a:rPr lang="zh-CN" altLang="en-US" sz="14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外键</a:t>
                      </a:r>
                      <a:r>
                        <a:rPr lang="en-US" altLang="zh-CN" sz="14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FK</a:t>
                      </a:r>
                      <a:r>
                        <a:rPr lang="zh-CN" altLang="en-US" sz="14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一跳</a:t>
                      </a:r>
                      <a:endParaRPr lang="zh-CN" altLang="en-US" sz="140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67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schema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注入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注入真实表头、类型、外键</a:t>
                      </a: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FK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和列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标注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80390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LLM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拆解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每段独立</a:t>
                      </a: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DecomposeAgent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输出结构化</a:t>
                      </a: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intents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80390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produces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推断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外键图</a:t>
                      </a: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主键规则，建立起跨表依赖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关系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</a:tr>
              <a:tr h="580390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段级覆盖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对账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每个段至少产生一条意图，若没有则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重跑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</a:tr>
              <a:tr h="580390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契约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校验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根据引用图</a:t>
                      </a: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语义</a:t>
                      </a: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计划完整性进行审查，不完整不进入</a:t>
                      </a: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Step2</a:t>
                      </a:r>
                      <a:endParaRPr lang="en-US" altLang="zh-CN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0" y="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Step1：全链路的核心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文本框 1"/>
          <p:cNvSpPr txBox="1"/>
          <p:nvPr/>
        </p:nvSpPr>
        <p:spPr>
          <a:xfrm>
            <a:off x="0" y="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zh-CN" altLang="en-US"/>
          </a:p>
        </p:txBody>
      </p:sp>
      <p:graphicFrame>
        <p:nvGraphicFramePr>
          <p:cNvPr id="4" name="表格 3"/>
          <p:cNvGraphicFramePr/>
          <p:nvPr>
            <p:custDataLst>
              <p:tags r:id="rId3"/>
            </p:custDataLst>
          </p:nvPr>
        </p:nvGraphicFramePr>
        <p:xfrm>
          <a:off x="803910" y="1863725"/>
          <a:ext cx="5612765" cy="2940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1875"/>
                <a:gridCol w="1191895"/>
                <a:gridCol w="1212215"/>
                <a:gridCol w="2176780"/>
              </a:tblGrid>
              <a:tr h="52324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指标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before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after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说明</a:t>
                      </a:r>
                      <a:endParaRPr lang="zh-CN" altLang="en-US" sz="1600"/>
                    </a:p>
                  </a:txBody>
                  <a:tcPr/>
                </a:tc>
              </a:tr>
              <a:tr h="60388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定位</a:t>
                      </a:r>
                      <a:r>
                        <a:rPr lang="zh-CN" altLang="en-US" sz="1600"/>
                        <a:t>功能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0.6667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0.8056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+20.8%</a:t>
                      </a:r>
                      <a:endParaRPr lang="en-US" altLang="zh-CN" sz="1600"/>
                    </a:p>
                  </a:txBody>
                  <a:tcPr/>
                </a:tc>
              </a:tr>
              <a:tr h="6045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覆盖度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0.6111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0.7500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+22.7%</a:t>
                      </a:r>
                      <a:endParaRPr lang="en-US" altLang="zh-CN" sz="1600"/>
                    </a:p>
                  </a:txBody>
                  <a:tcPr/>
                </a:tc>
              </a:tr>
              <a:tr h="6045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平均耗时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82236ms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98637ms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校验使用更多时间</a:t>
                      </a:r>
                      <a:endParaRPr lang="zh-CN" altLang="en-US" sz="1600"/>
                    </a:p>
                  </a:txBody>
                  <a:tcPr/>
                </a:tc>
              </a:tr>
              <a:tr h="6045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相应</a:t>
                      </a:r>
                      <a:r>
                        <a:rPr lang="en-US" altLang="zh-CN" sz="1600"/>
                        <a:t>ok</a:t>
                      </a:r>
                      <a:r>
                        <a:rPr lang="zh-CN" altLang="en-US" sz="1600"/>
                        <a:t>率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0.8333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0.3333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主动拒错</a:t>
                      </a:r>
                      <a:endParaRPr lang="zh-CN" altLang="en-US" sz="16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735965" y="1158875"/>
            <a:ext cx="36017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指标优化</a:t>
            </a:r>
            <a:r>
              <a:rPr lang="en-US" altLang="zh-CN"/>
              <a:t>(</a:t>
            </a:r>
            <a:r>
              <a:rPr lang="zh-CN" altLang="en-US"/>
              <a:t>基于</a:t>
            </a:r>
            <a:r>
              <a:rPr lang="en-US" altLang="zh-CN"/>
              <a:t>8</a:t>
            </a:r>
            <a:r>
              <a:rPr lang="zh-CN" altLang="en-US"/>
              <a:t>个</a:t>
            </a:r>
            <a:r>
              <a:rPr lang="zh-CN" altLang="en-US"/>
              <a:t>简单样例</a:t>
            </a:r>
            <a:r>
              <a:rPr lang="en-US" altLang="zh-CN"/>
              <a:t>)</a:t>
            </a:r>
            <a:endParaRPr lang="en-US" altLang="zh-C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989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rPr lang="zh-CN"/>
              <a:t>增强：</a:t>
            </a:r>
            <a:r>
              <a:rPr lang="en-US" altLang="zh-CN"/>
              <a:t>LocatorAgent</a:t>
            </a:r>
            <a:r>
              <a:rPr lang="zh-CN" altLang="en-US"/>
              <a:t>候选表定位</a:t>
            </a:r>
            <a:endParaRPr lang="zh-CN" altLang="en-US"/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1170432"/>
            <a:ext cx="10058400" cy="36258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zh-CN" altLang="en-US" sz="1600"/>
              <a:t>多通道寻找</a:t>
            </a:r>
            <a:r>
              <a:rPr lang="zh-CN" altLang="en-US" sz="1600"/>
              <a:t>候选表</a:t>
            </a:r>
            <a:endParaRPr lang="zh-CN" altLang="en-US" sz="1600"/>
          </a:p>
        </p:txBody>
      </p:sp>
      <p:graphicFrame>
        <p:nvGraphicFramePr>
          <p:cNvPr id="2" name="表格 2"/>
          <p:cNvGraphicFramePr>
            <a:graphicFrameLocks noGrp="1"/>
          </p:cNvGraphicFramePr>
          <p:nvPr/>
        </p:nvGraphicFramePr>
        <p:xfrm>
          <a:off x="786130" y="1630045"/>
          <a:ext cx="9900285" cy="381952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878330"/>
                <a:gridCol w="4265930"/>
                <a:gridCol w="3756025"/>
              </a:tblGrid>
              <a:tr h="36893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通道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作用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579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规则</a:t>
                      </a: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级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召回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文件名</a:t>
                      </a:r>
                      <a:r>
                        <a:rPr lang="en-US" altLang="zh-CN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-&gt;</a:t>
                      </a: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别名</a:t>
                      </a:r>
                      <a:r>
                        <a:rPr lang="en-US" altLang="zh-CN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-&gt;</a:t>
                      </a: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模糊</a:t>
                      </a:r>
                      <a:r>
                        <a:rPr lang="en-US" altLang="zh-CN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-&gt;sheet</a:t>
                      </a: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名</a:t>
                      </a:r>
                      <a:r>
                        <a:rPr lang="en-US" altLang="zh-CN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-&gt;</a:t>
                      </a: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列名语义，逐级</a:t>
                      </a: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命中</a:t>
                      </a:r>
                      <a:endParaRPr lang="zh-CN" altLang="en-US" sz="120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优先直接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命中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0040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列名信号补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候选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指令中提取列名，反查属于哪张表，补进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候选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可以在用户写明列名时</a:t>
                      </a: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不漏表</a:t>
                      </a:r>
                      <a:endParaRPr lang="zh-CN" altLang="en-US" sz="120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02310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LLM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复核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候选</a:t>
                      </a: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&gt;1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张就让</a:t>
                      </a: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LLM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进行判别涉及哪些表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LLM</a:t>
                      </a: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裁决选表，可以排除</a:t>
                      </a: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噪声表</a:t>
                      </a:r>
                      <a:endParaRPr lang="zh-CN" altLang="en-US" sz="120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01040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FK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关系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扩展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根据外键一跳查表</a:t>
                      </a:r>
                      <a:endParaRPr lang="en-US" altLang="zh-CN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只提到主表也能够带上</a:t>
                      </a: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关联表</a:t>
                      </a:r>
                      <a:endParaRPr lang="zh-CN" altLang="en-US" sz="120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01040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语义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召回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BM25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规则全不中的时候的最终</a:t>
                      </a: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兜底</a:t>
                      </a:r>
                      <a:endParaRPr lang="zh-CN" altLang="en-US" sz="120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989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rPr lang="zh-CN"/>
              <a:t>增强：</a:t>
            </a:r>
            <a:r>
              <a:rPr lang="zh-CN" altLang="en-US"/>
              <a:t>规则五级</a:t>
            </a:r>
            <a:r>
              <a:rPr lang="zh-CN" altLang="en-US"/>
              <a:t>召回</a:t>
            </a:r>
            <a:endParaRPr lang="zh-CN" altLang="en-US"/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文本框 2"/>
          <p:cNvSpPr txBox="1"/>
          <p:nvPr/>
        </p:nvSpPr>
        <p:spPr>
          <a:xfrm>
            <a:off x="585470" y="1219200"/>
            <a:ext cx="4381500" cy="4502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五级召回：</a:t>
            </a:r>
            <a:endParaRPr lang="zh-CN" altLang="en-US"/>
          </a:p>
          <a:p>
            <a:r>
              <a:rPr lang="en-US" altLang="zh-CN"/>
              <a:t>1</a:t>
            </a:r>
            <a:r>
              <a:rPr lang="zh-CN" altLang="en-US"/>
              <a:t>、表文件名精确</a:t>
            </a:r>
            <a:r>
              <a:rPr lang="zh-CN" altLang="en-US"/>
              <a:t>命中；</a:t>
            </a:r>
            <a:endParaRPr lang="zh-CN" altLang="en-US"/>
          </a:p>
          <a:p>
            <a:r>
              <a:rPr lang="en-US" altLang="zh-CN"/>
              <a:t>2</a:t>
            </a:r>
            <a:r>
              <a:rPr lang="zh-CN" altLang="en-US"/>
              <a:t>、表别名或中文表头</a:t>
            </a:r>
            <a:r>
              <a:rPr lang="zh-CN" altLang="en-US"/>
              <a:t>命中；</a:t>
            </a:r>
            <a:endParaRPr lang="zh-CN" altLang="en-US"/>
          </a:p>
          <a:p>
            <a:r>
              <a:rPr lang="en-US" altLang="zh-CN"/>
              <a:t>3</a:t>
            </a:r>
            <a:r>
              <a:rPr lang="zh-CN" altLang="en-US"/>
              <a:t>、文件模糊匹配，使用</a:t>
            </a:r>
            <a:r>
              <a:rPr lang="en-US" altLang="zh-CN">
                <a:highlight>
                  <a:srgbClr val="FFFF00"/>
                </a:highlight>
              </a:rPr>
              <a:t>rapidfuzz</a:t>
            </a:r>
            <a:r>
              <a:rPr lang="zh-CN" altLang="en-US">
                <a:highlight>
                  <a:srgbClr val="FFFF00"/>
                </a:highlight>
              </a:rPr>
              <a:t>指标</a:t>
            </a:r>
            <a:r>
              <a:rPr lang="en-US" altLang="zh-CN"/>
              <a:t>;</a:t>
            </a:r>
            <a:endParaRPr lang="en-US" altLang="zh-CN"/>
          </a:p>
          <a:p>
            <a:r>
              <a:rPr lang="en-US" altLang="zh-CN"/>
              <a:t>4</a:t>
            </a:r>
            <a:r>
              <a:rPr lang="zh-CN" altLang="en-US"/>
              <a:t>、工作簿</a:t>
            </a:r>
            <a:r>
              <a:rPr lang="en-US" altLang="zh-CN"/>
              <a:t>sheet</a:t>
            </a:r>
            <a:r>
              <a:rPr lang="zh-CN" altLang="en-US"/>
              <a:t>名</a:t>
            </a:r>
            <a:r>
              <a:rPr lang="zh-CN" altLang="en-US"/>
              <a:t>命中；</a:t>
            </a:r>
            <a:endParaRPr lang="zh-CN" altLang="en-US"/>
          </a:p>
          <a:p>
            <a:r>
              <a:rPr lang="en-US" altLang="zh-CN"/>
              <a:t>5</a:t>
            </a:r>
            <a:r>
              <a:rPr lang="zh-CN" altLang="en-US"/>
              <a:t>、列名语义</a:t>
            </a:r>
            <a:r>
              <a:rPr lang="zh-CN" altLang="en-US"/>
              <a:t>命中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 sz="1400"/>
              <a:t>例子：说"灵兽表"→ 第 2 级别名命中 </a:t>
            </a:r>
            <a:r>
              <a:rPr lang="en-US" altLang="zh-CN" sz="1400"/>
              <a:t>pet，</a:t>
            </a:r>
            <a:r>
              <a:rPr lang="zh-CN" altLang="en-US" sz="1400"/>
              <a:t>零 </a:t>
            </a:r>
            <a:r>
              <a:rPr lang="en-US" altLang="zh-CN" sz="1400"/>
              <a:t>LLM </a:t>
            </a:r>
            <a:r>
              <a:rPr lang="zh-CN" altLang="en-US" sz="1400"/>
              <a:t>开销；说"灵兽表格"→ 第 3 级模糊兜住</a:t>
            </a:r>
            <a:endParaRPr lang="zh-CN" altLang="en-US" sz="1400"/>
          </a:p>
        </p:txBody>
      </p:sp>
      <p:sp>
        <p:nvSpPr>
          <p:cNvPr id="5" name="文本框 4"/>
          <p:cNvSpPr txBox="1"/>
          <p:nvPr/>
        </p:nvSpPr>
        <p:spPr>
          <a:xfrm>
            <a:off x="4967605" y="1051560"/>
            <a:ext cx="7082155" cy="14966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rapidfuzz</a:t>
            </a:r>
            <a:r>
              <a:rPr lang="zh-CN" altLang="en-US"/>
              <a:t>混合</a:t>
            </a:r>
            <a:r>
              <a:rPr lang="zh-CN" altLang="en-US"/>
              <a:t>指标：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rapidfuzz_score=WRatio*0.5+token_set_ratio*0.3+partical_ratio*0.2</a:t>
            </a:r>
            <a:endParaRPr lang="en-US" altLang="zh-CN"/>
          </a:p>
        </p:txBody>
      </p:sp>
      <p:graphicFrame>
        <p:nvGraphicFramePr>
          <p:cNvPr id="7" name="表格 6"/>
          <p:cNvGraphicFramePr/>
          <p:nvPr>
            <p:custDataLst>
              <p:tags r:id="rId3"/>
            </p:custDataLst>
          </p:nvPr>
        </p:nvGraphicFramePr>
        <p:xfrm>
          <a:off x="5154295" y="2146300"/>
          <a:ext cx="6895465" cy="22688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7060"/>
                <a:gridCol w="5018405"/>
              </a:tblGrid>
              <a:tr h="36766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指标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作用</a:t>
                      </a:r>
                      <a:endParaRPr lang="zh-CN" altLang="en-US"/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WRatio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综合编辑距离、长度差、部分匹配，适合通用</a:t>
                      </a:r>
                      <a:r>
                        <a:rPr lang="zh-CN" altLang="en-US"/>
                        <a:t>相似度</a:t>
                      </a:r>
                      <a:endParaRPr lang="zh-CN" altLang="en-US"/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token_set_ratio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忽略词序和</a:t>
                      </a:r>
                      <a:r>
                        <a:rPr lang="zh-CN" altLang="en-US"/>
                        <a:t>重复词</a:t>
                      </a:r>
                      <a:endParaRPr lang="zh-CN" altLang="en-US"/>
                    </a:p>
                  </a:txBody>
                  <a:tcPr/>
                </a:tc>
              </a:tr>
              <a:tr h="62103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partical_ratio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长字段里包含短查询时仍能够</a:t>
                      </a:r>
                      <a:r>
                        <a:rPr lang="zh-CN" altLang="en-US"/>
                        <a:t>命中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表格 2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5154295" y="4527550"/>
          <a:ext cx="6548120" cy="180022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960245"/>
                <a:gridCol w="2103755"/>
                <a:gridCol w="2484120"/>
              </a:tblGrid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指标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纯</a:t>
                      </a:r>
                      <a:r>
                        <a:rPr lang="en-US" altLang="zh-CN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Python</a:t>
                      </a:r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实现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rapidfuzz C++</a:t>
                      </a:r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算子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146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编辑距离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计算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2781.54</a:t>
                      </a:r>
                      <a:r>
                        <a:rPr 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ms</a:t>
                      </a:r>
                      <a:endParaRPr lang="en-US" sz="120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192.16ms</a:t>
                      </a:r>
                      <a:endParaRPr lang="en-US" altLang="zh-CN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6738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单次匹配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平均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0.0093</a:t>
                      </a:r>
                      <a:r>
                        <a:rPr 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ms</a:t>
                      </a:r>
                      <a:endParaRPr 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0.0006ms</a:t>
                      </a:r>
                      <a:endParaRPr lang="en-US" altLang="zh-CN" sz="120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989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rPr lang="zh-CN"/>
              <a:t>增强：列名信号</a:t>
            </a:r>
            <a:r>
              <a:rPr lang="zh-CN"/>
              <a:t>补候选</a:t>
            </a:r>
            <a:endParaRPr lang="zh-CN"/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" name="表格 2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786130" y="1436370"/>
          <a:ext cx="8818880" cy="381952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696210"/>
                <a:gridCol w="6122670"/>
              </a:tblGrid>
              <a:tr h="36893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规则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做法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579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专有列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优先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命中的列名只在特殊表中存在，公共列不作</a:t>
                      </a: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操作</a:t>
                      </a:r>
                      <a:endParaRPr lang="zh-CN" altLang="en-US" sz="120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0040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歧义列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抑制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同时对应多张表，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不补表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02310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强证据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必留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指令原样出现判别列则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补进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01040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数量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上限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最多只能补四张表格，防止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污染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989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rPr lang="zh-CN"/>
              <a:t>增强：</a:t>
            </a:r>
            <a:r>
              <a:rPr lang="en-US" altLang="zh-CN"/>
              <a:t>LLM</a:t>
            </a:r>
            <a:r>
              <a:rPr lang="zh-CN" altLang="en-US"/>
              <a:t>复核</a:t>
            </a:r>
            <a:endParaRPr lang="zh-CN" altLang="en-US"/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" name="表格 2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786130" y="1436370"/>
          <a:ext cx="8818880" cy="381952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696210"/>
                <a:gridCol w="6122670"/>
              </a:tblGrid>
              <a:tr h="36893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情形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处理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579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触发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条件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候选表格</a:t>
                      </a: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数量多</a:t>
                      </a:r>
                      <a:endParaRPr lang="zh-CN" altLang="en-US" sz="120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0040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对于简单输入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LLM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判定直接生效，提出无关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表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02310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对于复杂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输入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不删除表，保护表格不被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去除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01040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兜底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LLM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失败的时候退回置信度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检验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765175" y="4838700"/>
            <a:ext cx="98844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样例："新增灵兽白虎，品质神兽" → 规则召回 </a:t>
            </a:r>
            <a:r>
              <a:rPr lang="en-US" altLang="zh-CN" sz="1400"/>
              <a:t>pet，</a:t>
            </a:r>
            <a:r>
              <a:rPr lang="zh-CN" altLang="en-US" sz="1400"/>
              <a:t>列名信号带进 6 张含"名称/描述"的表 → </a:t>
            </a:r>
            <a:r>
              <a:rPr lang="en-US" altLang="zh-CN" sz="1400"/>
              <a:t>LLM </a:t>
            </a:r>
            <a:r>
              <a:rPr lang="zh-CN" altLang="en-US" sz="1400"/>
              <a:t>复核判"只有 </a:t>
            </a:r>
            <a:r>
              <a:rPr lang="en-US" altLang="zh-CN" sz="1400"/>
              <a:t>pet </a:t>
            </a:r>
            <a:r>
              <a:rPr lang="zh-CN" altLang="en-US" sz="1400"/>
              <a:t>真相关" → 候选收窄到 1 张。</a:t>
            </a:r>
            <a:endParaRPr lang="zh-CN" altLang="en-US" sz="1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989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rPr lang="zh-CN"/>
              <a:t>增强：</a:t>
            </a:r>
            <a:r>
              <a:rPr lang="en-US" altLang="zh-CN"/>
              <a:t>FK</a:t>
            </a:r>
            <a:r>
              <a:rPr lang="zh-CN" altLang="en-US"/>
              <a:t>关系</a:t>
            </a:r>
            <a:r>
              <a:rPr lang="zh-CN" altLang="en-US"/>
              <a:t>扩展</a:t>
            </a:r>
            <a:endParaRPr lang="zh-CN" altLang="en-US"/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" name="表格 2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786130" y="1906270"/>
          <a:ext cx="8818880" cy="321500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696210"/>
                <a:gridCol w="6122670"/>
              </a:tblGrid>
              <a:tr h="4654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方式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做法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579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显式外键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一跳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按照表结构中的外键进行扩展</a:t>
                      </a: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一跳</a:t>
                      </a:r>
                      <a:endParaRPr lang="zh-CN" altLang="en-US" sz="120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0040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隐式外键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推断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按照列名推断声明之外的外键，进行推断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扩展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786130" y="4323715"/>
            <a:ext cx="98844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"给朱雀加技能"没提技能表 → 命中 </a:t>
            </a:r>
            <a:r>
              <a:rPr lang="en-US" altLang="zh-CN" sz="1400"/>
              <a:t>pet → </a:t>
            </a:r>
            <a:r>
              <a:rPr lang="zh-CN" altLang="en-US" sz="1400"/>
              <a:t>显式+推断 </a:t>
            </a:r>
            <a:r>
              <a:rPr lang="en-US" altLang="zh-CN" sz="1400"/>
              <a:t>FK </a:t>
            </a:r>
            <a:r>
              <a:rPr lang="zh-CN" altLang="en-US" sz="1400"/>
              <a:t>扩展 → 技能相关表进候选 → 拆解时"技能"落在正确表上。</a:t>
            </a:r>
            <a:endParaRPr lang="zh-CN" altLang="en-US" sz="1400"/>
          </a:p>
        </p:txBody>
      </p:sp>
      <p:sp>
        <p:nvSpPr>
          <p:cNvPr id="4" name="文本框 3"/>
          <p:cNvSpPr txBox="1"/>
          <p:nvPr/>
        </p:nvSpPr>
        <p:spPr>
          <a:xfrm>
            <a:off x="785495" y="1346200"/>
            <a:ext cx="98844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命中主表后，根据外键关联表加入到候选池，解决只提到主表，但是没提到子表的跨表</a:t>
            </a:r>
            <a:r>
              <a:rPr lang="zh-CN" altLang="en-US" sz="1400"/>
              <a:t>需求。</a:t>
            </a:r>
            <a:endParaRPr lang="zh-CN" altLang="en-US" sz="1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989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rPr lang="zh-CN"/>
              <a:t>语义</a:t>
            </a:r>
            <a:r>
              <a:rPr lang="zh-CN"/>
              <a:t>召回</a:t>
            </a:r>
            <a:endParaRPr lang="zh-CN"/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1170432"/>
            <a:ext cx="10058400" cy="123380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zh-CN" altLang="en-US" sz="1600"/>
              <a:t>规则、列名、外键都没有命中，使用</a:t>
            </a:r>
            <a:r>
              <a:rPr lang="en-US" altLang="zh-CN" sz="1600"/>
              <a:t>BM25</a:t>
            </a:r>
            <a:r>
              <a:rPr lang="zh-CN" altLang="en-US" sz="1600"/>
              <a:t>召回语义近邻，保证有候选</a:t>
            </a:r>
            <a:r>
              <a:rPr lang="zh-CN" altLang="en-US" sz="1600"/>
              <a:t>表</a:t>
            </a:r>
            <a:endParaRPr lang="zh-CN" altLang="en-US"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 sz="1600"/>
          </a:p>
        </p:txBody>
      </p:sp>
      <p:graphicFrame>
        <p:nvGraphicFramePr>
          <p:cNvPr id="3" name="表格 2"/>
          <p:cNvGraphicFramePr/>
          <p:nvPr/>
        </p:nvGraphicFramePr>
        <p:xfrm>
          <a:off x="917575" y="1906270"/>
          <a:ext cx="8533765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6565"/>
                <a:gridCol w="42665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项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值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算法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Okapi BM25(</a:t>
                      </a:r>
                      <a:r>
                        <a:rPr lang="zh-CN" altLang="en-US"/>
                        <a:t>词频统计相关性</a:t>
                      </a:r>
                      <a:r>
                        <a:rPr lang="en-US" altLang="zh-CN"/>
                        <a:t>)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参数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k1=1.5,b=0.75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分词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jieba</a:t>
                      </a:r>
                      <a:r>
                        <a:rPr lang="zh-CN" altLang="en-US"/>
                        <a:t>分词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939165" y="3995420"/>
            <a:ext cx="8208010" cy="7245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例子："给萌宠换个造型" → 规则/列名都没命中 → </a:t>
            </a:r>
            <a:r>
              <a:rPr lang="en-US" altLang="zh-CN"/>
              <a:t>BM25 </a:t>
            </a:r>
            <a:r>
              <a:rPr lang="zh-CN" altLang="en-US"/>
              <a:t>按词频相关性召回 </a:t>
            </a:r>
            <a:r>
              <a:rPr lang="en-US" altLang="zh-CN"/>
              <a:t>pet（</a:t>
            </a:r>
            <a:r>
              <a:rPr lang="zh-CN" altLang="en-US"/>
              <a:t>萌宠/宠物词族）</a:t>
            </a:r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989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rPr lang="zh-CN"/>
              <a:t>增强：</a:t>
            </a:r>
            <a:r>
              <a:rPr lang="en-US" altLang="zh-CN"/>
              <a:t>DecomposeAgent schema</a:t>
            </a:r>
            <a:r>
              <a:rPr lang="zh-CN" altLang="en-US"/>
              <a:t>注入</a:t>
            </a:r>
            <a:r>
              <a:rPr lang="zh-CN" altLang="en-US"/>
              <a:t>拆解</a:t>
            </a:r>
            <a:endParaRPr lang="zh-CN" altLang="en-US"/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724" y="1051687"/>
            <a:ext cx="10058400" cy="38481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zh-CN" sz="1600"/>
              <a:t>输入：候选表真实结构</a:t>
            </a:r>
            <a:r>
              <a:rPr lang="en-US" altLang="zh-CN" sz="1600"/>
              <a:t>+</a:t>
            </a:r>
            <a:r>
              <a:rPr lang="zh-CN" altLang="en-US" sz="1600"/>
              <a:t>多级表头</a:t>
            </a:r>
            <a:r>
              <a:rPr lang="en-US" altLang="zh-CN" sz="1600"/>
              <a:t>+</a:t>
            </a:r>
            <a:r>
              <a:rPr lang="zh-CN" altLang="en-US" sz="1600"/>
              <a:t>字段类型</a:t>
            </a:r>
            <a:r>
              <a:rPr lang="en-US" altLang="zh-CN" sz="1600"/>
              <a:t>+</a:t>
            </a:r>
            <a:r>
              <a:rPr lang="zh-CN" altLang="en-US" sz="1600"/>
              <a:t>外键</a:t>
            </a:r>
            <a:r>
              <a:rPr lang="en-US" altLang="zh-CN" sz="1600"/>
              <a:t>FK+</a:t>
            </a:r>
            <a:r>
              <a:rPr lang="zh-CN" altLang="en-US" sz="1600"/>
              <a:t>填表规则</a:t>
            </a:r>
            <a:endParaRPr lang="zh-CN" altLang="en-US"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zh-CN" altLang="en-US" sz="1600"/>
              <a:t>输出：结构化</a:t>
            </a:r>
            <a:r>
              <a:rPr lang="en-US" altLang="zh-CN" sz="1600"/>
              <a:t>json</a:t>
            </a:r>
            <a:r>
              <a:rPr lang="zh-CN" altLang="en-US" sz="1600"/>
              <a:t>的</a:t>
            </a:r>
            <a:r>
              <a:rPr lang="en-US" altLang="zh-CN" sz="1600"/>
              <a:t>intents</a:t>
            </a:r>
            <a:endParaRPr lang="en-US" altLang="zh-CN"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en-US" altLang="zh-CN"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zh-CN" altLang="en-US" sz="1600"/>
              <a:t>样例：</a:t>
            </a:r>
            <a:endParaRPr lang="zh-CN" altLang="en-US"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zh-CN" altLang="en-US" sz="1600"/>
              <a:t>输入：</a:t>
            </a:r>
            <a:r>
              <a:rPr lang="en-US" altLang="zh-CN" sz="1600"/>
              <a:t>Ability</a:t>
            </a:r>
            <a:r>
              <a:rPr lang="zh-CN" altLang="en-US" sz="1600"/>
              <a:t>表格</a:t>
            </a:r>
            <a:r>
              <a:rPr lang="en-US" altLang="zh-CN" sz="1600"/>
              <a:t>row1</a:t>
            </a:r>
            <a:r>
              <a:rPr lang="zh-CN" altLang="en-US" sz="1600"/>
              <a:t>列名、</a:t>
            </a:r>
            <a:r>
              <a:rPr lang="en-US" altLang="zh-CN" sz="1600"/>
              <a:t>row2</a:t>
            </a:r>
            <a:r>
              <a:rPr lang="zh-CN" altLang="en-US" sz="1600"/>
              <a:t>类型、字段类型、外键、</a:t>
            </a:r>
            <a:r>
              <a:rPr lang="zh-CN" altLang="en-US" sz="1600"/>
              <a:t>填表规则</a:t>
            </a:r>
            <a:endParaRPr lang="zh-CN" altLang="en-US"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zh-CN" altLang="en-US" sz="1600"/>
              <a:t>输出：</a:t>
            </a:r>
            <a:r>
              <a:rPr lang="en-US" altLang="zh-CN" sz="1600"/>
              <a:t>{action:add,table:Ability,fields:{id:100,name:”TEST”},produces:[&lt;aid&gt;]}</a:t>
            </a:r>
            <a:endParaRPr lang="en-US" altLang="zh-CN"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en-US" altLang="zh-CN"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en-US" altLang="zh-CN" sz="1600"/>
              <a:t>schema</a:t>
            </a:r>
            <a:r>
              <a:rPr lang="zh-CN" altLang="en-US" sz="1600"/>
              <a:t>注入</a:t>
            </a:r>
            <a:r>
              <a:rPr lang="en-US" altLang="zh-CN" sz="1600"/>
              <a:t>:</a:t>
            </a:r>
            <a:r>
              <a:rPr lang="zh-CN" altLang="en-US" sz="1600"/>
              <a:t>模型只能从真实列名中进行选择，可以从源头</a:t>
            </a:r>
            <a:r>
              <a:rPr lang="zh-CN" altLang="en-US" sz="1600" b="1"/>
              <a:t>解决幻觉列名</a:t>
            </a:r>
            <a:r>
              <a:rPr lang="zh-CN" altLang="en-US" sz="1600"/>
              <a:t>的</a:t>
            </a:r>
            <a:r>
              <a:rPr lang="zh-CN" altLang="en-US" sz="1600"/>
              <a:t>问题</a:t>
            </a:r>
            <a:endParaRPr lang="zh-CN" altLang="en-US"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en-US" altLang="zh-CN" sz="1600"/>
              <a:t>few-shot</a:t>
            </a:r>
            <a:r>
              <a:rPr lang="zh-CN" altLang="en-US" sz="1600"/>
              <a:t>防</a:t>
            </a:r>
            <a:r>
              <a:rPr lang="zh-CN" altLang="en-US" sz="1600"/>
              <a:t>伪造：提示中附上正确</a:t>
            </a:r>
            <a:r>
              <a:rPr lang="en-US" altLang="zh-CN" sz="1600"/>
              <a:t>ID/</a:t>
            </a:r>
            <a:r>
              <a:rPr lang="zh-CN" altLang="en-US" sz="1600"/>
              <a:t>占位符的示例，禁止伪造占位符如</a:t>
            </a:r>
            <a:r>
              <a:rPr lang="en-US" altLang="zh-CN" sz="1600"/>
              <a:t>&lt;resolved_form_xxx&gt;</a:t>
            </a:r>
            <a:r>
              <a:rPr lang="zh-CN" altLang="en-US" sz="1600"/>
              <a:t>，同时超时降级逐表格</a:t>
            </a:r>
            <a:r>
              <a:rPr lang="zh-CN" altLang="en-US" sz="1600"/>
              <a:t>重拆；</a:t>
            </a:r>
            <a:endParaRPr lang="zh-CN" altLang="en-US"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zh-CN" altLang="en-US" sz="1600"/>
              <a:t>规则安全网：</a:t>
            </a:r>
            <a:r>
              <a:rPr lang="en-US" altLang="zh-CN" sz="1600"/>
              <a:t>LLM</a:t>
            </a:r>
            <a:r>
              <a:rPr lang="zh-CN" altLang="en-US" sz="1600"/>
              <a:t>为主，当</a:t>
            </a:r>
            <a:r>
              <a:rPr lang="en-US" altLang="zh-CN" sz="1600"/>
              <a:t>LLM</a:t>
            </a:r>
            <a:r>
              <a:rPr lang="zh-CN" altLang="en-US" sz="1600"/>
              <a:t>产生</a:t>
            </a:r>
            <a:r>
              <a:rPr lang="en-US" altLang="zh-CN" sz="1600"/>
              <a:t>intent</a:t>
            </a:r>
            <a:r>
              <a:rPr lang="zh-CN" altLang="en-US" sz="1600"/>
              <a:t>小于</a:t>
            </a:r>
            <a:r>
              <a:rPr lang="en-US" altLang="zh-CN" sz="1600"/>
              <a:t>2</a:t>
            </a:r>
            <a:r>
              <a:rPr lang="zh-CN" altLang="en-US" sz="1600"/>
              <a:t>条或者畸形时回退模板</a:t>
            </a:r>
            <a:endParaRPr lang="zh-CN" altLang="en-US"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en-US" altLang="zh-CN"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en-US" altLang="zh-CN" sz="1600"/>
          </a:p>
        </p:txBody>
      </p:sp>
      <p:graphicFrame>
        <p:nvGraphicFramePr>
          <p:cNvPr id="2" name="表格 1"/>
          <p:cNvGraphicFramePr/>
          <p:nvPr/>
        </p:nvGraphicFramePr>
        <p:xfrm>
          <a:off x="733425" y="4456430"/>
          <a:ext cx="6640830" cy="1259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3610"/>
                <a:gridCol w="2213610"/>
                <a:gridCol w="2213610"/>
              </a:tblGrid>
              <a:tr h="41973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指标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before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after</a:t>
                      </a:r>
                      <a:endParaRPr lang="en-US" altLang="zh-CN"/>
                    </a:p>
                  </a:txBody>
                  <a:tcPr/>
                </a:tc>
              </a:tr>
              <a:tr h="41973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字段</a:t>
                      </a:r>
                      <a:r>
                        <a:rPr lang="zh-CN" altLang="en-US"/>
                        <a:t>精准率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0.5185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0.6917</a:t>
                      </a:r>
                      <a:endParaRPr lang="en-US" altLang="zh-CN"/>
                    </a:p>
                  </a:txBody>
                  <a:tcPr/>
                </a:tc>
              </a:tr>
              <a:tr h="41973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严格通过</a:t>
                      </a:r>
                      <a:r>
                        <a:rPr lang="zh-CN" altLang="en-US"/>
                        <a:t>率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0.1667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0.3333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989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rPr lang="zh-CN"/>
              <a:t>增强：</a:t>
            </a:r>
            <a:r>
              <a:rPr lang="en-US" altLang="zh-CN"/>
              <a:t>produces/consumes</a:t>
            </a:r>
            <a:r>
              <a:rPr lang="zh-CN" altLang="en-US"/>
              <a:t>依赖契约</a:t>
            </a:r>
            <a:endParaRPr lang="zh-CN" altLang="en-US"/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文本框 1"/>
          <p:cNvSpPr txBox="1"/>
          <p:nvPr/>
        </p:nvSpPr>
        <p:spPr>
          <a:xfrm>
            <a:off x="551815" y="1087755"/>
            <a:ext cx="11248390" cy="48736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/>
              <a:t>跨表新增的时候，后续表格依赖</a:t>
            </a:r>
            <a:r>
              <a:rPr lang="zh-CN" altLang="en-US" sz="1600"/>
              <a:t>前面新建行的</a:t>
            </a:r>
            <a:r>
              <a:rPr lang="en-US" altLang="zh-CN" sz="1600"/>
              <a:t>ID</a:t>
            </a:r>
            <a:r>
              <a:rPr lang="zh-CN" altLang="en-US" sz="1600"/>
              <a:t>，需要靠依赖契约将其确定下来，而不是靠模型记忆</a:t>
            </a:r>
            <a:endParaRPr lang="zh-CN" altLang="en-US" sz="1600"/>
          </a:p>
          <a:p>
            <a:endParaRPr lang="zh-CN" altLang="en-US" sz="1600"/>
          </a:p>
          <a:p>
            <a:endParaRPr lang="zh-CN" altLang="en-US" sz="1600"/>
          </a:p>
          <a:p>
            <a:endParaRPr lang="zh-CN" altLang="en-US" sz="1600"/>
          </a:p>
          <a:p>
            <a:endParaRPr lang="zh-CN" altLang="en-US" sz="1600"/>
          </a:p>
          <a:p>
            <a:endParaRPr lang="zh-CN" altLang="en-US" sz="1600"/>
          </a:p>
          <a:p>
            <a:endParaRPr lang="zh-CN" altLang="en-US" sz="1600"/>
          </a:p>
          <a:p>
            <a:endParaRPr lang="zh-CN" altLang="en-US" sz="1600"/>
          </a:p>
          <a:p>
            <a:endParaRPr lang="zh-CN" altLang="en-US" sz="1600"/>
          </a:p>
          <a:p>
            <a:endParaRPr lang="zh-CN" altLang="en-US" sz="1600"/>
          </a:p>
          <a:p>
            <a:endParaRPr lang="zh-CN" altLang="en-US" sz="1600"/>
          </a:p>
          <a:p>
            <a:r>
              <a:rPr lang="zh-CN" altLang="en-US" sz="1600"/>
              <a:t>样例：</a:t>
            </a:r>
            <a:endParaRPr lang="zh-CN" altLang="en-US" sz="1600"/>
          </a:p>
          <a:p>
            <a:r>
              <a:rPr lang="zh-CN" altLang="en-US" sz="1600"/>
              <a:t>新增活动</a:t>
            </a:r>
            <a:r>
              <a:rPr lang="en-US" altLang="zh-CN" sz="1600"/>
              <a:t>activity_id=3001,</a:t>
            </a:r>
            <a:r>
              <a:rPr lang="zh-CN" altLang="en-US" sz="1600"/>
              <a:t>新增奖励</a:t>
            </a:r>
            <a:r>
              <a:rPr lang="en-US" altLang="zh-CN" sz="1600"/>
              <a:t>reward_id=30010,</a:t>
            </a:r>
            <a:r>
              <a:rPr lang="zh-CN" altLang="en-US" sz="1600"/>
              <a:t>绑定</a:t>
            </a:r>
            <a:r>
              <a:rPr lang="en-US" altLang="zh-CN" sz="1600"/>
              <a:t>activity_id=3001,</a:t>
            </a:r>
            <a:r>
              <a:rPr lang="zh-CN" altLang="en-US" sz="1600"/>
              <a:t>新增邮件</a:t>
            </a:r>
            <a:r>
              <a:rPr lang="en-US" altLang="zh-CN" sz="1600"/>
              <a:t>mail_id=5001,</a:t>
            </a:r>
            <a:r>
              <a:rPr lang="zh-CN" altLang="en-US" sz="1600"/>
              <a:t>附件</a:t>
            </a:r>
            <a:r>
              <a:rPr lang="en-US" altLang="zh-CN" sz="1600"/>
              <a:t>reward_id=3001</a:t>
            </a:r>
            <a:endParaRPr lang="zh-CN" altLang="en-US" sz="1600"/>
          </a:p>
          <a:p>
            <a:endParaRPr lang="zh-CN" altLang="en-US" sz="1600" b="1"/>
          </a:p>
          <a:p>
            <a:r>
              <a:rPr lang="zh-CN" altLang="en-US" sz="1600" b="1"/>
              <a:t>根据</a:t>
            </a:r>
            <a:r>
              <a:rPr lang="en-US" altLang="zh-CN" sz="1600" b="1"/>
              <a:t>produces</a:t>
            </a:r>
            <a:r>
              <a:rPr lang="zh-CN" altLang="en-US" sz="1600" b="1"/>
              <a:t>和</a:t>
            </a:r>
            <a:r>
              <a:rPr lang="en-US" altLang="zh-CN" sz="1600" b="1"/>
              <a:t>consumes</a:t>
            </a:r>
            <a:r>
              <a:rPr lang="zh-CN" altLang="en-US" sz="1600" b="1"/>
              <a:t>，后续</a:t>
            </a:r>
            <a:r>
              <a:rPr lang="en-US" altLang="zh-CN" sz="1600" b="1"/>
              <a:t>step3</a:t>
            </a:r>
            <a:r>
              <a:rPr lang="zh-CN" altLang="en-US" sz="1600" b="1"/>
              <a:t>的执行可以得到排序顺序，成功分配</a:t>
            </a:r>
            <a:r>
              <a:rPr lang="en-US" altLang="zh-CN" sz="1600" b="1"/>
              <a:t>ID</a:t>
            </a:r>
            <a:r>
              <a:rPr lang="zh-CN" altLang="en-US" sz="1600" b="1"/>
              <a:t>、回填</a:t>
            </a:r>
            <a:r>
              <a:rPr lang="zh-CN" altLang="en-US" sz="1600" b="1"/>
              <a:t>外键</a:t>
            </a:r>
            <a:endParaRPr lang="zh-CN" altLang="en-US" sz="1600" b="1"/>
          </a:p>
        </p:txBody>
      </p:sp>
      <p:graphicFrame>
        <p:nvGraphicFramePr>
          <p:cNvPr id="59" name="表格 2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708660" y="1605280"/>
          <a:ext cx="8914765" cy="185229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456815"/>
                <a:gridCol w="3627120"/>
                <a:gridCol w="2830830"/>
              </a:tblGrid>
              <a:tr h="41529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术语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含义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作用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</a:tr>
              <a:tr h="4787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produces</a:t>
                      </a:r>
                      <a:endParaRPr lang="en-US" altLang="zh-CN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本意图产生的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占位符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记录生成的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ID</a:t>
                      </a:r>
                      <a:endParaRPr lang="en-US" altLang="zh-CN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94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consumes</a:t>
                      </a:r>
                      <a:endParaRPr lang="en-US" altLang="zh-CN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本意图消费的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占位符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记录使用的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ID</a:t>
                      </a:r>
                      <a:endParaRPr lang="en-US" altLang="zh-CN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879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占位符</a:t>
                      </a: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placeholder</a:t>
                      </a:r>
                      <a:endParaRPr lang="en-US" altLang="zh-CN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写表时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临时标记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执行时替换为真实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ID</a:t>
                      </a:r>
                      <a:endParaRPr lang="en-US" altLang="zh-CN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表格 2"/>
          <p:cNvGraphicFramePr/>
          <p:nvPr/>
        </p:nvGraphicFramePr>
        <p:xfrm>
          <a:off x="708660" y="5020310"/>
          <a:ext cx="7046595" cy="10344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8865"/>
                <a:gridCol w="2348865"/>
                <a:gridCol w="2348865"/>
              </a:tblGrid>
              <a:tr h="34480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指标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before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after</a:t>
                      </a:r>
                      <a:endParaRPr lang="en-US" altLang="zh-CN" sz="1600"/>
                    </a:p>
                  </a:txBody>
                  <a:tcPr/>
                </a:tc>
              </a:tr>
              <a:tr h="34480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quest_npc</a:t>
                      </a:r>
                      <a:r>
                        <a:rPr lang="zh-CN" altLang="en-US" sz="1600"/>
                        <a:t>引用</a:t>
                      </a:r>
                      <a:r>
                        <a:rPr lang="zh-CN" altLang="en-US" sz="1600"/>
                        <a:t>一致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0.62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1.0</a:t>
                      </a:r>
                      <a:endParaRPr lang="en-US" altLang="zh-CN" sz="1600"/>
                    </a:p>
                  </a:txBody>
                  <a:tcPr/>
                </a:tc>
              </a:tr>
              <a:tr h="34480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quest_npc</a:t>
                      </a:r>
                      <a:r>
                        <a:rPr lang="zh-CN" altLang="en-US" sz="1600"/>
                        <a:t>耗时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134</a:t>
                      </a:r>
                      <a:r>
                        <a:rPr lang="en-US" altLang="zh-CN" sz="1600"/>
                        <a:t>s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107s</a:t>
                      </a:r>
                      <a:endParaRPr lang="en-US" altLang="zh-CN" sz="16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07949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989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rPr lang="en-US"/>
              <a:t>Step1 </a:t>
            </a:r>
            <a:r>
              <a:rPr lang="zh-CN" altLang="en-US"/>
              <a:t>质量</a:t>
            </a:r>
            <a:r>
              <a:rPr lang="zh-CN" altLang="en-US"/>
              <a:t>门禁</a:t>
            </a:r>
            <a:endParaRPr lang="zh-CN" altLang="en-US"/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1634" y="1170432"/>
            <a:ext cx="10058400" cy="137731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en-US"/>
              <a:t>LLM</a:t>
            </a:r>
            <a:r>
              <a:rPr lang="zh-CN" altLang="en-US"/>
              <a:t>结束产生</a:t>
            </a:r>
            <a:r>
              <a:rPr lang="en-US" altLang="zh-CN"/>
              <a:t>intents</a:t>
            </a:r>
            <a:r>
              <a:rPr lang="zh-CN" altLang="en-US"/>
              <a:t>以后</a:t>
            </a:r>
            <a:r>
              <a:rPr lang="en-US" altLang="zh-CN"/>
              <a:t>ParseAgent</a:t>
            </a:r>
            <a:r>
              <a:rPr lang="zh-CN" altLang="en-US"/>
              <a:t>继续</a:t>
            </a:r>
            <a:r>
              <a:rPr lang="en-US" altLang="zh-CN" b="1"/>
              <a:t>schema-aware</a:t>
            </a:r>
            <a:r>
              <a:rPr lang="zh-CN" altLang="en-US" b="1"/>
              <a:t>编译，进行再一次检验</a:t>
            </a:r>
            <a:endParaRPr lang="zh-CN" altLang="en-US"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/>
          </a:p>
        </p:txBody>
      </p:sp>
      <p:graphicFrame>
        <p:nvGraphicFramePr>
          <p:cNvPr id="2" name="表格 1"/>
          <p:cNvGraphicFramePr/>
          <p:nvPr/>
        </p:nvGraphicFramePr>
        <p:xfrm>
          <a:off x="841375" y="1814830"/>
          <a:ext cx="7620635" cy="1997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5430"/>
                <a:gridCol w="3545205"/>
              </a:tblGrid>
              <a:tr h="35433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>
                          <a:sym typeface="+mn-ea"/>
                        </a:rPr>
                        <a:t>检查内容</a:t>
                      </a:r>
                      <a:endParaRPr lang="zh-CN" altLang="en-US" sz="16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修复</a:t>
                      </a:r>
                      <a:r>
                        <a:rPr lang="zh-CN" altLang="en-US" sz="1600"/>
                        <a:t>方式</a:t>
                      </a:r>
                      <a:endParaRPr lang="zh-CN" altLang="en-US" sz="1600"/>
                    </a:p>
                  </a:txBody>
                  <a:tcPr/>
                </a:tc>
              </a:tr>
              <a:tr h="35496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 b="0">
                          <a:sym typeface="+mn-ea"/>
                        </a:rPr>
                        <a:t>删除孤立</a:t>
                      </a:r>
                      <a:r>
                        <a:rPr lang="en-US" altLang="zh-CN" sz="1600" b="0">
                          <a:sym typeface="+mn-ea"/>
                        </a:rPr>
                        <a:t>add intent</a:t>
                      </a:r>
                      <a:r>
                        <a:rPr lang="zh-CN" altLang="en-US" sz="1600" b="0">
                          <a:sym typeface="+mn-ea"/>
                        </a:rPr>
                        <a:t>、同</a:t>
                      </a:r>
                      <a:r>
                        <a:rPr lang="en-US" altLang="zh-CN" sz="1600" b="0">
                          <a:sym typeface="+mn-ea"/>
                        </a:rPr>
                        <a:t>sheet </a:t>
                      </a:r>
                      <a:r>
                        <a:rPr lang="zh-CN" altLang="en-US" sz="1600" b="0">
                          <a:sym typeface="+mn-ea"/>
                        </a:rPr>
                        <a:t>稀疏影子重复</a:t>
                      </a:r>
                      <a:endParaRPr lang="zh-CN" altLang="en-US" sz="1600" b="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删除</a:t>
                      </a:r>
                      <a:endParaRPr lang="zh-CN" altLang="en-US" sz="1600"/>
                    </a:p>
                  </a:txBody>
                  <a:tcPr/>
                </a:tc>
              </a:tr>
              <a:tr h="5791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 b="0">
                          <a:sym typeface="+mn-ea"/>
                        </a:rPr>
                        <a:t>修字段不在</a:t>
                      </a:r>
                      <a:r>
                        <a:rPr lang="en-US" altLang="zh-CN" sz="1600" b="0">
                          <a:sym typeface="+mn-ea"/>
                        </a:rPr>
                        <a:t>schema</a:t>
                      </a:r>
                      <a:r>
                        <a:rPr lang="zh-CN" altLang="en-US" sz="1600" b="0">
                          <a:sym typeface="+mn-ea"/>
                        </a:rPr>
                        <a:t>、</a:t>
                      </a:r>
                      <a:r>
                        <a:rPr lang="en-US" altLang="zh-CN" sz="1600" b="0">
                          <a:sym typeface="+mn-ea"/>
                        </a:rPr>
                        <a:t>sheet</a:t>
                      </a:r>
                      <a:r>
                        <a:rPr lang="zh-CN" altLang="en-US" sz="1600" b="0">
                          <a:sym typeface="+mn-ea"/>
                        </a:rPr>
                        <a:t>或者</a:t>
                      </a:r>
                      <a:r>
                        <a:rPr lang="en-US" altLang="zh-CN" sz="1600" b="0">
                          <a:sym typeface="+mn-ea"/>
                        </a:rPr>
                        <a:t>name</a:t>
                      </a:r>
                      <a:r>
                        <a:rPr lang="zh-CN" altLang="en-US" sz="1600" b="0">
                          <a:sym typeface="+mn-ea"/>
                        </a:rPr>
                        <a:t>混用、目标表格大小写差异</a:t>
                      </a:r>
                      <a:endParaRPr lang="en-US" altLang="en-US" sz="1600" b="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修正到真实</a:t>
                      </a:r>
                      <a:r>
                        <a:rPr lang="zh-CN" altLang="en-US" sz="1600"/>
                        <a:t>列</a:t>
                      </a:r>
                      <a:endParaRPr lang="zh-CN" altLang="en-US" sz="1600"/>
                    </a:p>
                  </a:txBody>
                  <a:tcPr/>
                </a:tc>
              </a:tr>
              <a:tr h="35496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>
                          <a:sym typeface="+mn-ea"/>
                        </a:rPr>
                        <a:t>检查</a:t>
                      </a:r>
                      <a:r>
                        <a:rPr lang="en-US" altLang="zh-CN" sz="1600">
                          <a:sym typeface="+mn-ea"/>
                        </a:rPr>
                        <a:t>produces</a:t>
                      </a:r>
                      <a:r>
                        <a:rPr lang="zh-CN" altLang="en-US" sz="1600">
                          <a:sym typeface="+mn-ea"/>
                        </a:rPr>
                        <a:t>和</a:t>
                      </a:r>
                      <a:r>
                        <a:rPr lang="en-US" altLang="zh-CN" sz="1600">
                          <a:sym typeface="+mn-ea"/>
                        </a:rPr>
                        <a:t>consumes</a:t>
                      </a:r>
                      <a:endParaRPr lang="zh-CN" altLang="en-US" sz="16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从已存在资源或新行解析出真实</a:t>
                      </a:r>
                      <a:r>
                        <a:rPr lang="en-US" altLang="zh-CN" sz="1600"/>
                        <a:t>ID</a:t>
                      </a:r>
                      <a:endParaRPr lang="en-US" altLang="zh-CN" sz="1600"/>
                    </a:p>
                  </a:txBody>
                  <a:tcPr/>
                </a:tc>
              </a:tr>
              <a:tr h="35433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>
                          <a:sym typeface="+mn-ea"/>
                        </a:rPr>
                        <a:t>自产自销、依赖环</a:t>
                      </a:r>
                      <a:endParaRPr lang="zh-CN" altLang="en-US" sz="16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阻断</a:t>
                      </a:r>
                      <a:r>
                        <a:rPr lang="zh-CN" altLang="en-US" sz="1600"/>
                        <a:t>执行</a:t>
                      </a:r>
                      <a:endParaRPr lang="zh-CN" altLang="en-US" sz="160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" name="表格 2"/>
          <p:cNvGraphicFramePr/>
          <p:nvPr>
            <p:custDataLst>
              <p:tags r:id="rId3"/>
            </p:custDataLst>
          </p:nvPr>
        </p:nvGraphicFramePr>
        <p:xfrm>
          <a:off x="887095" y="4382135"/>
          <a:ext cx="4291965" cy="15957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2110"/>
                <a:gridCol w="1219200"/>
                <a:gridCol w="1430655"/>
              </a:tblGrid>
              <a:tr h="51054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优化</a:t>
                      </a:r>
                      <a:r>
                        <a:rPr lang="zh-CN" altLang="en-US" sz="1600"/>
                        <a:t>项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before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after</a:t>
                      </a:r>
                      <a:endParaRPr lang="en-US" altLang="zh-CN" sz="1600"/>
                    </a:p>
                  </a:txBody>
                  <a:tcPr/>
                </a:tc>
              </a:tr>
              <a:tr h="5060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type_mismatch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2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1</a:t>
                      </a:r>
                      <a:endParaRPr lang="en-US" altLang="zh-CN" sz="1600"/>
                    </a:p>
                  </a:txBody>
                  <a:tcPr/>
                </a:tc>
              </a:tr>
              <a:tr h="5791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失败</a:t>
                      </a:r>
                      <a:r>
                        <a:rPr lang="en-US" altLang="zh-CN" sz="1600"/>
                        <a:t>trace</a:t>
                      </a:r>
                      <a:r>
                        <a:rPr lang="zh-CN" altLang="en-US" sz="1600"/>
                        <a:t>归纳</a:t>
                      </a:r>
                      <a:r>
                        <a:rPr lang="zh-CN" altLang="en-US" sz="1600"/>
                        <a:t>反模式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0 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4</a:t>
                      </a:r>
                      <a:r>
                        <a:rPr lang="zh-CN" altLang="en-US" sz="1600"/>
                        <a:t>类</a:t>
                      </a:r>
                      <a:endParaRPr lang="zh-CN" altLang="en-US" sz="16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989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rPr lang="zh-CN"/>
              <a:t>契约校验</a:t>
            </a:r>
            <a:r>
              <a:rPr lang="zh-CN"/>
              <a:t>层</a:t>
            </a:r>
            <a:endParaRPr lang="zh-CN"/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本框 3"/>
          <p:cNvSpPr txBox="1"/>
          <p:nvPr/>
        </p:nvSpPr>
        <p:spPr>
          <a:xfrm>
            <a:off x="585470" y="1219200"/>
            <a:ext cx="10768330" cy="13290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 sz="14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 sz="1400"/>
          </a:p>
        </p:txBody>
      </p:sp>
      <p:graphicFrame>
        <p:nvGraphicFramePr>
          <p:cNvPr id="2" name="表格 1"/>
          <p:cNvGraphicFramePr/>
          <p:nvPr>
            <p:custDataLst>
              <p:tags r:id="rId3"/>
            </p:custDataLst>
          </p:nvPr>
        </p:nvGraphicFramePr>
        <p:xfrm>
          <a:off x="937260" y="1804670"/>
          <a:ext cx="8860155" cy="36036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3385"/>
                <a:gridCol w="2953385"/>
                <a:gridCol w="2953385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检查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内容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失败处理</a:t>
                      </a:r>
                      <a:endParaRPr lang="zh-CN" altLang="en-US"/>
                    </a:p>
                  </a:txBody>
                  <a:tcPr/>
                </a:tc>
              </a:tr>
              <a:tr h="80962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引用</a:t>
                      </a:r>
                      <a:r>
                        <a:rPr lang="zh-CN" altLang="en-US"/>
                        <a:t>关系图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产出消费是否完整、是否悬空或者</a:t>
                      </a:r>
                      <a:r>
                        <a:rPr lang="zh-CN" altLang="en-US"/>
                        <a:t>成环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悬空成环</a:t>
                      </a:r>
                      <a:r>
                        <a:rPr lang="zh-CN" altLang="en-US"/>
                        <a:t>拦截</a:t>
                      </a:r>
                      <a:endParaRPr lang="zh-CN" altLang="en-US"/>
                    </a:p>
                  </a:txBody>
                  <a:tcPr/>
                </a:tc>
              </a:tr>
              <a:tr h="80899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语义</a:t>
                      </a:r>
                      <a:r>
                        <a:rPr lang="zh-CN" altLang="en-US"/>
                        <a:t>计划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指令是否能够编译成完整的计划</a:t>
                      </a:r>
                      <a:r>
                        <a:rPr lang="zh-CN" altLang="en-US"/>
                        <a:t>结构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编译不过拦截</a:t>
                      </a:r>
                      <a:endParaRPr lang="zh-CN" altLang="en-US"/>
                    </a:p>
                  </a:txBody>
                  <a:tcPr/>
                </a:tc>
              </a:tr>
              <a:tr h="80962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计划完整性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每条新增是否产出主键，外键是否</a:t>
                      </a:r>
                      <a:r>
                        <a:rPr lang="zh-CN" altLang="en-US"/>
                        <a:t>闭环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不完整拦截</a:t>
                      </a:r>
                      <a:endParaRPr lang="en-US" altLang="zh-CN"/>
                    </a:p>
                  </a:txBody>
                  <a:tcPr/>
                </a:tc>
              </a:tr>
              <a:tr h="80962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与</a:t>
                      </a:r>
                      <a:r>
                        <a:rPr lang="en-US" altLang="zh-CN"/>
                        <a:t>Step2</a:t>
                      </a:r>
                      <a:r>
                        <a:rPr lang="zh-CN" altLang="en-US"/>
                        <a:t>进行</a:t>
                      </a:r>
                      <a:r>
                        <a:rPr lang="zh-CN" altLang="en-US"/>
                        <a:t>联动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检查结果在</a:t>
                      </a:r>
                      <a:r>
                        <a:rPr lang="en-US" altLang="zh-CN"/>
                        <a:t>Step2</a:t>
                      </a:r>
                      <a:r>
                        <a:rPr lang="zh-CN" altLang="en-US"/>
                        <a:t>校验前</a:t>
                      </a:r>
                      <a:r>
                        <a:rPr lang="zh-CN" altLang="en-US"/>
                        <a:t>生效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错误计划不进入校验和</a:t>
                      </a:r>
                      <a:r>
                        <a:rPr lang="zh-CN" altLang="en-US"/>
                        <a:t>写盘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968375" y="1097915"/>
            <a:ext cx="7297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现象：</a:t>
            </a:r>
            <a:r>
              <a:rPr lang="en-US" altLang="zh-CN"/>
              <a:t>Step1</a:t>
            </a:r>
            <a:r>
              <a:rPr lang="zh-CN" altLang="en-US"/>
              <a:t>生成</a:t>
            </a:r>
            <a:r>
              <a:rPr lang="en-US" altLang="zh-CN"/>
              <a:t>json</a:t>
            </a:r>
            <a:r>
              <a:rPr lang="zh-CN" altLang="en-US"/>
              <a:t>出现问题导致</a:t>
            </a:r>
            <a:r>
              <a:rPr lang="en-US" altLang="zh-CN"/>
              <a:t>Step2</a:t>
            </a:r>
            <a:r>
              <a:rPr lang="zh-CN" altLang="en-US"/>
              <a:t>硬性拦截，问题很难</a:t>
            </a:r>
            <a:r>
              <a:rPr lang="zh-CN" altLang="en-US"/>
              <a:t>解决</a:t>
            </a:r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989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rPr lang="zh-CN"/>
              <a:t>增强</a:t>
            </a:r>
            <a:r>
              <a:rPr lang="en-US" altLang="zh-CN"/>
              <a:t>:Step2 L0/L1/L2</a:t>
            </a:r>
            <a:r>
              <a:rPr lang="zh-CN" altLang="en-US"/>
              <a:t>三层</a:t>
            </a:r>
            <a:r>
              <a:rPr lang="zh-CN" altLang="en-US"/>
              <a:t>校验</a:t>
            </a:r>
            <a:endParaRPr lang="zh-CN" altLang="en-US"/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" name="表格 1"/>
          <p:cNvGraphicFramePr/>
          <p:nvPr>
            <p:custDataLst>
              <p:tags r:id="rId3"/>
            </p:custDataLst>
          </p:nvPr>
        </p:nvGraphicFramePr>
        <p:xfrm>
          <a:off x="619760" y="1484630"/>
          <a:ext cx="6442075" cy="1483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7570"/>
                <a:gridCol w="1478280"/>
                <a:gridCol w="2816225"/>
              </a:tblGrid>
              <a:tr h="32194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层级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方法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处理内容</a:t>
                      </a:r>
                      <a:endParaRPr lang="zh-CN" altLang="en-US" sz="1400"/>
                    </a:p>
                  </a:txBody>
                  <a:tcPr/>
                </a:tc>
              </a:tr>
              <a:tr h="5181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L0 </a:t>
                      </a:r>
                      <a:r>
                        <a:rPr lang="zh-CN" altLang="en-US" sz="1400"/>
                        <a:t>规则闸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纯代码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类型、</a:t>
                      </a:r>
                      <a:r>
                        <a:rPr lang="en-US" altLang="zh-CN" sz="1400"/>
                        <a:t>PK</a:t>
                      </a:r>
                      <a:r>
                        <a:rPr lang="zh-CN" altLang="en-US" sz="1400"/>
                        <a:t>、</a:t>
                      </a:r>
                      <a:r>
                        <a:rPr lang="en-US" altLang="zh-CN" sz="1400"/>
                        <a:t>FK</a:t>
                      </a:r>
                      <a:r>
                        <a:rPr lang="zh-CN" altLang="en-US" sz="1400"/>
                        <a:t>、占位符等</a:t>
                      </a:r>
                      <a:endParaRPr lang="zh-CN" altLang="en-US" sz="1400"/>
                    </a:p>
                  </a:txBody>
                  <a:tcPr/>
                </a:tc>
              </a:tr>
              <a:tr h="3219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L1 AI</a:t>
                      </a:r>
                      <a:r>
                        <a:rPr lang="zh-CN" altLang="en-US" sz="1400"/>
                        <a:t>裁决</a:t>
                      </a:r>
                      <a:r>
                        <a:rPr lang="en-US" altLang="zh-CN" sz="1400"/>
                        <a:t> 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1</a:t>
                      </a:r>
                      <a:r>
                        <a:rPr lang="zh-CN" altLang="en-US" sz="1400"/>
                        <a:t>次</a:t>
                      </a:r>
                      <a:r>
                        <a:rPr lang="en-US" altLang="zh-CN" sz="1400"/>
                        <a:t>LLM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NL</a:t>
                      </a:r>
                      <a:r>
                        <a:rPr lang="zh-CN" altLang="en-US" sz="1400"/>
                        <a:t>覆盖度、值合理性</a:t>
                      </a:r>
                      <a:endParaRPr lang="zh-CN" altLang="en-US" sz="1400"/>
                    </a:p>
                  </a:txBody>
                  <a:tcPr/>
                </a:tc>
              </a:tr>
              <a:tr h="3219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L2 </a:t>
                      </a:r>
                      <a:r>
                        <a:rPr lang="zh-CN" altLang="en-US" sz="1400"/>
                        <a:t>人工</a:t>
                      </a:r>
                      <a:r>
                        <a:rPr lang="en-US" altLang="zh-CN" sz="1400"/>
                        <a:t>gate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交互卡片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用户改字段</a:t>
                      </a:r>
                      <a:r>
                        <a:rPr lang="en-US" altLang="zh-CN" sz="1400"/>
                        <a:t>/</a:t>
                      </a:r>
                      <a:r>
                        <a:rPr lang="zh-CN" altLang="en-US" sz="1400"/>
                        <a:t>值后续跑</a:t>
                      </a:r>
                      <a:endParaRPr lang="zh-CN" altLang="en-US" sz="14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619760" y="1051560"/>
            <a:ext cx="35369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三层</a:t>
            </a:r>
            <a:r>
              <a:rPr lang="zh-CN" altLang="en-US"/>
              <a:t>校验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85470" y="3152775"/>
            <a:ext cx="10768330" cy="2884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400">
                <a:sym typeface="+mn-ea"/>
              </a:rPr>
              <a:t>Step2 是执行前的硬门禁：</a:t>
            </a:r>
            <a:endParaRPr sz="1400">
              <a:sym typeface="+mn-ea"/>
            </a:endParaRPr>
          </a:p>
          <a:p>
            <a:pPr marL="285750" indent="-285750">
              <a:lnSpc>
                <a:spcPct val="118000"/>
              </a:lnSpc>
              <a:buFont typeface="Arial" panose="020B0604020202020204" pitchFamily="34" charset="0"/>
              <a:buChar char="•"/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400">
                <a:sym typeface="+mn-ea"/>
              </a:rPr>
              <a:t>字段是否存在，中文表头是否能映射到真实列</a:t>
            </a:r>
            <a:endParaRPr sz="1400">
              <a:sym typeface="+mn-ea"/>
            </a:endParaRPr>
          </a:p>
          <a:p>
            <a:pPr marL="285750" indent="-285750">
              <a:lnSpc>
                <a:spcPct val="118000"/>
              </a:lnSpc>
              <a:buFont typeface="Arial" panose="020B0604020202020204" pitchFamily="34" charset="0"/>
              <a:buChar char="•"/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400">
                <a:sym typeface="+mn-ea"/>
              </a:rPr>
              <a:t>值类型是否可转换，枚举值是否合法</a:t>
            </a:r>
            <a:endParaRPr sz="1400">
              <a:sym typeface="+mn-ea"/>
            </a:endParaRPr>
          </a:p>
          <a:p>
            <a:pPr marL="285750" indent="-285750">
              <a:lnSpc>
                <a:spcPct val="118000"/>
              </a:lnSpc>
              <a:buFont typeface="Arial" panose="020B0604020202020204" pitchFamily="34" charset="0"/>
              <a:buChar char="•"/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400">
                <a:sym typeface="+mn-ea"/>
              </a:rPr>
              <a:t>FK 是否指向正确表和正确主键，placeholder 是否有 producer</a:t>
            </a:r>
            <a:endParaRPr sz="1400">
              <a:sym typeface="+mn-ea"/>
            </a:endParaRPr>
          </a:p>
          <a:p>
            <a:pPr marL="285750" indent="-285750">
              <a:lnSpc>
                <a:spcPct val="118000"/>
              </a:lnSpc>
              <a:buFont typeface="Arial" panose="020B0604020202020204" pitchFamily="34" charset="0"/>
              <a:buChar char="•"/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400">
                <a:sym typeface="+mn-ea"/>
              </a:rPr>
              <a:t>Step1 质量报告如果有 hard error，阻断写盘并生成可交互修正</a:t>
            </a:r>
            <a:endParaRPr sz="1400">
              <a:sym typeface="+mn-ea"/>
            </a:endParaRP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 sz="14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zh-CN" altLang="en-US" sz="1400" b="1"/>
              <a:t>交互修正问题：</a:t>
            </a:r>
            <a:endParaRPr lang="zh-CN" altLang="en-US" sz="1400"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400">
                <a:sym typeface="+mn-ea"/>
              </a:rPr>
              <a:t>当前已有列名批量修正卡片”</a:t>
            </a:r>
            <a:r>
              <a:rPr lang="zh-CN" sz="1400">
                <a:sym typeface="+mn-ea"/>
              </a:rPr>
              <a:t>；</a:t>
            </a:r>
            <a:endParaRPr sz="1400">
              <a:sym typeface="+mn-ea"/>
            </a:endParaRP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400">
                <a:sym typeface="+mn-ea"/>
              </a:rPr>
              <a:t>用户可以改列名、改值、删除字段或删除整条 intent，然后</a:t>
            </a:r>
            <a:r>
              <a:rPr lang="zh-CN" sz="1400">
                <a:sym typeface="+mn-ea"/>
              </a:rPr>
              <a:t>调用</a:t>
            </a:r>
            <a:r>
              <a:rPr sz="1400">
                <a:sym typeface="+mn-ea"/>
              </a:rPr>
              <a:t>POST /api/agent/reply</a:t>
            </a:r>
            <a:r>
              <a:rPr lang="zh-CN" sz="1400">
                <a:sym typeface="+mn-ea"/>
              </a:rPr>
              <a:t>接口</a:t>
            </a:r>
            <a:r>
              <a:rPr sz="1400">
                <a:sym typeface="+mn-ea"/>
              </a:rPr>
              <a:t>续跑。</a:t>
            </a:r>
            <a:endParaRPr sz="1400">
              <a:sym typeface="+mn-ea"/>
            </a:endParaRP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400">
                <a:sym typeface="+mn-ea"/>
              </a:rPr>
              <a:t>后端</a:t>
            </a:r>
            <a:r>
              <a:rPr sz="1400"/>
              <a:t>会把用户</a:t>
            </a:r>
            <a:r>
              <a:rPr sz="1400">
                <a:sym typeface="+mn-ea"/>
              </a:rPr>
              <a:t>编辑回写到原 intent，再重新跑 Step2，而不是只绕过错误</a:t>
            </a:r>
            <a:endParaRPr sz="1400">
              <a:sym typeface="+mn-ea"/>
            </a:endParaRP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 sz="14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Step3：确定性执行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1170432"/>
            <a:ext cx="10058400" cy="359029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600"/>
              <a:t>Step3 不再调用模型，只做可解释写盘</a:t>
            </a:r>
            <a:endParaRPr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zh-CN" sz="1600"/>
              <a:t>执行动作</a:t>
            </a:r>
            <a:r>
              <a:rPr lang="zh-CN" sz="1400"/>
              <a:t>：</a:t>
            </a:r>
            <a:endParaRPr lang="zh-CN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/>
          </a:p>
        </p:txBody>
      </p:sp>
      <p:graphicFrame>
        <p:nvGraphicFramePr>
          <p:cNvPr id="2" name="表格 1"/>
          <p:cNvGraphicFramePr/>
          <p:nvPr>
            <p:custDataLst>
              <p:tags r:id="rId3"/>
            </p:custDataLst>
          </p:nvPr>
        </p:nvGraphicFramePr>
        <p:xfrm>
          <a:off x="1752600" y="1846580"/>
          <a:ext cx="7580630" cy="2562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9830"/>
                <a:gridCol w="5130800"/>
              </a:tblGrid>
              <a:tr h="41275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动作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技术</a:t>
                      </a:r>
                      <a:endParaRPr lang="zh-CN" altLang="en-US" sz="1600"/>
                    </a:p>
                  </a:txBody>
                  <a:tcPr/>
                </a:tc>
              </a:tr>
              <a:tr h="5791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拓扑</a:t>
                      </a:r>
                      <a:r>
                        <a:rPr lang="zh-CN" altLang="en-US" sz="1600"/>
                        <a:t>排序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按</a:t>
                      </a:r>
                      <a:r>
                        <a:rPr lang="en-US" altLang="zh-CN" sz="1600"/>
                        <a:t>produces</a:t>
                      </a:r>
                      <a:r>
                        <a:rPr lang="zh-CN" altLang="en-US" sz="1600"/>
                        <a:t>和</a:t>
                      </a:r>
                      <a:r>
                        <a:rPr lang="en-US" altLang="zh-CN" sz="1600"/>
                        <a:t>consumes</a:t>
                      </a:r>
                      <a:r>
                        <a:rPr lang="zh-CN" altLang="en-US" sz="1600"/>
                        <a:t>依赖执行</a:t>
                      </a:r>
                      <a:r>
                        <a:rPr lang="zh-CN" altLang="en-US" sz="1600"/>
                        <a:t>先后</a:t>
                      </a:r>
                      <a:endParaRPr lang="zh-CN" altLang="en-US" sz="1600"/>
                    </a:p>
                  </a:txBody>
                  <a:tcPr/>
                </a:tc>
              </a:tr>
              <a:tr h="5791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ID</a:t>
                      </a:r>
                      <a:r>
                        <a:rPr lang="zh-CN" altLang="en-US" sz="1600"/>
                        <a:t>分配、占位符</a:t>
                      </a:r>
                      <a:r>
                        <a:rPr lang="zh-CN" altLang="en-US" sz="1600"/>
                        <a:t>替换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新增行分配主键，替换后续</a:t>
                      </a:r>
                      <a:r>
                        <a:rPr lang="en-US" altLang="zh-CN" sz="1600"/>
                        <a:t>placeholder</a:t>
                      </a:r>
                      <a:endParaRPr lang="en-US" altLang="zh-CN" sz="1600"/>
                    </a:p>
                  </a:txBody>
                  <a:tcPr/>
                </a:tc>
              </a:tr>
              <a:tr h="41275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失败结构化归</a:t>
                      </a:r>
                      <a:r>
                        <a:rPr lang="zh-CN" altLang="en-US" sz="1600"/>
                        <a:t>因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缺字段、</a:t>
                      </a:r>
                      <a:r>
                        <a:rPr lang="en-US" altLang="zh-CN" sz="1600"/>
                        <a:t>PK</a:t>
                      </a:r>
                      <a:r>
                        <a:rPr lang="zh-CN" altLang="en-US" sz="1600"/>
                        <a:t>冲突、类型错误</a:t>
                      </a:r>
                      <a:r>
                        <a:rPr lang="zh-CN" altLang="en-US" sz="1600"/>
                        <a:t>等</a:t>
                      </a:r>
                      <a:endParaRPr lang="zh-CN" altLang="en-US" sz="1600"/>
                    </a:p>
                  </a:txBody>
                  <a:tcPr/>
                </a:tc>
              </a:tr>
              <a:tr h="5791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可恢复边界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失败停于可恢复点，避免半写入</a:t>
                      </a:r>
                      <a:r>
                        <a:rPr lang="zh-CN" altLang="en-US" sz="1600"/>
                        <a:t>污染</a:t>
                      </a:r>
                      <a:endParaRPr lang="zh-CN" altLang="en-US" sz="16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784225" y="4791710"/>
            <a:ext cx="898842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通过拓扑排序等并行运行，可以将复杂样例的运行时间从</a:t>
            </a:r>
            <a:r>
              <a:rPr lang="en-US" altLang="zh-CN" sz="1600">
                <a:solidFill>
                  <a:srgbClr val="FF0000"/>
                </a:solidFill>
              </a:rPr>
              <a:t>204s</a:t>
            </a:r>
            <a:r>
              <a:rPr lang="zh-CN" altLang="en-US" sz="1600">
                <a:solidFill>
                  <a:srgbClr val="FF0000"/>
                </a:solidFill>
              </a:rPr>
              <a:t>提升到</a:t>
            </a:r>
            <a:r>
              <a:rPr lang="en-US" altLang="zh-CN" sz="1600">
                <a:solidFill>
                  <a:srgbClr val="FF0000"/>
                </a:solidFill>
              </a:rPr>
              <a:t>112s</a:t>
            </a:r>
            <a:endParaRPr lang="en-US" altLang="zh-CN" sz="16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989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rPr lang="zh-CN" altLang="en-US"/>
              <a:t>增强</a:t>
            </a:r>
            <a:r>
              <a:rPr lang="en-US" altLang="zh-CN"/>
              <a:t>:Step4</a:t>
            </a:r>
            <a:r>
              <a:rPr lang="zh-CN" altLang="en-US"/>
              <a:t>结果汇总</a:t>
            </a:r>
            <a:r>
              <a:rPr lang="zh-CN" altLang="en-US"/>
              <a:t>与自学习</a:t>
            </a:r>
            <a:r>
              <a:rPr lang="zh-CN" altLang="en-US"/>
              <a:t>闭环</a:t>
            </a:r>
            <a:endParaRPr lang="zh-CN" altLang="en-US"/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1170432"/>
            <a:ext cx="10058400" cy="105092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Step4</a:t>
            </a:r>
            <a:r>
              <a:rPr lang="zh-CN"/>
              <a:t>汇总最终成功或失败情况，同时还将失败的情况进行</a:t>
            </a:r>
            <a:r>
              <a:rPr lang="zh-CN"/>
              <a:t>沉淀</a:t>
            </a:r>
            <a:endParaRPr lang="zh-CN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/>
          </a:p>
        </p:txBody>
      </p:sp>
      <p:graphicFrame>
        <p:nvGraphicFramePr>
          <p:cNvPr id="3" name="表格 2"/>
          <p:cNvGraphicFramePr/>
          <p:nvPr/>
        </p:nvGraphicFramePr>
        <p:xfrm>
          <a:off x="2073910" y="1846580"/>
          <a:ext cx="8533765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6565"/>
                <a:gridCol w="42665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功能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说明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汇总</a:t>
                      </a:r>
                      <a:r>
                        <a:rPr lang="zh-CN" altLang="en-US"/>
                        <a:t>结果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成功数</a:t>
                      </a:r>
                      <a:r>
                        <a:rPr lang="en-US" altLang="zh-CN"/>
                        <a:t>+</a:t>
                      </a:r>
                      <a:r>
                        <a:rPr lang="zh-CN" altLang="en-US"/>
                        <a:t>失败数</a:t>
                      </a:r>
                      <a:r>
                        <a:rPr lang="en-US" altLang="zh-CN"/>
                        <a:t>+</a:t>
                      </a:r>
                      <a:r>
                        <a:rPr lang="zh-CN" altLang="en-US"/>
                        <a:t>写入行</a:t>
                      </a:r>
                      <a:r>
                        <a:rPr lang="en-US" altLang="zh-CN"/>
                        <a:t>+</a:t>
                      </a:r>
                      <a:r>
                        <a:rPr lang="zh-CN" altLang="en-US"/>
                        <a:t>预览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失败归</a:t>
                      </a:r>
                      <a:r>
                        <a:rPr lang="zh-CN" altLang="en-US"/>
                        <a:t>因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定位失败发生在哪个</a:t>
                      </a:r>
                      <a:r>
                        <a:rPr lang="zh-CN" altLang="en-US"/>
                        <a:t>层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anti_patterns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从失败</a:t>
                      </a:r>
                      <a:r>
                        <a:rPr lang="en-US" altLang="zh-CN"/>
                        <a:t>trace</a:t>
                      </a:r>
                      <a:r>
                        <a:rPr lang="zh-CN" altLang="en-US"/>
                        <a:t>归纳</a:t>
                      </a:r>
                      <a:r>
                        <a:rPr lang="zh-CN" altLang="en-US"/>
                        <a:t>反模式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mini_regression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失败样例进入小回归</a:t>
                      </a:r>
                      <a:r>
                        <a:rPr lang="zh-CN" altLang="en-US"/>
                        <a:t>集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913130" y="4112260"/>
            <a:ext cx="7959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Step4</a:t>
            </a:r>
            <a:r>
              <a:rPr lang="zh-CN" altLang="en-US"/>
              <a:t>产出的反模式将应用在</a:t>
            </a:r>
            <a:r>
              <a:rPr lang="en-US" altLang="zh-CN"/>
              <a:t>Skill</a:t>
            </a:r>
            <a:r>
              <a:rPr lang="zh-CN" altLang="en-US"/>
              <a:t>系统，作用在下一次的运行</a:t>
            </a:r>
            <a:r>
              <a:rPr lang="zh-CN" altLang="en-US"/>
              <a:t>中</a:t>
            </a:r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4925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r>
              <a:rPr lang="zh-CN" altLang="en-US" b="1">
                <a:solidFill>
                  <a:srgbClr val="FFFFFF"/>
                </a:solidFill>
                <a:latin typeface="微软雅黑" panose="020B0503020204020204" pitchFamily="34" charset="-122"/>
              </a:rPr>
              <a:t>业务</a:t>
            </a:r>
            <a:r>
              <a:rPr lang="zh-CN" altLang="en-US" b="1">
                <a:solidFill>
                  <a:srgbClr val="FFFFFF"/>
                </a:solidFill>
                <a:latin typeface="微软雅黑" panose="020B0503020204020204" pitchFamily="34" charset="-122"/>
              </a:rPr>
              <a:t>规则</a:t>
            </a:r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470" y="1170305"/>
            <a:ext cx="10259060" cy="263842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noAutofit/>
          </a:bodyPr>
          <a:lstStyle/>
          <a:p>
            <a:r>
              <a:t>将列名、如何定位</a:t>
            </a:r>
            <a:r>
              <a:t>行、哪些操作历史出错沉淀成可查询规则，Agent 与 Merge 共用同一份知识源。</a:t>
            </a:r>
          </a:p>
          <a:p/>
          <a:p/>
          <a:p/>
          <a:p/>
          <a:p/>
          <a:p/>
          <a:p/>
          <a:p>
            <a:r>
              <a:rPr lang="zh-CN"/>
              <a:t>在目录下按照按照每个表格一个</a:t>
            </a:r>
            <a:r>
              <a:rPr lang="en-US" altLang="zh-CN"/>
              <a:t>md</a:t>
            </a:r>
            <a:r>
              <a:rPr lang="zh-CN" altLang="en-US"/>
              <a:t>文档，来对该表格的操作进行约束。</a:t>
            </a:r>
            <a:endParaRPr lang="zh-CN" altLang="en-US"/>
          </a:p>
          <a:p/>
          <a:p/>
          <a:p/>
          <a:p/>
          <a:p/>
          <a:p/>
          <a:p/>
          <a:p>
            <a:r>
              <a:rPr lang="en-US" altLang="zh-CN"/>
              <a:t>    </a:t>
            </a:r>
            <a:endParaRPr lang="en-US" altLang="zh-CN"/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659130" y="1793875"/>
          <a:ext cx="9676130" cy="1353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2105"/>
                <a:gridCol w="3291205"/>
                <a:gridCol w="3512820"/>
              </a:tblGrid>
              <a:tr h="365760">
                <a:tc>
                  <a:txBody>
                    <a:bodyPr/>
                    <a:lstStyle/>
                    <a:p>
                      <a:r>
                        <a:rPr lang="zh-CN"/>
                        <a:t>目录</a:t>
                      </a:r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/>
                        <a:t>内容</a:t>
                      </a:r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/>
                        <a:t>消费</a:t>
                      </a:r>
                      <a:r>
                        <a:rPr lang="zh-CN"/>
                        <a:t>阶段</a:t>
                      </a:r>
                      <a:endParaRPr lang="zh-CN"/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lang="en-US"/>
                        <a:t>rules/fill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业务规定的填表阶段的</a:t>
                      </a:r>
                      <a:r>
                        <a:rPr lang="zh-CN" altLang="en-US"/>
                        <a:t>经验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/>
                        <a:t>注入</a:t>
                      </a:r>
                      <a:r>
                        <a:rPr lang="en-US" altLang="zh-CN"/>
                        <a:t>Step1</a:t>
                      </a:r>
                      <a:r>
                        <a:rPr lang="zh-CN" altLang="en-US"/>
                        <a:t>解析</a:t>
                      </a:r>
                      <a:r>
                        <a:rPr lang="en-US" altLang="zh-CN"/>
                        <a:t>prompt</a:t>
                      </a:r>
                      <a:endParaRPr lang="en-US" altLang="zh-CN"/>
                    </a:p>
                  </a:txBody>
                  <a:tcPr/>
                </a:tc>
              </a:tr>
              <a:tr h="561340">
                <a:tc>
                  <a:txBody>
                    <a:bodyPr/>
                    <a:lstStyle/>
                    <a:p>
                      <a:r>
                        <a:rPr lang="en-US"/>
                        <a:t>rules/validate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业务规定的</a:t>
                      </a:r>
                      <a:r>
                        <a:rPr lang="zh-CN" altLang="en-US"/>
                        <a:t>校验规则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/>
                        <a:t>合并进</a:t>
                      </a:r>
                      <a:r>
                        <a:rPr lang="en-US" altLang="zh-CN"/>
                        <a:t>Step2</a:t>
                      </a:r>
                      <a:r>
                        <a:rPr lang="zh-CN" altLang="en-US"/>
                        <a:t>校验</a:t>
                      </a:r>
                      <a:r>
                        <a:rPr lang="zh-CN" altLang="en-US"/>
                        <a:t>管线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4925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r>
              <a:rPr lang="zh-CN" altLang="en-US" b="1">
                <a:solidFill>
                  <a:srgbClr val="FFFFFF"/>
                </a:solidFill>
                <a:latin typeface="微软雅黑" panose="020B0503020204020204" pitchFamily="34" charset="-122"/>
              </a:rPr>
              <a:t>Skill 系统</a:t>
            </a:r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1170432"/>
            <a:ext cx="10058400" cy="34925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r>
              <a:t>将列名、如何定位</a:t>
            </a:r>
            <a:r>
              <a:t>行、哪些操作历史出错沉淀成可查询规则，Agent 与 Merge 共用同一份知识源。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585470" y="1626235"/>
          <a:ext cx="11117580" cy="27730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1355"/>
                <a:gridCol w="2090420"/>
                <a:gridCol w="4296410"/>
                <a:gridCol w="2779395"/>
              </a:tblGrid>
              <a:tr h="426720">
                <a:tc>
                  <a:txBody>
                    <a:bodyPr/>
                    <a:lstStyle/>
                    <a:p>
                      <a:r>
                        <a:t>层级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目录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内容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生成方式</a:t>
                      </a:r>
                    </a:p>
                  </a:txBody>
                  <a:tcPr/>
                </a:tc>
              </a:tr>
              <a:tr h="426085">
                <a:tc>
                  <a:txBody>
                    <a:bodyPr/>
                    <a:lstStyle/>
                    <a:p>
                      <a:r>
                        <a:t>L0 人工/根目录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skills/*.yaml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sheet别名、引导动词、列短形式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人工+自动混合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t>L1 自动派生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L1_derived/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列别名、行定位规则、多sheet消歧、类型约束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扫描resources/*.xlsx自动生成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t>L2 运行时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L2_runtime/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运行时学到的列别名(</a:t>
                      </a:r>
                      <a:r>
                        <a:rPr lang="zh-CN"/>
                        <a:t>有命中和置信度</a:t>
                      </a:r>
                      <a:r>
                        <a:t>)、跨表关系权重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从evidence promote写入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t>L3 反模式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L3_anti_patterns/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失败模式规则：歧义列/类型约束/失败操作/语义模式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规则频次升级+AI归纳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50495"/>
            <a:ext cx="10607040" cy="34925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r>
              <a:rPr lang="zh-CN" altLang="en-US" b="1">
                <a:solidFill>
                  <a:srgbClr val="FFFFFF"/>
                </a:solidFill>
                <a:latin typeface="微软雅黑" panose="020B0503020204020204" pitchFamily="34" charset="-122"/>
              </a:rPr>
              <a:t>Skill 系统：生成与审核机制</a:t>
            </a:r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85216" y="1170432"/>
          <a:ext cx="106070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3035"/>
                <a:gridCol w="7914005"/>
              </a:tblGrid>
              <a:tr h="33000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80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判定</a:t>
                      </a:r>
                      <a:endParaRPr lang="zh-CN" altLang="en-US" sz="1800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80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阈值</a:t>
                      </a:r>
                      <a:endParaRPr lang="zh-CN" altLang="en-US" sz="1800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3000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sz="1600"/>
                        <a:t>列别名候选转正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sz="1600">
                          <a:sym typeface="+mn-ea"/>
                        </a:rPr>
                        <a:t>七天内命中够 3 次、且系统对这次猜测的把握在 30%~75% 之间</a:t>
                      </a:r>
                      <a:endParaRPr sz="1600" b="0"/>
                    </a:p>
                  </a:txBody>
                  <a:tcPr/>
                </a:tc>
              </a:tr>
              <a:tr h="33000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sz="1600"/>
                        <a:t>反模式升级active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sz="1600"/>
                        <a:t>某列易认错，7天内出现≥3次 → 系统自动改成只许精确匹配，不许模糊猜</a:t>
                      </a:r>
                      <a:endParaRPr sz="1600"/>
                    </a:p>
                  </a:txBody>
                  <a:tcPr/>
                </a:tc>
              </a:tr>
              <a:tr h="33000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sz="1600"/>
                        <a:t>反模式升级pending_review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sz="1600"/>
                        <a:t>操作失败在30天内出现≥2次 → 先标记"待人工审核"，下次遇到同类操作会弹窗要用户确认，但还不是最终生效规则</a:t>
                      </a:r>
                      <a:endParaRPr sz="1600"/>
                    </a:p>
                  </a:txBody>
                  <a:tcPr/>
                </a:tc>
              </a:tr>
              <a:tr h="33000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sz="1600"/>
                        <a:t>AI归纳反模式转正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sz="1600"/>
                        <a:t>AI 总结的易出错情形，由于无人工标注的标准答案兜底，需多命中 3 次才能真正生效</a:t>
                      </a:r>
                      <a:endParaRPr sz="1600"/>
                    </a:p>
                  </a:txBody>
                  <a:tcPr/>
                </a:tc>
              </a:tr>
              <a:tr h="33000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sz="1600"/>
                        <a:t>冲突消解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sz="1600"/>
                        <a:t>同一个用户说法，被两种不同的"标准列名"抢着对应，系统无法决定，交给人工来判断</a:t>
                      </a:r>
                      <a:endParaRPr sz="1600"/>
                    </a:p>
                  </a:txBody>
                  <a:tcPr/>
                </a:tc>
              </a:tr>
              <a:tr h="33000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sz="1600"/>
                        <a:t>衰减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sz="1600"/>
                        <a:t>一条规则 60 天都没再被用到则自动移除、若规则的可信程度低于30%，将其休眠</a:t>
                      </a:r>
                      <a:endParaRPr sz="16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85470" y="4369435"/>
            <a:ext cx="10607040" cy="64135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noAutofit/>
          </a:bodyPr>
          <a:lstStyle/>
          <a:p>
            <a:r>
              <a:t>AI归纳的反模式先进pending_review，跑过mini回归(30样本,lift≥0.05)确认没把已有能力改坏才转正active，不通过则回滚+隔离区(quarantine)。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4925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b="1">
                <a:solidFill>
                  <a:srgbClr val="FFFFFF"/>
                </a:solidFill>
                <a:latin typeface="微软雅黑" panose="020B0503020204020204" pitchFamily="34" charset="-122"/>
              </a:rPr>
              <a:t>Skill 系统：效果数据</a:t>
            </a:r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85216" y="1170432"/>
          <a:ext cx="10607040" cy="3680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9565"/>
                <a:gridCol w="2660650"/>
                <a:gridCol w="1984375"/>
                <a:gridCol w="3092450"/>
              </a:tblGrid>
              <a:tr h="400000">
                <a:tc>
                  <a:txBody>
                    <a:bodyPr/>
                    <a:lstStyle/>
                    <a:p>
                      <a:r>
                        <a:rPr sz="1600"/>
                        <a:t>数据点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指标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before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after</a:t>
                      </a:r>
                      <a:endParaRPr sz="1600"/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sz="1600"/>
                        <a:t>skill简版30样例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定位成功率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0.933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1.000</a:t>
                      </a:r>
                      <a:endParaRPr sz="1600"/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sz="1600"/>
                        <a:t>skill简版30样例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精确命中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1.00</a:t>
                      </a:r>
                      <a:endParaRPr sz="1600"/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sz="1600"/>
                        <a:t>skill简版30样例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严格综合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0.704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0.959</a:t>
                      </a:r>
                      <a:endParaRPr sz="1600"/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sz="1600"/>
                        <a:t>skill简版30样例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平均耗时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533ms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321ms</a:t>
                      </a:r>
                      <a:endParaRPr sz="1600"/>
                    </a:p>
                  </a:txBody>
                  <a:tcPr/>
                </a:tc>
              </a:tr>
              <a:tr h="508635">
                <a:tc>
                  <a:txBody>
                    <a:bodyPr/>
                    <a:lstStyle/>
                    <a:p>
                      <a:r>
                        <a:rPr sz="1600"/>
                        <a:t>skill真写盘8样例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定位/覆盖/精准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0.472/0.417/0.497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0.639/0.583/0.590</a:t>
                      </a:r>
                      <a:endParaRPr sz="1600"/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sz="1600"/>
                        <a:t>Step4反模式沉淀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同类失败预警覆盖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0/8(0%)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8/8(100%)</a:t>
                      </a:r>
                      <a:endParaRPr sz="1600"/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sz="1600"/>
                        <a:t>Step4反模式归纳(真实e2e)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8条失败trace→4类反模式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—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命中PK冲突/seed缺失/conv_id定位/类型转换</a:t>
                      </a:r>
                      <a:endParaRPr sz="16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4925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b="1">
                <a:solidFill>
                  <a:srgbClr val="FFFFFF"/>
                </a:solidFill>
                <a:latin typeface="微软雅黑" panose="020B0503020204020204" pitchFamily="34" charset="-122"/>
              </a:rPr>
              <a:t>优化</a:t>
            </a:r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" name="表格 1"/>
          <p:cNvGraphicFramePr/>
          <p:nvPr>
            <p:custDataLst>
              <p:tags r:id="rId3"/>
            </p:custDataLst>
          </p:nvPr>
        </p:nvGraphicFramePr>
        <p:xfrm>
          <a:off x="585470" y="1739265"/>
          <a:ext cx="10460990" cy="28968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02735"/>
                <a:gridCol w="3729990"/>
                <a:gridCol w="2628265"/>
              </a:tblGrid>
              <a:tr h="58547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问题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方案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数据</a:t>
                      </a:r>
                      <a:endParaRPr lang="zh-CN" altLang="en-US" sz="1600"/>
                    </a:p>
                  </a:txBody>
                  <a:tcPr/>
                </a:tc>
              </a:tr>
              <a:tr h="77724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命名写法不一致</a:t>
                      </a:r>
                      <a:r>
                        <a:rPr lang="en-US" altLang="zh-CN" sz="1600"/>
                        <a:t>(newConvId</a:t>
                      </a:r>
                      <a:r>
                        <a:rPr lang="zh-CN" altLang="en-US" sz="1600"/>
                        <a:t>、</a:t>
                      </a:r>
                      <a:r>
                        <a:rPr lang="en-US" altLang="zh-CN" sz="1600"/>
                        <a:t>&lt;new_conv_id&gt;)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_norm_name</a:t>
                      </a:r>
                      <a:r>
                        <a:rPr lang="zh-CN" altLang="en-US" sz="1600"/>
                        <a:t>归一化后再比较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误报率从</a:t>
                      </a:r>
                      <a:r>
                        <a:rPr lang="en-US" altLang="zh-CN" sz="1600"/>
                        <a:t>5/6</a:t>
                      </a:r>
                      <a:r>
                        <a:rPr lang="zh-CN" altLang="en-US" sz="1600"/>
                        <a:t>降至</a:t>
                      </a:r>
                      <a:r>
                        <a:rPr lang="en-US" altLang="zh-CN" sz="1600"/>
                        <a:t>2/6</a:t>
                      </a:r>
                      <a:endParaRPr lang="en-US" altLang="zh-CN" sz="1600"/>
                    </a:p>
                  </a:txBody>
                  <a:tcPr/>
                </a:tc>
              </a:tr>
              <a:tr h="51181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占位符</a:t>
                      </a:r>
                      <a:r>
                        <a:rPr lang="zh-CN" altLang="en-US" sz="1600"/>
                        <a:t>在嵌套结构里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递归扫描</a:t>
                      </a:r>
                      <a:r>
                        <a:rPr lang="en-US" altLang="zh-CN" sz="1600"/>
                        <a:t>dict/list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漏检数</a:t>
                      </a:r>
                      <a:r>
                        <a:rPr lang="en-US" altLang="zh-CN" sz="1600"/>
                        <a:t>:7-&gt;0</a:t>
                      </a:r>
                      <a:endParaRPr lang="zh-CN" altLang="en-US" sz="1600"/>
                    </a:p>
                  </a:txBody>
                  <a:tcPr/>
                </a:tc>
              </a:tr>
              <a:tr h="51117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执行顺序错乱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一轮执行完再执行一次补齐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可执行节点</a:t>
                      </a:r>
                      <a:r>
                        <a:rPr lang="en-US" altLang="zh-CN" sz="1600"/>
                        <a:t>:1/5-&gt;5/5</a:t>
                      </a:r>
                      <a:endParaRPr lang="en-US" altLang="zh-CN" sz="1600"/>
                    </a:p>
                  </a:txBody>
                  <a:tcPr/>
                </a:tc>
              </a:tr>
              <a:tr h="51117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合法</a:t>
                      </a:r>
                      <a:r>
                        <a:rPr lang="en-US" altLang="zh-CN" sz="1600"/>
                        <a:t>dict</a:t>
                      </a:r>
                      <a:r>
                        <a:rPr lang="zh-CN" altLang="en-US" sz="1600"/>
                        <a:t>列被视为幻觉字段</a:t>
                      </a:r>
                      <a:r>
                        <a:rPr lang="zh-CN" altLang="en-US" sz="1600"/>
                        <a:t>清空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增强函数对于合法和幻觉</a:t>
                      </a:r>
                      <a:r>
                        <a:rPr lang="en-US" altLang="zh-CN" sz="1600"/>
                        <a:t>dict</a:t>
                      </a:r>
                      <a:r>
                        <a:rPr lang="zh-CN" altLang="en-US" sz="1600"/>
                        <a:t>的</a:t>
                      </a:r>
                      <a:r>
                        <a:rPr lang="zh-CN" altLang="en-US" sz="1600"/>
                        <a:t>识别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误清空率</a:t>
                      </a:r>
                      <a:r>
                        <a:rPr lang="en-US" altLang="zh-CN" sz="1600"/>
                        <a:t>:100%-&gt;0%</a:t>
                      </a:r>
                      <a:endParaRPr lang="zh-CN" altLang="en-US" sz="16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600710" y="1202055"/>
            <a:ext cx="4250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tx1"/>
                </a:solidFill>
                <a:latin typeface="微软雅黑" panose="020B0503020204020204" pitchFamily="34" charset="-122"/>
                <a:sym typeface="+mn-ea"/>
              </a:rPr>
              <a:t>对于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pitchFamily="34" charset="-122"/>
                <a:sym typeface="+mn-ea"/>
              </a:rPr>
              <a:t>agent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pitchFamily="34" charset="-122"/>
                <a:sym typeface="+mn-ea"/>
              </a:rPr>
              <a:t>过程中的一些优化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pitchFamily="34" charset="-122"/>
                <a:sym typeface="+mn-ea"/>
              </a:rPr>
              <a:t>内容</a:t>
            </a:r>
            <a:endParaRPr lang="zh-CN" altLang="en-US" b="1">
              <a:solidFill>
                <a:schemeClr val="tx1"/>
              </a:solidFill>
              <a:latin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形 1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700278" y="2552700"/>
            <a:ext cx="9966960" cy="80467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ctr">
              <a:lnSpc>
                <a:spcPct val="115000"/>
              </a:lnSpc>
              <a:defRPr sz="3600" b="1">
                <a:solidFill>
                  <a:srgbClr val="C00000"/>
                </a:solidFill>
                <a:latin typeface="微软雅黑" panose="020B0503020204020204" pitchFamily="34" charset="-122"/>
              </a:defRPr>
            </a:pPr>
            <a:r>
              <a:t>三、Merge 合并方案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形 1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grpSp>
        <p:nvGrpSpPr>
          <p:cNvPr id="25" name="组合 24"/>
          <p:cNvGrpSpPr/>
          <p:nvPr/>
        </p:nvGrpSpPr>
        <p:grpSpPr>
          <a:xfrm>
            <a:off x="986900" y="1591365"/>
            <a:ext cx="2722227" cy="398780"/>
            <a:chOff x="3462868" y="3718731"/>
            <a:chExt cx="2722227" cy="398780"/>
          </a:xfrm>
        </p:grpSpPr>
        <p:sp>
          <p:nvSpPr>
            <p:cNvPr id="26" name="文本框 25"/>
            <p:cNvSpPr txBox="1"/>
            <p:nvPr/>
          </p:nvSpPr>
          <p:spPr>
            <a:xfrm>
              <a:off x="3462868" y="3718731"/>
              <a:ext cx="2722227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三方合并</a:t>
              </a:r>
              <a:r>
                <a:rPr kumimoji="1"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模型</a:t>
              </a:r>
              <a:endParaRPr kumimoji="1"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8" name="直线连接符 101"/>
            <p:cNvCxnSpPr/>
            <p:nvPr/>
          </p:nvCxnSpPr>
          <p:spPr>
            <a:xfrm>
              <a:off x="3555678" y="4111329"/>
              <a:ext cx="533375" cy="0"/>
            </a:xfrm>
            <a:prstGeom prst="line">
              <a:avLst/>
            </a:prstGeom>
            <a:ln w="25400">
              <a:solidFill>
                <a:srgbClr val="A50A0D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文本框 4"/>
          <p:cNvSpPr txBox="1"/>
          <p:nvPr/>
        </p:nvSpPr>
        <p:spPr>
          <a:xfrm>
            <a:off x="416520" y="394263"/>
            <a:ext cx="44196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Merge</a:t>
            </a:r>
            <a:endParaRPr kumimoji="1" lang="en-US" altLang="zh-CN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线连接符 5"/>
          <p:cNvCxnSpPr/>
          <p:nvPr/>
        </p:nvCxnSpPr>
        <p:spPr>
          <a:xfrm>
            <a:off x="514179" y="1062608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: 圆角 12"/>
          <p:cNvSpPr/>
          <p:nvPr>
            <p:custDataLst>
              <p:tags r:id="rId2"/>
            </p:custDataLst>
          </p:nvPr>
        </p:nvSpPr>
        <p:spPr>
          <a:xfrm>
            <a:off x="2026285" y="2539365"/>
            <a:ext cx="1579245" cy="392430"/>
          </a:xfrm>
          <a:prstGeom prst="roundRect">
            <a:avLst>
              <a:gd name="adj" fmla="val 330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>
                  <a:solidFill>
                    <a:schemeClr val="bg1"/>
                  </a:solidFill>
                </a:ln>
              </a:rPr>
              <a:t>Merge-base</a:t>
            </a:r>
            <a:endParaRPr lang="en-US" altLang="zh-CN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" name="矩形: 圆角 12"/>
          <p:cNvSpPr/>
          <p:nvPr>
            <p:custDataLst>
              <p:tags r:id="rId3"/>
            </p:custDataLst>
          </p:nvPr>
        </p:nvSpPr>
        <p:spPr>
          <a:xfrm>
            <a:off x="1079500" y="3288030"/>
            <a:ext cx="1579245" cy="392430"/>
          </a:xfrm>
          <a:prstGeom prst="roundRect">
            <a:avLst>
              <a:gd name="adj" fmla="val 330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>
                  <a:solidFill>
                    <a:schemeClr val="bg1"/>
                  </a:solidFill>
                </a:ln>
              </a:rPr>
              <a:t>From</a:t>
            </a:r>
            <a:r>
              <a:rPr lang="zh-CN" altLang="en-US" dirty="0">
                <a:ln>
                  <a:solidFill>
                    <a:schemeClr val="bg1"/>
                  </a:solidFill>
                </a:ln>
              </a:rPr>
              <a:t>分支</a:t>
            </a:r>
            <a:endParaRPr lang="zh-CN" altLang="en-US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4" name="矩形: 圆角 12"/>
          <p:cNvSpPr/>
          <p:nvPr>
            <p:custDataLst>
              <p:tags r:id="rId4"/>
            </p:custDataLst>
          </p:nvPr>
        </p:nvSpPr>
        <p:spPr>
          <a:xfrm>
            <a:off x="2940685" y="3278505"/>
            <a:ext cx="1579245" cy="392430"/>
          </a:xfrm>
          <a:prstGeom prst="roundRect">
            <a:avLst>
              <a:gd name="adj" fmla="val 330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>
                  <a:solidFill>
                    <a:schemeClr val="bg1"/>
                  </a:solidFill>
                </a:ln>
              </a:rPr>
              <a:t>To</a:t>
            </a:r>
            <a:r>
              <a:rPr lang="zh-CN" altLang="en-US" dirty="0">
                <a:ln>
                  <a:solidFill>
                    <a:schemeClr val="bg1"/>
                  </a:solidFill>
                </a:ln>
              </a:rPr>
              <a:t>分支</a:t>
            </a:r>
            <a:endParaRPr lang="zh-CN" altLang="en-US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7" name="矩形: 圆角 12"/>
          <p:cNvSpPr/>
          <p:nvPr>
            <p:custDataLst>
              <p:tags r:id="rId5"/>
            </p:custDataLst>
          </p:nvPr>
        </p:nvSpPr>
        <p:spPr>
          <a:xfrm>
            <a:off x="1854835" y="3944620"/>
            <a:ext cx="1996440" cy="392430"/>
          </a:xfrm>
          <a:prstGeom prst="roundRect">
            <a:avLst>
              <a:gd name="adj" fmla="val 330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>
                  <a:solidFill>
                    <a:schemeClr val="bg1"/>
                  </a:solidFill>
                </a:ln>
              </a:rPr>
              <a:t>Merge</a:t>
            </a:r>
            <a:r>
              <a:rPr lang="zh-CN" altLang="en-US" dirty="0">
                <a:ln>
                  <a:solidFill>
                    <a:schemeClr val="bg1"/>
                  </a:solidFill>
                </a:ln>
              </a:rPr>
              <a:t>合并</a:t>
            </a:r>
            <a:r>
              <a:rPr lang="zh-CN" altLang="en-US" dirty="0">
                <a:ln>
                  <a:solidFill>
                    <a:schemeClr val="bg1"/>
                  </a:solidFill>
                </a:ln>
              </a:rPr>
              <a:t>结果</a:t>
            </a:r>
            <a:endParaRPr lang="zh-CN" altLang="en-US" dirty="0">
              <a:ln>
                <a:solidFill>
                  <a:schemeClr val="bg1"/>
                </a:solidFill>
              </a:ln>
            </a:endParaRPr>
          </a:p>
        </p:txBody>
      </p:sp>
      <p:graphicFrame>
        <p:nvGraphicFramePr>
          <p:cNvPr id="59" name="表格 2"/>
          <p:cNvGraphicFramePr>
            <a:graphicFrameLocks noGrp="1"/>
          </p:cNvGraphicFramePr>
          <p:nvPr/>
        </p:nvGraphicFramePr>
        <p:xfrm>
          <a:off x="4999355" y="1591310"/>
          <a:ext cx="6539865" cy="280162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640840"/>
                <a:gridCol w="1682750"/>
                <a:gridCol w="3216275"/>
              </a:tblGrid>
              <a:tr h="608965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Merge</a:t>
                      </a:r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模式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 hMerge="1"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过程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</a:tr>
              <a:tr h="736600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跨分支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合并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分支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合并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通过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From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分支与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To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分支比对合并到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To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分支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27710">
                <a:tc vMerge="1"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合并回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trunk</a:t>
                      </a:r>
                      <a:endParaRPr lang="en-US" altLang="zh-CN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分支合回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trunk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，内容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集成在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trunk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分支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28345">
                <a:tc gridSpan="2"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目录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合并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将子目录的生产内容合并回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trunk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分支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16" name="直接箭头连接符 15"/>
          <p:cNvCxnSpPr>
            <a:stCxn id="13" idx="2"/>
            <a:endCxn id="3" idx="0"/>
          </p:cNvCxnSpPr>
          <p:nvPr/>
        </p:nvCxnSpPr>
        <p:spPr>
          <a:xfrm flipH="1">
            <a:off x="1869440" y="2931795"/>
            <a:ext cx="946785" cy="3562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stCxn id="13" idx="2"/>
            <a:endCxn id="4" idx="0"/>
          </p:cNvCxnSpPr>
          <p:nvPr/>
        </p:nvCxnSpPr>
        <p:spPr>
          <a:xfrm>
            <a:off x="2816225" y="2931795"/>
            <a:ext cx="914400" cy="3467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stCxn id="3" idx="2"/>
            <a:endCxn id="7" idx="0"/>
          </p:cNvCxnSpPr>
          <p:nvPr/>
        </p:nvCxnSpPr>
        <p:spPr>
          <a:xfrm>
            <a:off x="1869440" y="3680460"/>
            <a:ext cx="983615" cy="2641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>
            <a:stCxn id="4" idx="2"/>
            <a:endCxn id="7" idx="0"/>
          </p:cNvCxnSpPr>
          <p:nvPr/>
        </p:nvCxnSpPr>
        <p:spPr>
          <a:xfrm flipH="1">
            <a:off x="2853055" y="3670935"/>
            <a:ext cx="877570" cy="2736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形 1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16520" y="394263"/>
            <a:ext cx="44196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Merge</a:t>
            </a:r>
            <a:endParaRPr kumimoji="1" lang="en-US" altLang="zh-CN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线连接符 5"/>
          <p:cNvCxnSpPr/>
          <p:nvPr/>
        </p:nvCxnSpPr>
        <p:spPr>
          <a:xfrm>
            <a:off x="514179" y="1062608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551815" y="1369060"/>
            <a:ext cx="10782935" cy="49752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跨分支</a:t>
            </a:r>
            <a:r>
              <a:rPr lang="zh-CN" altLang="en-US"/>
              <a:t>合并：</a:t>
            </a:r>
            <a:endParaRPr lang="zh-CN" altLang="en-US"/>
          </a:p>
          <a:p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分支合并：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合并回</a:t>
            </a:r>
            <a:r>
              <a:rPr lang="en-US" altLang="zh-CN"/>
              <a:t>trunk: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目录</a:t>
            </a:r>
            <a:r>
              <a:rPr lang="zh-CN" altLang="en-US"/>
              <a:t>合并：</a:t>
            </a:r>
            <a:endParaRPr lang="zh-CN" altLang="en-US"/>
          </a:p>
          <a:p>
            <a:pPr indent="457200"/>
            <a:r>
              <a:rPr lang="en-US" altLang="zh-CN">
                <a:solidFill>
                  <a:srgbClr val="00B0F0"/>
                </a:solidFill>
              </a:rPr>
              <a:t>T0</a:t>
            </a:r>
            <a:r>
              <a:rPr lang="zh-CN" altLang="en-US">
                <a:solidFill>
                  <a:srgbClr val="00B0F0"/>
                </a:solidFill>
              </a:rPr>
              <a:t>时间</a:t>
            </a:r>
            <a:r>
              <a:rPr lang="zh-CN" altLang="en-US"/>
              <a:t>创建</a:t>
            </a:r>
            <a:r>
              <a:rPr lang="en-US" altLang="zh-CN"/>
              <a:t>trunk</a:t>
            </a:r>
            <a:r>
              <a:rPr lang="zh-CN" altLang="en-US"/>
              <a:t>，</a:t>
            </a:r>
            <a:r>
              <a:rPr lang="en-US" altLang="zh-CN">
                <a:solidFill>
                  <a:srgbClr val="00B0F0"/>
                </a:solidFill>
              </a:rPr>
              <a:t>T1</a:t>
            </a:r>
            <a:r>
              <a:rPr lang="zh-CN" altLang="en-US">
                <a:solidFill>
                  <a:srgbClr val="00B0F0"/>
                </a:solidFill>
              </a:rPr>
              <a:t>时间</a:t>
            </a:r>
            <a:r>
              <a:rPr lang="zh-CN" altLang="en-US"/>
              <a:t>基于</a:t>
            </a:r>
            <a:r>
              <a:rPr lang="en-US" altLang="zh-CN"/>
              <a:t>trunk</a:t>
            </a:r>
            <a:r>
              <a:rPr lang="zh-CN" altLang="en-US"/>
              <a:t>创建子目录</a:t>
            </a:r>
            <a:r>
              <a:rPr lang="en-US" altLang="zh-CN"/>
              <a:t>subdev1</a:t>
            </a:r>
            <a:r>
              <a:rPr lang="zh-CN" altLang="en-US"/>
              <a:t>，</a:t>
            </a:r>
            <a:r>
              <a:rPr lang="en-US" altLang="zh-CN">
                <a:solidFill>
                  <a:srgbClr val="00B0F0"/>
                </a:solidFill>
              </a:rPr>
              <a:t>T2</a:t>
            </a:r>
            <a:r>
              <a:rPr lang="zh-CN" altLang="en-US">
                <a:solidFill>
                  <a:srgbClr val="00B0F0"/>
                </a:solidFill>
              </a:rPr>
              <a:t>时间</a:t>
            </a:r>
            <a:r>
              <a:rPr lang="zh-CN" altLang="en-US"/>
              <a:t>将子目录</a:t>
            </a:r>
            <a:r>
              <a:rPr lang="en-US" altLang="zh-CN"/>
              <a:t>subdev1</a:t>
            </a:r>
            <a:r>
              <a:rPr lang="zh-CN" altLang="en-US"/>
              <a:t>向</a:t>
            </a:r>
            <a:r>
              <a:rPr lang="en-US" altLang="zh-CN"/>
              <a:t>trunk</a:t>
            </a:r>
            <a:r>
              <a:rPr lang="zh-CN" altLang="en-US"/>
              <a:t>合并，那么</a:t>
            </a:r>
            <a:r>
              <a:rPr lang="en-US" altLang="zh-CN"/>
              <a:t>subdev1</a:t>
            </a:r>
            <a:r>
              <a:rPr lang="zh-CN" altLang="en-US"/>
              <a:t>基于</a:t>
            </a:r>
            <a:r>
              <a:rPr lang="en-US" altLang="zh-CN">
                <a:solidFill>
                  <a:srgbClr val="00B0F0"/>
                </a:solidFill>
              </a:rPr>
              <a:t>T1</a:t>
            </a:r>
            <a:r>
              <a:rPr lang="zh-CN" altLang="en-US">
                <a:solidFill>
                  <a:srgbClr val="00B0F0"/>
                </a:solidFill>
              </a:rPr>
              <a:t>时间</a:t>
            </a:r>
            <a:r>
              <a:rPr lang="en-US" altLang="zh-CN"/>
              <a:t>trunk</a:t>
            </a:r>
            <a:r>
              <a:rPr lang="zh-CN" altLang="en-US"/>
              <a:t>的更改回合</a:t>
            </a:r>
            <a:r>
              <a:rPr lang="en-US" altLang="zh-CN">
                <a:solidFill>
                  <a:srgbClr val="00B0F0"/>
                </a:solidFill>
              </a:rPr>
              <a:t>T2</a:t>
            </a:r>
            <a:r>
              <a:rPr lang="zh-CN" altLang="en-US">
                <a:solidFill>
                  <a:srgbClr val="00B0F0"/>
                </a:solidFill>
              </a:rPr>
              <a:t>时间</a:t>
            </a:r>
            <a:r>
              <a:rPr lang="zh-CN" altLang="en-US"/>
              <a:t>的</a:t>
            </a:r>
            <a:r>
              <a:rPr lang="en-US" altLang="zh-CN"/>
              <a:t>trunk</a:t>
            </a:r>
            <a:r>
              <a:rPr lang="zh-CN" altLang="en-US"/>
              <a:t>进行</a:t>
            </a:r>
            <a:r>
              <a:rPr lang="zh-CN" altLang="en-US"/>
              <a:t>合并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736600" y="3723640"/>
            <a:ext cx="10031730" cy="640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rgbClr val="00B0F0"/>
                </a:solidFill>
              </a:rPr>
              <a:t>T0</a:t>
            </a:r>
            <a:r>
              <a:rPr lang="zh-CN" altLang="en-US">
                <a:solidFill>
                  <a:srgbClr val="00B0F0"/>
                </a:solidFill>
              </a:rPr>
              <a:t>时间</a:t>
            </a:r>
            <a:r>
              <a:rPr lang="zh-CN" altLang="en-US"/>
              <a:t>创建</a:t>
            </a:r>
            <a:r>
              <a:rPr lang="en-US" altLang="zh-CN"/>
              <a:t>trunk,</a:t>
            </a:r>
            <a:r>
              <a:rPr lang="en-US" altLang="zh-CN">
                <a:solidFill>
                  <a:srgbClr val="00B0F0"/>
                </a:solidFill>
              </a:rPr>
              <a:t>T1</a:t>
            </a:r>
            <a:r>
              <a:rPr lang="zh-CN" altLang="en-US">
                <a:solidFill>
                  <a:srgbClr val="00B0F0"/>
                </a:solidFill>
              </a:rPr>
              <a:t>时间</a:t>
            </a:r>
            <a:r>
              <a:rPr lang="zh-CN" altLang="en-US"/>
              <a:t>基于</a:t>
            </a:r>
            <a:r>
              <a:rPr lang="en-US" altLang="zh-CN"/>
              <a:t>trunk</a:t>
            </a:r>
            <a:r>
              <a:rPr lang="zh-CN" altLang="en-US"/>
              <a:t>创建分支</a:t>
            </a:r>
            <a:r>
              <a:rPr lang="en-US" altLang="zh-CN"/>
              <a:t>dev1</a:t>
            </a:r>
            <a:r>
              <a:rPr lang="zh-CN" altLang="en-US"/>
              <a:t>，</a:t>
            </a:r>
            <a:r>
              <a:rPr lang="en-US" altLang="zh-CN">
                <a:solidFill>
                  <a:srgbClr val="00B0F0"/>
                </a:solidFill>
              </a:rPr>
              <a:t>T2</a:t>
            </a:r>
            <a:r>
              <a:rPr lang="zh-CN" altLang="en-US">
                <a:solidFill>
                  <a:srgbClr val="00B0F0"/>
                </a:solidFill>
              </a:rPr>
              <a:t>时间</a:t>
            </a:r>
            <a:r>
              <a:rPr lang="zh-CN" altLang="en-US">
                <a:solidFill>
                  <a:schemeClr val="tx1"/>
                </a:solidFill>
              </a:rPr>
              <a:t>将分支</a:t>
            </a:r>
            <a:r>
              <a:rPr lang="en-US" altLang="zh-CN">
                <a:solidFill>
                  <a:schemeClr val="tx1"/>
                </a:solidFill>
              </a:rPr>
              <a:t>dev1</a:t>
            </a:r>
            <a:r>
              <a:rPr lang="zh-CN" altLang="en-US">
                <a:solidFill>
                  <a:schemeClr val="tx1"/>
                </a:solidFill>
              </a:rPr>
              <a:t>向</a:t>
            </a:r>
            <a:r>
              <a:rPr lang="en-US" altLang="zh-CN">
                <a:solidFill>
                  <a:schemeClr val="tx1"/>
                </a:solidFill>
              </a:rPr>
              <a:t>trunk</a:t>
            </a:r>
            <a:r>
              <a:rPr lang="zh-CN" altLang="en-US">
                <a:solidFill>
                  <a:schemeClr val="tx1"/>
                </a:solidFill>
              </a:rPr>
              <a:t>合并，那么</a:t>
            </a:r>
            <a:r>
              <a:rPr lang="en-US" altLang="zh-CN">
                <a:solidFill>
                  <a:schemeClr val="tx1"/>
                </a:solidFill>
              </a:rPr>
              <a:t>dev1</a:t>
            </a:r>
            <a:r>
              <a:rPr lang="zh-CN" altLang="en-US">
                <a:solidFill>
                  <a:schemeClr val="tx1"/>
                </a:solidFill>
              </a:rPr>
              <a:t>基于</a:t>
            </a:r>
            <a:r>
              <a:rPr lang="en-US" altLang="zh-CN">
                <a:solidFill>
                  <a:srgbClr val="00B0F0"/>
                </a:solidFill>
              </a:rPr>
              <a:t>T1</a:t>
            </a:r>
            <a:r>
              <a:rPr lang="zh-CN" altLang="en-US">
                <a:solidFill>
                  <a:srgbClr val="00B0F0"/>
                </a:solidFill>
              </a:rPr>
              <a:t>时间</a:t>
            </a:r>
            <a:r>
              <a:rPr lang="en-US" altLang="zh-CN">
                <a:solidFill>
                  <a:schemeClr val="tx1"/>
                </a:solidFill>
              </a:rPr>
              <a:t>trunk</a:t>
            </a:r>
            <a:r>
              <a:rPr lang="zh-CN" altLang="en-US">
                <a:solidFill>
                  <a:schemeClr val="tx1"/>
                </a:solidFill>
              </a:rPr>
              <a:t>的更改会和</a:t>
            </a:r>
            <a:r>
              <a:rPr lang="en-US" altLang="zh-CN">
                <a:solidFill>
                  <a:srgbClr val="00B0F0"/>
                </a:solidFill>
              </a:rPr>
              <a:t>T2</a:t>
            </a:r>
            <a:r>
              <a:rPr lang="zh-CN" altLang="en-US">
                <a:solidFill>
                  <a:srgbClr val="00B0F0"/>
                </a:solidFill>
              </a:rPr>
              <a:t>时间</a:t>
            </a:r>
            <a:r>
              <a:rPr lang="en-US" altLang="zh-CN">
                <a:solidFill>
                  <a:schemeClr val="tx1"/>
                </a:solidFill>
              </a:rPr>
              <a:t>trunk</a:t>
            </a:r>
            <a:r>
              <a:rPr lang="zh-CN" altLang="en-US">
                <a:solidFill>
                  <a:schemeClr val="tx1"/>
                </a:solidFill>
              </a:rPr>
              <a:t>进行</a:t>
            </a:r>
            <a:r>
              <a:rPr lang="zh-CN" altLang="en-US">
                <a:solidFill>
                  <a:schemeClr val="tx1"/>
                </a:solidFill>
              </a:rPr>
              <a:t>合并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777875" y="2500630"/>
            <a:ext cx="99898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B0F0"/>
                </a:solidFill>
              </a:rPr>
              <a:t>T0</a:t>
            </a:r>
            <a:r>
              <a:rPr lang="zh-CN" altLang="en-US">
                <a:solidFill>
                  <a:srgbClr val="00B0F0"/>
                </a:solidFill>
              </a:rPr>
              <a:t>时间</a:t>
            </a:r>
            <a:r>
              <a:rPr lang="zh-CN" altLang="en-US"/>
              <a:t>创建</a:t>
            </a:r>
            <a:r>
              <a:rPr lang="en-US" altLang="zh-CN"/>
              <a:t>trunk,</a:t>
            </a:r>
            <a:r>
              <a:rPr lang="en-US" altLang="zh-CN">
                <a:solidFill>
                  <a:srgbClr val="00B0F0"/>
                </a:solidFill>
              </a:rPr>
              <a:t>T1-A</a:t>
            </a:r>
            <a:r>
              <a:rPr lang="zh-CN" altLang="en-US">
                <a:solidFill>
                  <a:srgbClr val="00B0F0"/>
                </a:solidFill>
              </a:rPr>
              <a:t>时间</a:t>
            </a:r>
            <a:r>
              <a:rPr lang="zh-CN" altLang="en-US"/>
              <a:t>基于</a:t>
            </a:r>
            <a:r>
              <a:rPr lang="en-US" altLang="zh-CN"/>
              <a:t>trunk</a:t>
            </a:r>
            <a:r>
              <a:rPr lang="zh-CN" altLang="en-US"/>
              <a:t>创建分支</a:t>
            </a:r>
            <a:r>
              <a:rPr lang="en-US" altLang="zh-CN"/>
              <a:t>dev1</a:t>
            </a:r>
            <a:r>
              <a:rPr lang="zh-CN" altLang="en-US"/>
              <a:t>，</a:t>
            </a:r>
            <a:r>
              <a:rPr lang="en-US" altLang="zh-CN">
                <a:solidFill>
                  <a:srgbClr val="00B0F0"/>
                </a:solidFill>
              </a:rPr>
              <a:t>T1-B</a:t>
            </a:r>
            <a:r>
              <a:rPr lang="zh-CN" altLang="en-US">
                <a:solidFill>
                  <a:srgbClr val="00B0F0"/>
                </a:solidFill>
              </a:rPr>
              <a:t>时间</a:t>
            </a:r>
            <a:r>
              <a:rPr lang="zh-CN" altLang="en-US"/>
              <a:t>基于</a:t>
            </a:r>
            <a:r>
              <a:rPr lang="en-US" altLang="zh-CN"/>
              <a:t>trunk</a:t>
            </a:r>
            <a:r>
              <a:rPr lang="zh-CN" altLang="en-US"/>
              <a:t>创建分支</a:t>
            </a:r>
            <a:r>
              <a:rPr lang="en-US" altLang="zh-CN"/>
              <a:t>dev2</a:t>
            </a:r>
            <a:r>
              <a:rPr lang="zh-CN" altLang="en-US"/>
              <a:t>，</a:t>
            </a:r>
            <a:r>
              <a:rPr lang="en-US" altLang="zh-CN">
                <a:solidFill>
                  <a:srgbClr val="00B0F0"/>
                </a:solidFill>
              </a:rPr>
              <a:t>T2</a:t>
            </a:r>
            <a:r>
              <a:rPr lang="zh-CN" altLang="en-US">
                <a:solidFill>
                  <a:srgbClr val="00B0F0"/>
                </a:solidFill>
              </a:rPr>
              <a:t>时间</a:t>
            </a:r>
            <a:r>
              <a:rPr lang="zh-CN" altLang="en-US"/>
              <a:t>将</a:t>
            </a:r>
            <a:r>
              <a:rPr lang="en-US" altLang="zh-CN"/>
              <a:t>dev1</a:t>
            </a:r>
            <a:r>
              <a:rPr lang="zh-CN" altLang="en-US"/>
              <a:t>向</a:t>
            </a:r>
            <a:r>
              <a:rPr lang="en-US" altLang="zh-CN"/>
              <a:t>dev2</a:t>
            </a:r>
            <a:r>
              <a:rPr lang="zh-CN" altLang="en-US"/>
              <a:t>合并，那么</a:t>
            </a:r>
            <a:r>
              <a:rPr lang="en-US" altLang="zh-CN"/>
              <a:t>dev1</a:t>
            </a:r>
            <a:r>
              <a:rPr lang="zh-CN" altLang="en-US"/>
              <a:t>基于</a:t>
            </a:r>
            <a:r>
              <a:rPr lang="en-US" altLang="zh-CN"/>
              <a:t>trunk</a:t>
            </a:r>
            <a:r>
              <a:rPr lang="zh-CN" altLang="en-US"/>
              <a:t>的修改会和</a:t>
            </a:r>
            <a:r>
              <a:rPr lang="en-US" altLang="zh-CN"/>
              <a:t>dev2</a:t>
            </a:r>
            <a:r>
              <a:rPr lang="zh-CN" altLang="en-US"/>
              <a:t>基于</a:t>
            </a:r>
            <a:r>
              <a:rPr lang="en-US" altLang="zh-CN"/>
              <a:t>trunk</a:t>
            </a:r>
            <a:r>
              <a:rPr lang="zh-CN" altLang="en-US"/>
              <a:t>的修改进行</a:t>
            </a:r>
            <a:r>
              <a:rPr lang="zh-CN" altLang="en-US"/>
              <a:t>合并</a:t>
            </a:r>
            <a:endParaRPr lang="zh-CN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989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Merge 总体流程</a:t>
            </a:r>
            <a:r>
              <a:rPr lang="zh-CN"/>
              <a:t>与</a:t>
            </a:r>
            <a:r>
              <a:rPr lang="zh-CN"/>
              <a:t>模拟环境</a:t>
            </a:r>
            <a:endParaRPr lang="zh-CN"/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1170432"/>
            <a:ext cx="10058400" cy="21412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600"/>
              <a:t>1. 选择From/To</a:t>
            </a:r>
            <a:r>
              <a:rPr lang="zh-CN" sz="1600"/>
              <a:t>两</a:t>
            </a:r>
            <a:r>
              <a:rPr sz="1600"/>
              <a:t>个目录。</a:t>
            </a:r>
            <a:endParaRPr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600"/>
              <a:t>2. 通过SVN copyfrom定位 merge-base。</a:t>
            </a:r>
            <a:endParaRPr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600"/>
              <a:t>3. 提取 Excel 数据、表头、公式、样式和文件元信息。</a:t>
            </a:r>
            <a:endParaRPr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600"/>
              <a:t>4. 比较变更并识别冲突。</a:t>
            </a:r>
            <a:endParaRPr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600"/>
              <a:t>5. ID 重映射与引用更新。</a:t>
            </a:r>
            <a:endParaRPr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600"/>
              <a:t>6. AI 辅助冲突建议。</a:t>
            </a:r>
            <a:endParaRPr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600"/>
              <a:t>7. LibreOffice 重算、公式保护、安全写回</a:t>
            </a:r>
            <a:r>
              <a:t>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86130" y="3954780"/>
            <a:ext cx="5822315" cy="19773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/>
              <a:t>为了模拟实际生产的</a:t>
            </a:r>
            <a:r>
              <a:rPr lang="en-US" altLang="zh-CN" sz="1600"/>
              <a:t>SVN</a:t>
            </a:r>
            <a:r>
              <a:rPr lang="zh-CN" altLang="en-US" sz="1600"/>
              <a:t>环境，在文件夹搭建了</a:t>
            </a:r>
            <a:r>
              <a:rPr lang="en-US" altLang="zh-CN" sz="1600"/>
              <a:t>demo_svn</a:t>
            </a:r>
            <a:r>
              <a:rPr lang="zh-CN" altLang="en-US" sz="1600"/>
              <a:t>目录架构</a:t>
            </a:r>
            <a:r>
              <a:rPr lang="en-US" altLang="zh-CN" sz="1600"/>
              <a:t>:</a:t>
            </a:r>
            <a:endParaRPr lang="en-US" altLang="zh-CN" sz="1600"/>
          </a:p>
          <a:p>
            <a:endParaRPr lang="en-US" altLang="zh-CN" sz="1600"/>
          </a:p>
          <a:p>
            <a:r>
              <a:rPr lang="en-US" altLang="zh-CN" sz="1600" b="1"/>
              <a:t>merge/svn/demo_svn/</a:t>
            </a:r>
            <a:endParaRPr lang="en-US" altLang="zh-CN" sz="1600" b="1"/>
          </a:p>
          <a:p>
            <a:r>
              <a:rPr lang="en-US" altLang="zh-CN" sz="1600" b="1"/>
              <a:t>├── repo/  (svnadmin</a:t>
            </a:r>
            <a:r>
              <a:rPr lang="zh-CN" altLang="en-US" sz="1600" b="1"/>
              <a:t>仓库)</a:t>
            </a:r>
            <a:endParaRPr lang="zh-CN" altLang="en-US" sz="1600" b="1"/>
          </a:p>
          <a:p>
            <a:r>
              <a:rPr lang="en-US" altLang="zh-CN" sz="1600" b="1"/>
              <a:t>└── wc/</a:t>
            </a:r>
            <a:endParaRPr lang="en-US" altLang="zh-CN" sz="1600" b="1"/>
          </a:p>
          <a:p>
            <a:r>
              <a:rPr lang="en-US" altLang="zh-CN" sz="1600" b="1"/>
              <a:t>    ├── trunk/ (74</a:t>
            </a:r>
            <a:r>
              <a:rPr lang="zh-CN" altLang="en-US" sz="1600" b="1"/>
              <a:t>张</a:t>
            </a:r>
            <a:r>
              <a:rPr lang="zh-CN" altLang="en-US" sz="1600" b="1"/>
              <a:t>表格+</a:t>
            </a:r>
            <a:r>
              <a:rPr lang="en-US" altLang="zh-CN" sz="1600" b="1"/>
              <a:t>subdev_1/2/3)</a:t>
            </a:r>
            <a:endParaRPr lang="en-US" altLang="zh-CN" sz="1600" b="1"/>
          </a:p>
          <a:p>
            <a:r>
              <a:rPr lang="en-US" altLang="zh-CN" sz="1600" b="1"/>
              <a:t>    └── branches/ (dev1-4)</a:t>
            </a:r>
            <a:endParaRPr lang="en-US" altLang="zh-CN" sz="1600" b="1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989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rPr lang="zh-CN"/>
              <a:t>初步</a:t>
            </a:r>
            <a:r>
              <a:rPr lang="zh-CN"/>
              <a:t>选择</a:t>
            </a:r>
            <a:endParaRPr lang="zh-CN"/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1170432"/>
            <a:ext cx="10058400" cy="333565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zh-CN"/>
              <a:t>分支合并</a:t>
            </a:r>
            <a:r>
              <a:rPr lang="en-US" altLang="zh-CN"/>
              <a:t>:</a:t>
            </a:r>
            <a:r>
              <a:rPr lang="zh-CN" altLang="en-US"/>
              <a:t>选择</a:t>
            </a:r>
            <a:r>
              <a:rPr lang="en-US" altLang="zh-CN"/>
              <a:t>From</a:t>
            </a:r>
            <a:r>
              <a:rPr lang="zh-CN" altLang="en-US"/>
              <a:t>和</a:t>
            </a:r>
            <a:r>
              <a:rPr lang="en-US" altLang="zh-CN"/>
              <a:t>To</a:t>
            </a:r>
            <a:r>
              <a:rPr lang="zh-CN" altLang="en-US"/>
              <a:t>分支</a:t>
            </a:r>
            <a:endParaRPr lang="zh-CN" altLang="en-US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zh-CN" altLang="en-US"/>
              <a:t>目录合并</a:t>
            </a:r>
            <a:r>
              <a:rPr lang="en-US" altLang="zh-CN"/>
              <a:t>:</a:t>
            </a:r>
            <a:r>
              <a:rPr lang="zh-CN" altLang="en-US"/>
              <a:t>先选择</a:t>
            </a:r>
            <a:r>
              <a:rPr lang="en-US" altLang="zh-CN"/>
              <a:t>To</a:t>
            </a:r>
            <a:r>
              <a:rPr lang="zh-CN" altLang="en-US"/>
              <a:t>目录在选择</a:t>
            </a:r>
            <a:r>
              <a:rPr lang="en-US" altLang="zh-CN"/>
              <a:t>From</a:t>
            </a:r>
            <a:r>
              <a:rPr lang="zh-CN" altLang="en-US"/>
              <a:t>子目录</a:t>
            </a:r>
            <a:endParaRPr lang="en-US" altLang="zh-CN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en-US" altLang="zh-CN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130" y="1704975"/>
            <a:ext cx="7627620" cy="193738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130" y="4184650"/>
            <a:ext cx="8372475" cy="18669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graphicFrame>
        <p:nvGraphicFramePr>
          <p:cNvPr id="59" name="表格 2"/>
          <p:cNvGraphicFramePr>
            <a:graphicFrameLocks noGrp="1"/>
          </p:cNvGraphicFramePr>
          <p:nvPr/>
        </p:nvGraphicFramePr>
        <p:xfrm>
          <a:off x="514350" y="2126615"/>
          <a:ext cx="10118090" cy="382016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501140"/>
                <a:gridCol w="3488690"/>
                <a:gridCol w="2045970"/>
                <a:gridCol w="3082290"/>
              </a:tblGrid>
              <a:tr h="52133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版本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方法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解决</a:t>
                      </a:r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问题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性能</a:t>
                      </a:r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提升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</a:tr>
              <a:tr h="6597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Python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三重循环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——</a:t>
                      </a:r>
                      <a:endParaRPr lang="en-US" altLang="zh-CN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10w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行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*100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列会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卡死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97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根据哈希建立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row_idx_maps</a:t>
                      </a:r>
                      <a:endParaRPr lang="en-US" altLang="zh-CN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O(n)线性扫描卡死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哈希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定位实现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O(n)-&gt;O(1)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97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使用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sparse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稀疏化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全表建立哈希内存过大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内存从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级别降至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MB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级别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</a:tr>
              <a:tr h="6597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numpy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向量化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逐单元格p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thon函数调用需要单一化，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消耗高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纯数据大表提升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10-50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倍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9765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</a:t>
                      </a:r>
                      <a:endParaRPr lang="en-US" altLang="zh-CN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公式、批注在sheet回退逐单元格循环</a:t>
                      </a:r>
                      <a:endParaRPr lang="en-US" altLang="zh-CN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解决公式、批注向量化出错的问题</a:t>
                      </a:r>
                      <a:endParaRPr lang="en-US" altLang="zh-CN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保证性能同时保证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正确性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0" name="Rectangle 59"/>
          <p:cNvSpPr/>
          <p:nvPr/>
        </p:nvSpPr>
        <p:spPr>
          <a:xfrm>
            <a:off x="889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85216" y="137160"/>
            <a:ext cx="10607040" cy="38989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SVN merge-base定位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70179" y="1219327"/>
            <a:ext cx="10058400" cy="422719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kumimoji="1" lang="zh-CN" alt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在选择分支</a:t>
            </a:r>
            <a:r>
              <a:rPr kumimoji="1" lang="en-US" altLang="zh-CN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/</a:t>
            </a:r>
            <a:r>
              <a:rPr kumimoji="1" lang="zh-CN" alt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目录后，找到</a:t>
            </a:r>
            <a:r>
              <a:rPr kumimoji="1" lang="en-US" altLang="zh-CN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base</a:t>
            </a:r>
            <a:r>
              <a:rPr kumimoji="1" lang="zh-CN" alt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分支与</a:t>
            </a:r>
            <a:r>
              <a:rPr kumimoji="1" lang="en-US" altLang="zh-CN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base</a:t>
            </a:r>
            <a:r>
              <a:rPr kumimoji="1" lang="zh-CN" alt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版本的核心方法：</a:t>
            </a:r>
            <a:r>
              <a:rPr kumimoji="1" lang="en-US" altLang="zh-CN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copyfrom</a:t>
            </a:r>
            <a:r>
              <a:rPr kumimoji="1" lang="zh-CN" alt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反查</a:t>
            </a:r>
            <a:endParaRPr kumimoji="1" lang="zh-CN" altLang="en-US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1</a:t>
            </a:r>
            <a:r>
              <a:rPr kumimoji="1"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、</a:t>
            </a:r>
            <a:r>
              <a:rPr kumimoji="1"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From</a:t>
            </a:r>
            <a:r>
              <a:rPr kumimoji="1"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分支和</a:t>
            </a:r>
            <a:r>
              <a:rPr kumimoji="1"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To</a:t>
            </a:r>
            <a:r>
              <a:rPr kumimoji="1"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分支各自寻找自身的</a:t>
            </a:r>
            <a:r>
              <a:rPr kumimoji="1"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copyfrom</a:t>
            </a:r>
            <a:r>
              <a:rPr kumimoji="1"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；</a:t>
            </a:r>
            <a:endParaRPr kumimoji="1" lang="zh-CN" altLang="en-US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微软雅黑" panose="020B0503020204020204" pitchFamily="34" charset="-122"/>
              <a:sym typeface="+mn-ea"/>
            </a:endParaRPr>
          </a:p>
          <a:p>
            <a:pPr algn="l"/>
          </a:p>
          <a:p>
            <a:pPr algn="l"/>
          </a:p>
          <a:p>
            <a:pPr algn="l"/>
          </a:p>
          <a:p>
            <a:pPr algn="l"/>
          </a:p>
          <a:p>
            <a:pPr algn="l"/>
          </a:p>
          <a:p>
            <a:pPr algn="l"/>
          </a:p>
          <a:p>
            <a:pPr algn="l"/>
          </a:p>
          <a:p>
            <a:pPr algn="l"/>
            <a:r>
              <a:rPr kumimoji="1" lang="en-US" altLang="zh-CN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kumimoji="1"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、沿着</a:t>
            </a:r>
            <a:r>
              <a:rPr kumimoji="1" lang="en-US" altLang="zh-CN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copyfrom</a:t>
            </a:r>
            <a:r>
              <a:rPr kumimoji="1"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链上溯，寻找完整的祖先链；</a:t>
            </a:r>
            <a:endParaRPr kumimoji="1" lang="zh-CN" altLang="en-US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kumimoji="1"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、两条</a:t>
            </a:r>
            <a:r>
              <a:rPr kumimoji="1" lang="en-US" altLang="zh-CN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copyfrom</a:t>
            </a:r>
            <a:r>
              <a:rPr kumimoji="1"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链交叉寻找最近公共祖先</a:t>
            </a:r>
            <a:r>
              <a:rPr kumimoji="1" lang="en-US" altLang="zh-CN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(LCA)</a:t>
            </a:r>
            <a:endParaRPr kumimoji="1" lang="zh-CN" altLang="en-US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</a:p>
          <a:p>
            <a:pPr algn="l"/>
          </a:p>
          <a:p>
            <a:pPr algn="l"/>
          </a:p>
        </p:txBody>
      </p:sp>
      <p:graphicFrame>
        <p:nvGraphicFramePr>
          <p:cNvPr id="2" name="表格 2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786130" y="2280920"/>
          <a:ext cx="4479290" cy="155321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014095"/>
                <a:gridCol w="1859280"/>
                <a:gridCol w="1605915"/>
              </a:tblGrid>
              <a:tr h="4470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情况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copyfrom-</a:t>
                      </a:r>
                      <a:r>
                        <a:rPr lang="en-US" altLang="zh-CN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path</a:t>
                      </a:r>
                      <a:endParaRPr lang="en-US" altLang="zh-CN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标记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</a:tr>
              <a:tr h="55308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正常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切分支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trunk@r1</a:t>
                      </a:r>
                      <a:endParaRPr lang="en-US" altLang="zh-CN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inferred=false</a:t>
                      </a:r>
                      <a:endParaRPr lang="en-US" altLang="zh-CN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5308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新建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路径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本身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inferred=true</a:t>
                      </a:r>
                      <a:endParaRPr lang="en-US" altLang="zh-CN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8465" y="2126615"/>
            <a:ext cx="6623050" cy="1914525"/>
          </a:xfrm>
          <a:prstGeom prst="rect">
            <a:avLst/>
          </a:prstGeom>
        </p:spPr>
      </p:pic>
      <p:graphicFrame>
        <p:nvGraphicFramePr>
          <p:cNvPr id="4" name="表格 3"/>
          <p:cNvGraphicFramePr/>
          <p:nvPr>
            <p:custDataLst>
              <p:tags r:id="rId5"/>
            </p:custDataLst>
          </p:nvPr>
        </p:nvGraphicFramePr>
        <p:xfrm>
          <a:off x="786130" y="4925695"/>
          <a:ext cx="9481185" cy="11518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0395"/>
                <a:gridCol w="3160395"/>
                <a:gridCol w="3160395"/>
              </a:tblGrid>
              <a:tr h="42989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优化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before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after</a:t>
                      </a:r>
                      <a:endParaRPr lang="en-US" altLang="zh-CN"/>
                    </a:p>
                  </a:txBody>
                  <a:tcPr/>
                </a:tc>
              </a:tr>
              <a:tr h="7219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SVN rev</a:t>
                      </a:r>
                      <a:r>
                        <a:rPr lang="zh-CN" altLang="en-US"/>
                        <a:t>查询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每张表单独查一次版本，总计</a:t>
                      </a: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191s</a:t>
                      </a:r>
                      <a:endParaRPr lang="en-US" altLang="zh-CN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一次递归查询全目录，缩减为</a:t>
                      </a: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0.2s</a:t>
                      </a:r>
                      <a:endParaRPr lang="en-US" altLang="zh-CN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Compare 全流程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130" y="1051560"/>
            <a:ext cx="9069705" cy="150050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no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400"/>
              <a:t>比较过程分为四层：</a:t>
            </a:r>
            <a:endParaRPr sz="1400"/>
          </a:p>
          <a:p>
            <a:pPr marL="285750" indent="-285750">
              <a:lnSpc>
                <a:spcPct val="118000"/>
              </a:lnSpc>
              <a:buFont typeface="Arial" panose="020B0604020202020204" pitchFamily="34" charset="0"/>
              <a:buChar char="•"/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400"/>
              <a:t>文件层：新增、删除、重命名、移动。</a:t>
            </a:r>
            <a:endParaRPr sz="1400"/>
          </a:p>
          <a:p>
            <a:pPr marL="285750" indent="-285750">
              <a:lnSpc>
                <a:spcPct val="118000"/>
              </a:lnSpc>
              <a:buFont typeface="Arial" panose="020B0604020202020204" pitchFamily="34" charset="0"/>
              <a:buChar char="•"/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400"/>
              <a:t>Sheet 层：新增 sheet、删除 sheet、表头变化。</a:t>
            </a:r>
            <a:endParaRPr sz="1400"/>
          </a:p>
          <a:p>
            <a:pPr marL="285750" indent="-285750">
              <a:lnSpc>
                <a:spcPct val="118000"/>
              </a:lnSpc>
              <a:buFont typeface="Arial" panose="020B0604020202020204" pitchFamily="34" charset="0"/>
              <a:buChar char="•"/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400"/>
              <a:t>行列层：主键匹配、行新增删除、字段变更。</a:t>
            </a:r>
            <a:endParaRPr sz="1400"/>
          </a:p>
          <a:p>
            <a:pPr marL="285750" indent="-285750">
              <a:lnSpc>
                <a:spcPct val="118000"/>
              </a:lnSpc>
              <a:buFont typeface="Arial" panose="020B0604020202020204" pitchFamily="34" charset="0"/>
              <a:buChar char="•"/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400"/>
              <a:t>语义层：公式、外键引用、ID 冲突和可合并性判断</a:t>
            </a:r>
            <a:endParaRPr sz="14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470" y="2475865"/>
            <a:ext cx="10943590" cy="13589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230" y="4070985"/>
            <a:ext cx="10803255" cy="136017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Compare 全流程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130" y="1224915"/>
            <a:ext cx="9069705" cy="150050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no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600"/>
              <a:t>比较过程分为四层：</a:t>
            </a:r>
            <a:endParaRPr sz="1600"/>
          </a:p>
          <a:p>
            <a:pPr marL="285750" indent="-285750">
              <a:lnSpc>
                <a:spcPct val="118000"/>
              </a:lnSpc>
              <a:buFont typeface="Arial" panose="020B0604020202020204" pitchFamily="34" charset="0"/>
              <a:buChar char="•"/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600"/>
              <a:t>文件层：新增、删除、重命名、移动。</a:t>
            </a:r>
            <a:endParaRPr sz="1600"/>
          </a:p>
          <a:p>
            <a:pPr marL="285750" indent="-285750">
              <a:lnSpc>
                <a:spcPct val="118000"/>
              </a:lnSpc>
              <a:buFont typeface="Arial" panose="020B0604020202020204" pitchFamily="34" charset="0"/>
              <a:buChar char="•"/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600"/>
              <a:t>Sheet 层：新增 sheet、删除 sheet、表头变化。</a:t>
            </a:r>
            <a:endParaRPr sz="1600"/>
          </a:p>
          <a:p>
            <a:pPr marL="285750" indent="-285750">
              <a:lnSpc>
                <a:spcPct val="118000"/>
              </a:lnSpc>
              <a:buFont typeface="Arial" panose="020B0604020202020204" pitchFamily="34" charset="0"/>
              <a:buChar char="•"/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600"/>
              <a:t>行列层：主键匹配、行新增删除、字段变更。</a:t>
            </a:r>
            <a:endParaRPr sz="1600"/>
          </a:p>
          <a:p>
            <a:pPr marL="285750" indent="-285750">
              <a:lnSpc>
                <a:spcPct val="118000"/>
              </a:lnSpc>
              <a:buFont typeface="Arial" panose="020B0604020202020204" pitchFamily="34" charset="0"/>
              <a:buChar char="•"/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600"/>
              <a:t>语义层：公式、外键引用、ID 冲突和可合并性判断</a:t>
            </a:r>
            <a:endParaRPr sz="1600"/>
          </a:p>
        </p:txBody>
      </p:sp>
      <p:sp>
        <p:nvSpPr>
          <p:cNvPr id="2" name="文本框 1"/>
          <p:cNvSpPr txBox="1"/>
          <p:nvPr/>
        </p:nvSpPr>
        <p:spPr>
          <a:xfrm>
            <a:off x="786130" y="2868930"/>
            <a:ext cx="2470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技术</a:t>
            </a:r>
            <a:r>
              <a:rPr lang="en-US" altLang="zh-CN"/>
              <a:t>:</a:t>
            </a:r>
            <a:endParaRPr lang="en-US" altLang="zh-CN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887095" y="3322320"/>
          <a:ext cx="5768340" cy="270700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529080"/>
                <a:gridCol w="2520315"/>
                <a:gridCol w="1718945"/>
              </a:tblGrid>
              <a:tr h="45529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解决</a:t>
                      </a:r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问题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效果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</a:tr>
              <a:tr h="56261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哈希索引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list.index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线性扫复杂度</a:t>
                      </a: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O(n)</a:t>
                      </a:r>
                      <a:endParaRPr lang="en-US" altLang="zh-CN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行定位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O(1)</a:t>
                      </a:r>
                      <a:endParaRPr lang="en-US" altLang="zh-CN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32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sparse diff</a:t>
                      </a:r>
                      <a:endParaRPr lang="en-US" altLang="zh-CN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全表物化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列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只保留变化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格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2610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numpy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向量化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解决逐格归一化的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问题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批量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进行比较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3245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公式、批注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回退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向量化无法理解公式、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批注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保证了正确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性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7132320" y="2871470"/>
            <a:ext cx="14344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优化：</a:t>
            </a:r>
            <a:endParaRPr lang="zh-CN" altLang="en-US"/>
          </a:p>
        </p:txBody>
      </p:sp>
      <p:graphicFrame>
        <p:nvGraphicFramePr>
          <p:cNvPr id="5" name="表格 4"/>
          <p:cNvGraphicFramePr/>
          <p:nvPr/>
        </p:nvGraphicFramePr>
        <p:xfrm>
          <a:off x="7239000" y="3322320"/>
          <a:ext cx="4772025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0675"/>
                <a:gridCol w="1590675"/>
                <a:gridCol w="1590675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指标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before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after</a:t>
                      </a:r>
                      <a:endParaRPr lang="en-US" altLang="zh-CN" sz="1600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大表</a:t>
                      </a:r>
                      <a:r>
                        <a:rPr lang="en-US" altLang="zh-CN" sz="1600"/>
                        <a:t>compare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平均</a:t>
                      </a:r>
                      <a:r>
                        <a:rPr lang="en-US" altLang="zh-CN" sz="1600"/>
                        <a:t>48s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平均</a:t>
                      </a:r>
                      <a:r>
                        <a:rPr lang="en-US" altLang="zh-CN" sz="1600"/>
                        <a:t>6.4</a:t>
                      </a:r>
                      <a:r>
                        <a:rPr lang="en-US" altLang="zh-CN" sz="1600"/>
                        <a:t>s</a:t>
                      </a:r>
                      <a:endParaRPr lang="en-US" altLang="zh-CN" sz="1600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10</a:t>
                      </a:r>
                      <a:r>
                        <a:rPr lang="zh-CN" altLang="en-US" sz="1600"/>
                        <a:t>万行</a:t>
                      </a:r>
                      <a:r>
                        <a:rPr lang="zh-CN" altLang="en-US" sz="1600"/>
                        <a:t>全链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卡死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10.4</a:t>
                      </a:r>
                      <a:r>
                        <a:rPr lang="en-US" altLang="zh-CN" sz="1600"/>
                        <a:t>s</a:t>
                      </a:r>
                      <a:endParaRPr lang="en-US" altLang="zh-CN" sz="1600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提交数据</a:t>
                      </a:r>
                      <a:r>
                        <a:rPr lang="zh-CN" altLang="en-US" sz="1600"/>
                        <a:t>量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46.4</a:t>
                      </a:r>
                      <a:r>
                        <a:rPr lang="en-US" altLang="zh-CN" sz="1600"/>
                        <a:t>MB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0.1MB</a:t>
                      </a:r>
                      <a:endParaRPr lang="en-US" altLang="zh-CN" sz="16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550" y="1776730"/>
            <a:ext cx="10746740" cy="3183255"/>
          </a:xfrm>
          <a:prstGeom prst="rect">
            <a:avLst/>
          </a:prstGeom>
        </p:spPr>
      </p:pic>
      <p:pic>
        <p:nvPicPr>
          <p:cNvPr id="16" name="图形 15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989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rPr lang="en-US" altLang="zh-CN"/>
              <a:t>diff</a:t>
            </a:r>
            <a:r>
              <a:rPr lang="zh-CN" altLang="en-US"/>
              <a:t>冲突</a:t>
            </a:r>
            <a:r>
              <a:rPr lang="zh-CN" altLang="en-US"/>
              <a:t>展示</a:t>
            </a:r>
            <a:endParaRPr lang="zh-CN" altLang="en-US"/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文本框 7"/>
          <p:cNvSpPr txBox="1"/>
          <p:nvPr/>
        </p:nvSpPr>
        <p:spPr>
          <a:xfrm>
            <a:off x="590550" y="1051560"/>
            <a:ext cx="3110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多表单元格</a:t>
            </a:r>
            <a:r>
              <a:rPr lang="zh-CN" altLang="en-US"/>
              <a:t>模式</a:t>
            </a:r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9665" y="1944370"/>
            <a:ext cx="6301105" cy="282765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7460" y="1944370"/>
            <a:ext cx="6867525" cy="308610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7460" y="2049780"/>
            <a:ext cx="6858000" cy="30956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形 15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989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rPr lang="en-US"/>
              <a:t>diff</a:t>
            </a:r>
            <a:r>
              <a:rPr lang="zh-CN" altLang="en-US"/>
              <a:t>冲突特殊</a:t>
            </a:r>
            <a:r>
              <a:rPr lang="zh-CN" altLang="en-US"/>
              <a:t>样例</a:t>
            </a:r>
            <a:endParaRPr lang="zh-CN" altLang="en-US"/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文本框 7"/>
          <p:cNvSpPr txBox="1"/>
          <p:nvPr/>
        </p:nvSpPr>
        <p:spPr>
          <a:xfrm>
            <a:off x="585470" y="1219200"/>
            <a:ext cx="44145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版本一删除行，版本二对行进行</a:t>
            </a:r>
            <a:r>
              <a:rPr lang="zh-CN" altLang="en-US"/>
              <a:t>修改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470" y="2398395"/>
            <a:ext cx="11217275" cy="161798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989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rPr lang="en-US">
                <a:sym typeface="+mn-ea"/>
              </a:rPr>
              <a:t>ID</a:t>
            </a:r>
            <a:r>
              <a:rPr lang="zh-CN" altLang="en-US">
                <a:sym typeface="+mn-ea"/>
              </a:rPr>
              <a:t>重映射与引用完整性</a:t>
            </a:r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1170432"/>
            <a:ext cx="10058400" cy="27940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400"/>
              <a:t>同主键多分支新增时，会出现主键冲突，对于后来者分配新的ID</a:t>
            </a:r>
            <a:endParaRPr sz="14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400"/>
              <a:t>随后同步更新引用列，避免只改主表 ID 却留下悬空外键，保证</a:t>
            </a:r>
            <a:r>
              <a:rPr sz="1400" b="1"/>
              <a:t>引用一致性</a:t>
            </a:r>
            <a:r>
              <a:rPr sz="1400"/>
              <a:t>。</a:t>
            </a:r>
            <a:endParaRPr sz="14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sz="14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sz="14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sz="14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sz="1600">
              <a:sym typeface="+mn-ea"/>
            </a:endParaRP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sz="1600">
              <a:sym typeface="+mn-ea"/>
            </a:endParaRP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en-US" altLang="zh-CN"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en-US" altLang="zh-CN" sz="16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470" y="2073910"/>
            <a:ext cx="11124565" cy="273367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形 15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989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rPr lang="en-US">
                <a:sym typeface="+mn-ea"/>
              </a:rPr>
              <a:t>ID</a:t>
            </a:r>
            <a:r>
              <a:rPr lang="zh-CN" altLang="en-US">
                <a:sym typeface="+mn-ea"/>
              </a:rPr>
              <a:t>重映射与引用完整性</a:t>
            </a:r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285" y="4734560"/>
            <a:ext cx="9662160" cy="87757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285" y="1029335"/>
            <a:ext cx="9616440" cy="342265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形 15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989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rPr lang="zh-CN" altLang="en-US">
                <a:sym typeface="+mn-ea"/>
              </a:rPr>
              <a:t>公式缓存</a:t>
            </a:r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1170432"/>
            <a:ext cx="10058400" cy="148780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zh-CN" altLang="en-US" sz="1400"/>
              <a:t>公式缓存保护</a:t>
            </a:r>
            <a:r>
              <a:rPr lang="en-US" altLang="zh-CN" sz="1400"/>
              <a:t>:</a:t>
            </a:r>
            <a:r>
              <a:rPr sz="1400">
                <a:sym typeface="+mn-ea"/>
              </a:rPr>
              <a:t>Excel 文件内部公式和缓存值分离，直接写盘容易造成缓存丢失或公式失效。</a:t>
            </a:r>
            <a:endParaRPr sz="1600">
              <a:sym typeface="+mn-ea"/>
            </a:endParaRP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sz="1600">
              <a:sym typeface="+mn-ea"/>
            </a:endParaRP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en-US" altLang="zh-CN"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en-US" altLang="zh-CN" sz="1600"/>
          </a:p>
        </p:txBody>
      </p:sp>
      <p:sp>
        <p:nvSpPr>
          <p:cNvPr id="13" name="矩形: 圆角 12"/>
          <p:cNvSpPr/>
          <p:nvPr>
            <p:custDataLst>
              <p:tags r:id="rId1"/>
            </p:custDataLst>
          </p:nvPr>
        </p:nvSpPr>
        <p:spPr>
          <a:xfrm>
            <a:off x="2147570" y="1668780"/>
            <a:ext cx="1885315" cy="599440"/>
          </a:xfrm>
          <a:prstGeom prst="roundRect">
            <a:avLst>
              <a:gd name="adj" fmla="val 330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>
                  <a:solidFill>
                    <a:schemeClr val="bg1"/>
                  </a:solidFill>
                </a:ln>
              </a:rPr>
              <a:t>&lt;f&gt;</a:t>
            </a:r>
            <a:r>
              <a:rPr lang="en-US" altLang="zh-CN" dirty="0">
                <a:ln>
                  <a:solidFill>
                    <a:schemeClr val="bg1"/>
                  </a:solidFill>
                </a:ln>
              </a:rPr>
              <a:t>formula&lt;/f&gt;   </a:t>
            </a:r>
            <a:endParaRPr lang="zh-CN" altLang="en-US" dirty="0">
              <a:ln>
                <a:solidFill>
                  <a:schemeClr val="bg1"/>
                </a:solidFill>
              </a:ln>
            </a:endParaRPr>
          </a:p>
          <a:p>
            <a:pPr algn="ctr"/>
            <a:r>
              <a:rPr lang="en-US" altLang="zh-CN" dirty="0">
                <a:ln>
                  <a:solidFill>
                    <a:schemeClr val="bg1"/>
                  </a:solidFill>
                </a:ln>
              </a:rPr>
              <a:t>&lt;v&gt;value&lt;/v&gt;           </a:t>
            </a:r>
            <a:endParaRPr lang="zh-CN" altLang="en-US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4" name="矩形: 圆角 12"/>
          <p:cNvSpPr/>
          <p:nvPr>
            <p:custDataLst>
              <p:tags r:id="rId2"/>
            </p:custDataLst>
          </p:nvPr>
        </p:nvSpPr>
        <p:spPr>
          <a:xfrm>
            <a:off x="4940935" y="1659890"/>
            <a:ext cx="1718945" cy="600075"/>
          </a:xfrm>
          <a:prstGeom prst="roundRect">
            <a:avLst>
              <a:gd name="adj" fmla="val 330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>
                  <a:solidFill>
                    <a:schemeClr val="bg1"/>
                  </a:solidFill>
                </a:ln>
              </a:rPr>
              <a:t>&lt;f&gt;</a:t>
            </a:r>
            <a:r>
              <a:rPr lang="en-US" altLang="zh-CN" dirty="0">
                <a:ln>
                  <a:solidFill>
                    <a:schemeClr val="bg1"/>
                  </a:solidFill>
                </a:ln>
              </a:rPr>
              <a:t>formula&lt;/f&gt;              </a:t>
            </a:r>
            <a:endParaRPr lang="zh-CN" altLang="en-US" dirty="0">
              <a:ln>
                <a:solidFill>
                  <a:schemeClr val="bg1"/>
                </a:solidFill>
              </a:ln>
            </a:endParaRPr>
          </a:p>
        </p:txBody>
      </p:sp>
      <p:cxnSp>
        <p:nvCxnSpPr>
          <p:cNvPr id="2" name="直接箭头连接符 1"/>
          <p:cNvCxnSpPr>
            <a:stCxn id="13" idx="3"/>
            <a:endCxn id="4" idx="1"/>
          </p:cNvCxnSpPr>
          <p:nvPr/>
        </p:nvCxnSpPr>
        <p:spPr>
          <a:xfrm flipV="1">
            <a:off x="4032885" y="1960245"/>
            <a:ext cx="908050" cy="82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786130" y="2835910"/>
            <a:ext cx="5636895" cy="1868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en-US" altLang="zh-CN" sz="1400">
                <a:sym typeface="+mn-ea"/>
              </a:rPr>
              <a:t>1</a:t>
            </a:r>
            <a:r>
              <a:rPr lang="zh-CN" altLang="en-US" sz="1400">
                <a:sym typeface="+mn-ea"/>
              </a:rPr>
              <a:t>、表中无公式则走最快速路径；</a:t>
            </a:r>
            <a:r>
              <a:rPr lang="en-US" altLang="zh-CN" sz="1400">
                <a:sym typeface="+mn-ea"/>
              </a:rPr>
              <a:t>(</a:t>
            </a:r>
            <a:r>
              <a:rPr lang="zh-CN" altLang="en-US" sz="1400">
                <a:sym typeface="+mn-ea"/>
              </a:rPr>
              <a:t>通过使用</a:t>
            </a:r>
            <a:r>
              <a:rPr lang="en-US" altLang="zh-CN" sz="1400" b="1">
                <a:sym typeface="+mn-ea"/>
              </a:rPr>
              <a:t>zip</a:t>
            </a:r>
            <a:r>
              <a:rPr lang="zh-CN" altLang="en-US" sz="1400" b="1">
                <a:sym typeface="+mn-ea"/>
              </a:rPr>
              <a:t>扫描</a:t>
            </a:r>
            <a:r>
              <a:rPr lang="en-US" altLang="zh-CN" sz="1400" b="1">
                <a:sym typeface="+mn-ea"/>
              </a:rPr>
              <a:t>excel</a:t>
            </a:r>
            <a:r>
              <a:rPr lang="zh-CN" altLang="en-US" sz="1400" b="1">
                <a:sym typeface="+mn-ea"/>
              </a:rPr>
              <a:t>文件底层的</a:t>
            </a:r>
            <a:r>
              <a:rPr lang="en-US" altLang="zh-CN" sz="1400" b="1">
                <a:sym typeface="+mn-ea"/>
              </a:rPr>
              <a:t>XML</a:t>
            </a:r>
            <a:r>
              <a:rPr lang="zh-CN" altLang="en-US" sz="1400" b="1">
                <a:sym typeface="+mn-ea"/>
              </a:rPr>
              <a:t>字节流，查找</a:t>
            </a:r>
            <a:r>
              <a:rPr lang="en-US" altLang="zh-CN" sz="1400" b="1">
                <a:sym typeface="+mn-ea"/>
              </a:rPr>
              <a:t>&lt;f&gt;</a:t>
            </a:r>
            <a:r>
              <a:rPr lang="zh-CN" altLang="en-US" sz="1400" b="1">
                <a:sym typeface="+mn-ea"/>
              </a:rPr>
              <a:t>公式标签</a:t>
            </a:r>
            <a:r>
              <a:rPr lang="zh-CN" altLang="en-US" sz="1400">
                <a:sym typeface="+mn-ea"/>
              </a:rPr>
              <a:t>判断表格中是否存在公式</a:t>
            </a:r>
            <a:r>
              <a:rPr lang="en-US" altLang="zh-CN" sz="1400">
                <a:sym typeface="+mn-ea"/>
              </a:rPr>
              <a:t>)</a:t>
            </a:r>
            <a:endParaRPr lang="zh-CN" altLang="en-US" sz="14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en-US" altLang="zh-CN" sz="1400">
                <a:sym typeface="+mn-ea"/>
              </a:rPr>
              <a:t>2</a:t>
            </a:r>
            <a:r>
              <a:rPr lang="zh-CN" altLang="en-US" sz="1400">
                <a:sym typeface="+mn-ea"/>
              </a:rPr>
              <a:t>、将保存后文件读回，并与保存前快照做比较，若保存前后出现缓存值消失，则为缓存丢失，标记为</a:t>
            </a:r>
            <a:r>
              <a:rPr lang="en-US" altLang="zh-CN" sz="1400">
                <a:sym typeface="+mn-ea"/>
              </a:rPr>
              <a:t>lost</a:t>
            </a:r>
            <a:r>
              <a:rPr lang="zh-CN" altLang="en-US" sz="1400">
                <a:sym typeface="+mn-ea"/>
              </a:rPr>
              <a:t>；若前后值不一致，则属于正常的缓存更新，标记为</a:t>
            </a:r>
            <a:r>
              <a:rPr lang="en-US" altLang="zh-CN" sz="1400">
                <a:sym typeface="+mn-ea"/>
              </a:rPr>
              <a:t>changed</a:t>
            </a:r>
            <a:r>
              <a:rPr lang="zh-CN" altLang="en-US" sz="1400">
                <a:sym typeface="+mn-ea"/>
              </a:rPr>
              <a:t>；</a:t>
            </a:r>
            <a:endParaRPr lang="zh-CN" altLang="en-US" sz="14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en-US" altLang="zh-CN" sz="1400">
                <a:sym typeface="+mn-ea"/>
              </a:rPr>
              <a:t>3</a:t>
            </a:r>
            <a:r>
              <a:rPr lang="zh-CN" altLang="en-US" sz="1400">
                <a:sym typeface="+mn-ea"/>
              </a:rPr>
              <a:t>、对于</a:t>
            </a:r>
            <a:r>
              <a:rPr lang="en-US" altLang="zh-CN" sz="1400">
                <a:sym typeface="+mn-ea"/>
              </a:rPr>
              <a:t>changed</a:t>
            </a:r>
            <a:r>
              <a:rPr lang="zh-CN" altLang="en-US" sz="1400">
                <a:sym typeface="+mn-ea"/>
              </a:rPr>
              <a:t>情况，无需修复；</a:t>
            </a:r>
            <a:endParaRPr lang="zh-CN" altLang="en-US" sz="14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en-US" altLang="zh-CN" sz="1400">
                <a:sym typeface="+mn-ea"/>
              </a:rPr>
              <a:t>4</a:t>
            </a:r>
            <a:r>
              <a:rPr lang="zh-CN" altLang="en-US" sz="1400">
                <a:sym typeface="+mn-ea"/>
              </a:rPr>
              <a:t>、对于</a:t>
            </a:r>
            <a:r>
              <a:rPr lang="en-US" altLang="zh-CN" sz="1400">
                <a:sym typeface="+mn-ea"/>
              </a:rPr>
              <a:t>lost</a:t>
            </a:r>
            <a:r>
              <a:rPr lang="zh-CN" altLang="en-US" sz="1400">
                <a:sym typeface="+mn-ea"/>
              </a:rPr>
              <a:t>情况，调用</a:t>
            </a:r>
            <a:r>
              <a:rPr lang="en-US" altLang="zh-CN" sz="1400">
                <a:sym typeface="+mn-ea"/>
              </a:rPr>
              <a:t>LibreOffice</a:t>
            </a:r>
            <a:r>
              <a:rPr lang="zh-CN" altLang="en-US" sz="1400">
                <a:sym typeface="+mn-ea"/>
              </a:rPr>
              <a:t>对文件进行重算，进行再度校验。</a:t>
            </a:r>
            <a:endParaRPr lang="en-US" altLang="zh-CN" sz="1400"/>
          </a:p>
        </p:txBody>
      </p:sp>
      <p:sp>
        <p:nvSpPr>
          <p:cNvPr id="5" name="文本框 4"/>
          <p:cNvSpPr txBox="1"/>
          <p:nvPr/>
        </p:nvSpPr>
        <p:spPr>
          <a:xfrm>
            <a:off x="6976110" y="2835910"/>
            <a:ext cx="4154805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kumimoji="1" lang="zh-CN" altLang="en-US" sz="14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设置保护</a:t>
            </a:r>
            <a:r>
              <a:rPr kumimoji="1" lang="en-US" altLang="zh-CN" sz="14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:</a:t>
            </a:r>
            <a:endParaRPr kumimoji="1" lang="en-US" altLang="zh-CN" sz="1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60s</a:t>
            </a:r>
            <a:r>
              <a:rPr kumimoji="1" lang="zh-CN" altLang="en-US" sz="14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超时上限，避免单文件卡死全流程；</a:t>
            </a:r>
            <a:endParaRPr kumimoji="1"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文件添加互斥锁，保护文件不被损坏；</a:t>
            </a:r>
            <a:endParaRPr kumimoji="1"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重算结果先输出到临时目录，再替换掉源文件</a:t>
            </a:r>
            <a:endParaRPr kumimoji="1" lang="zh-CN" altLang="en-US" sz="1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14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形 15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/>
              <a:t>       </a:t>
            </a:r>
            <a:r>
              <a:rPr lang="en-US" altLang="zh-CN" b="1"/>
              <a:t> </a:t>
            </a:r>
            <a:r>
              <a:rPr lang="zh-CN" b="1"/>
              <a:t>公式缓存</a:t>
            </a:r>
            <a:endParaRPr lang="en-US" altLang="zh-CN" b="1"/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130" y="1170305"/>
            <a:ext cx="11027410" cy="257873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公式单元格冲突解决：</a:t>
            </a:r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对于公式单元格，系统会将其识别为公式列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(diff_type=formula)</a:t>
            </a:r>
            <a:endParaRPr kumimoji="1" lang="en-US" altLang="zh-CN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公式写法一致但缓存值不一致，视为不冲突，如果公式引用的输入值发生变化，会有标记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formula_changed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，调用内置求值器预览重算结果进行展示；</a:t>
            </a:r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公式写法不一致则视为公式冲突，这时在冲突显示界面会显示单元格原有的公式，供用户比对选择。</a:t>
            </a:r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选择写回</a:t>
            </a:r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用户选择公式版本以后，系统回打上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formula_resolved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标记，在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apply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写回阶段根据标记将用户选择的公式文本写回单元格。</a:t>
            </a:r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en-US" altLang="zh-CN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3429000"/>
            <a:ext cx="10937875" cy="67881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470" y="4565015"/>
            <a:ext cx="6006465" cy="91376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形 15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/>
              <a:t>       </a:t>
            </a:r>
            <a:r>
              <a:rPr lang="en-US" altLang="zh-CN" b="1"/>
              <a:t>fast-apply</a:t>
            </a:r>
            <a:endParaRPr lang="en-US" altLang="zh-CN" b="1"/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130" y="1170305"/>
            <a:ext cx="11027410" cy="159385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kumimoji="1" lang="zh-CN" altLang="en-US" sz="16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对于大数据量表格，</a:t>
            </a:r>
            <a:r>
              <a:rPr kumimoji="1" lang="en-US" altLang="zh-CN" sz="16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fast_apply</a:t>
            </a:r>
            <a:r>
              <a:rPr kumimoji="1" lang="zh-CN" altLang="en-US" sz="16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快路径</a:t>
            </a:r>
            <a:r>
              <a:rPr kumimoji="1" lang="en-US" altLang="zh-CN" sz="16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+zip+XML</a:t>
            </a:r>
            <a:r>
              <a:rPr kumimoji="1" lang="zh-CN" altLang="en-US" sz="16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的形式直接修改目标单元格，不触碰公式单元格，不会破坏公式缓存。</a:t>
            </a:r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Merge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进行到最后是合并结果写回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xlsx,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用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ope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npyxl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消耗时间太长</a:t>
            </a:r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xlsx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本质是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zip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包，用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zipfile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打开源文件，只读需要修改的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sheet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的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XML,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用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lxml/ElementTree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定位到具体单元格，最后将改完的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XML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放回新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zip</a:t>
            </a:r>
            <a:endParaRPr kumimoji="1" lang="en-US" altLang="zh-CN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en-US" altLang="zh-CN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786130" y="2942590"/>
          <a:ext cx="8533765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165"/>
                <a:gridCol w="2844165"/>
                <a:gridCol w="28441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before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after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apply</a:t>
                      </a:r>
                      <a:r>
                        <a:rPr lang="zh-CN" altLang="en-US"/>
                        <a:t>处理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19.6s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4.3</a:t>
                      </a:r>
                      <a:r>
                        <a:rPr lang="en-US" altLang="zh-CN"/>
                        <a:t>s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序列化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4.9</a:t>
                      </a:r>
                      <a:r>
                        <a:rPr lang="en-US" altLang="zh-CN"/>
                        <a:t>s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0.3s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AI 辅助冲突处理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130" y="1170305"/>
            <a:ext cx="10407015" cy="337248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400"/>
              <a:t>AI 只提供冲突建议，其完整的建议链路为：</a:t>
            </a:r>
            <a:endParaRPr sz="14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400">
                <a:sym typeface="+mn-ea"/>
              </a:rPr>
              <a:t>点击AI建议前端发送请求-&gt;调用线程池进行运行-&gt;根据LLM输入拼成prompt发送给模型-&gt;LLM返回Json输出-&gt;防幻觉校验</a:t>
            </a:r>
            <a:endParaRPr sz="1400">
              <a:sym typeface="+mn-ea"/>
            </a:endParaRP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en-US" altLang="zh-CN"/>
              <a:t>AI</a:t>
            </a:r>
            <a:r>
              <a:rPr lang="zh-CN" altLang="en-US"/>
              <a:t>建议</a:t>
            </a:r>
            <a:r>
              <a:rPr lang="en-US" altLang="zh-CN"/>
              <a:t> </a:t>
            </a:r>
            <a:r>
              <a:rPr lang="zh-CN" altLang="en-US"/>
              <a:t>相关的因子</a:t>
            </a:r>
            <a:r>
              <a:rPr lang="en-US" altLang="zh-CN"/>
              <a:t>:</a:t>
            </a:r>
            <a:endParaRPr lang="zh-CN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400"/>
              <a:t>输出</a:t>
            </a:r>
            <a:r>
              <a:rPr lang="en-US" sz="1400"/>
              <a:t>JSON</a:t>
            </a:r>
            <a:r>
              <a:rPr lang="zh-CN" altLang="en-US" sz="1400"/>
              <a:t>：</a:t>
            </a:r>
            <a:r>
              <a:rPr sz="1400"/>
              <a:t>建议保留来源、理由和置信度，最终由用户确认。</a:t>
            </a:r>
            <a:endParaRPr sz="14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sz="1400"/>
          </a:p>
        </p:txBody>
      </p:sp>
      <p:graphicFrame>
        <p:nvGraphicFramePr>
          <p:cNvPr id="2" name="表格 1"/>
          <p:cNvGraphicFramePr/>
          <p:nvPr/>
        </p:nvGraphicFramePr>
        <p:xfrm>
          <a:off x="3083560" y="1995170"/>
          <a:ext cx="4779010" cy="1865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5225"/>
                <a:gridCol w="2343785"/>
              </a:tblGrid>
              <a:tr h="34163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因子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作用</a:t>
                      </a:r>
                      <a:endParaRPr lang="zh-CN" altLang="en-US" sz="1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SVN rev/SVN date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版本越新倾向于采纳</a:t>
                      </a:r>
                      <a:endParaRPr lang="zh-CN" altLang="en-US" sz="1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列名语义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判断值是否合理</a:t>
                      </a:r>
                      <a:endParaRPr lang="zh-CN" altLang="en-US" sz="1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单元格值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判断值是否异常</a:t>
                      </a:r>
                      <a:endParaRPr lang="zh-CN" altLang="en-US" sz="1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基准值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提供</a:t>
                      </a:r>
                      <a:r>
                        <a:rPr lang="en-US" altLang="zh-CN" sz="1400"/>
                        <a:t>base</a:t>
                      </a:r>
                      <a:r>
                        <a:rPr lang="zh-CN" altLang="en-US" sz="1400"/>
                        <a:t>值供参考</a:t>
                      </a:r>
                      <a:endParaRPr lang="zh-CN" altLang="en-US" sz="14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形 15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989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AI 辅助冲突处理</a:t>
            </a:r>
            <a:r>
              <a:rPr lang="en-US"/>
              <a:t>:</a:t>
            </a:r>
            <a:r>
              <a:rPr lang="zh-CN" altLang="en-US"/>
              <a:t>置信度</a:t>
            </a:r>
            <a:endParaRPr lang="zh-CN" altLang="en-US"/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文本框 2"/>
          <p:cNvSpPr txBox="1"/>
          <p:nvPr/>
        </p:nvSpPr>
        <p:spPr>
          <a:xfrm>
            <a:off x="724535" y="1219200"/>
            <a:ext cx="5612765" cy="41313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400">
                <a:solidFill>
                  <a:srgbClr val="262626"/>
                </a:solidFill>
                <a:latin typeface="微软雅黑" panose="020B0503020204020204" pitchFamily="34" charset="-122"/>
                <a:sym typeface="+mn-ea"/>
              </a:rPr>
              <a:t>置信度结合规则一致性、字段风险、冲突复杂度和模型解释质量。</a:t>
            </a:r>
            <a:endParaRPr sz="1400">
              <a:solidFill>
                <a:srgbClr val="262626"/>
              </a:solidFill>
              <a:latin typeface="微软雅黑" panose="020B0503020204020204" pitchFamily="34" charset="-122"/>
            </a:endParaRPr>
          </a:p>
          <a:p>
            <a:endParaRPr sz="1400">
              <a:solidFill>
                <a:srgbClr val="262626"/>
              </a:solidFill>
              <a:latin typeface="微软雅黑" panose="020B0503020204020204" pitchFamily="34" charset="-122"/>
            </a:endParaRPr>
          </a:p>
          <a:p>
            <a:r>
              <a:rPr sz="1400">
                <a:solidFill>
                  <a:srgbClr val="262626"/>
                </a:solidFill>
                <a:latin typeface="微软雅黑" panose="020B0503020204020204" pitchFamily="34" charset="-122"/>
              </a:rPr>
              <a:t>置信度相关的因子:</a:t>
            </a:r>
            <a:endParaRPr sz="1400">
              <a:solidFill>
                <a:srgbClr val="262626"/>
              </a:solidFill>
              <a:latin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>
                <a:solidFill>
                  <a:srgbClr val="262626"/>
                </a:solidFill>
                <a:latin typeface="微软雅黑" panose="020B0503020204020204" pitchFamily="34" charset="-122"/>
                <a:sym typeface="+mn-ea"/>
              </a:rPr>
              <a:t>LLM自评因子llm_conf:LLM自行评价得出指标；</a:t>
            </a:r>
            <a:endParaRPr sz="1400">
              <a:solidFill>
                <a:srgbClr val="262626"/>
              </a:solidFill>
              <a:latin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>
                <a:solidFill>
                  <a:srgbClr val="262626"/>
                </a:solidFill>
                <a:latin typeface="微软雅黑" panose="020B0503020204020204" pitchFamily="34" charset="-122"/>
                <a:sym typeface="+mn-ea"/>
              </a:rPr>
              <a:t>修订号领先度因子rev_conf:版本越领先取值越高；</a:t>
            </a:r>
            <a:endParaRPr sz="1400">
              <a:solidFill>
                <a:srgbClr val="262626"/>
              </a:solidFill>
              <a:latin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>
                <a:solidFill>
                  <a:srgbClr val="262626"/>
                </a:solidFill>
                <a:latin typeface="微软雅黑" panose="020B0503020204020204" pitchFamily="34" charset="-122"/>
                <a:sym typeface="+mn-ea"/>
              </a:rPr>
              <a:t>值域合理性因子value_conf:取值越合理分支越高</a:t>
            </a:r>
            <a:endParaRPr sz="1400">
              <a:solidFill>
                <a:srgbClr val="262626"/>
              </a:solidFill>
              <a:latin typeface="微软雅黑" panose="020B0503020204020204" pitchFamily="34" charset="-122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sz="1400">
              <a:solidFill>
                <a:srgbClr val="262626"/>
              </a:solidFill>
              <a:latin typeface="微软雅黑" panose="020B0503020204020204" pitchFamily="34" charset="-122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 sz="1400">
                <a:solidFill>
                  <a:srgbClr val="262626"/>
                </a:solidFill>
                <a:highlight>
                  <a:srgbClr val="FFFF00"/>
                </a:highlight>
                <a:latin typeface="微软雅黑" panose="020B0503020204020204" pitchFamily="34" charset="-122"/>
                <a:sym typeface="+mn-ea"/>
              </a:rPr>
              <a:t>final = 0.60·llm_conf + 0.25·rev_conf + 0.15·value_conf</a:t>
            </a:r>
            <a:endParaRPr lang="en-US" altLang="zh-CN" sz="1400">
              <a:solidFill>
                <a:srgbClr val="262626"/>
              </a:solidFill>
              <a:highlight>
                <a:srgbClr val="FFFF00"/>
              </a:highlight>
              <a:latin typeface="微软雅黑" panose="020B0503020204020204" pitchFamily="34" charset="-122"/>
              <a:sym typeface="+mn-ea"/>
            </a:endParaRPr>
          </a:p>
          <a:p>
            <a:endParaRPr lang="zh-CN" altLang="en-US" sz="1400" b="1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886460" y="3429000"/>
          <a:ext cx="6413500" cy="230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3375"/>
                <a:gridCol w="1603375"/>
                <a:gridCol w="1603375"/>
                <a:gridCol w="1603375"/>
              </a:tblGrid>
              <a:tr h="57531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冲突格数量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逐格串行</a:t>
                      </a:r>
                      <a:r>
                        <a:rPr lang="zh-CN" altLang="en-US" sz="1400"/>
                        <a:t>时间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逐格并行</a:t>
                      </a:r>
                      <a:r>
                        <a:rPr lang="zh-CN" altLang="en-US" sz="1400"/>
                        <a:t>时间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批量单次</a:t>
                      </a:r>
                      <a:r>
                        <a:rPr lang="zh-CN" altLang="en-US" sz="1400"/>
                        <a:t>时间</a:t>
                      </a:r>
                      <a:endParaRPr lang="zh-CN" altLang="en-US" sz="1400"/>
                    </a:p>
                  </a:txBody>
                  <a:tcPr/>
                </a:tc>
              </a:tr>
              <a:tr h="57531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2642.6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744.3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1312.3</a:t>
                      </a:r>
                      <a:endParaRPr lang="en-US" altLang="zh-CN"/>
                    </a:p>
                  </a:txBody>
                  <a:tcPr/>
                </a:tc>
              </a:tr>
              <a:tr h="57531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6442.2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1071.4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1312.1</a:t>
                      </a:r>
                      <a:endParaRPr lang="en-US" altLang="zh-CN"/>
                    </a:p>
                  </a:txBody>
                  <a:tcPr/>
                </a:tc>
              </a:tr>
              <a:tr h="57531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10673.8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1656.5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1312.0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6836410" y="1273810"/>
            <a:ext cx="4697095" cy="18764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sz="1400">
                <a:solidFill>
                  <a:srgbClr val="262626"/>
                </a:solidFill>
                <a:latin typeface="微软雅黑" panose="020B0503020204020204" pitchFamily="34" charset="-122"/>
                <a:sym typeface="+mn-ea"/>
              </a:rPr>
              <a:t>AI建议并行操作使用的技术：</a:t>
            </a:r>
            <a:endParaRPr sz="1400">
              <a:solidFill>
                <a:srgbClr val="262626"/>
              </a:solidFill>
              <a:latin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>
                <a:solidFill>
                  <a:srgbClr val="262626"/>
                </a:solidFill>
                <a:latin typeface="微软雅黑" panose="020B0503020204020204" pitchFamily="34" charset="-122"/>
                <a:sym typeface="+mn-ea"/>
              </a:rPr>
              <a:t>缓存优先：缓存键由表名、sheet名、列名和版本哈希组成，命中且未过期则返回；</a:t>
            </a:r>
            <a:endParaRPr sz="1400">
              <a:solidFill>
                <a:srgbClr val="262626"/>
              </a:solidFill>
              <a:latin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>
                <a:solidFill>
                  <a:srgbClr val="262626"/>
                </a:solidFill>
                <a:latin typeface="微软雅黑" panose="020B0503020204020204" pitchFamily="34" charset="-122"/>
                <a:sym typeface="+mn-ea"/>
              </a:rPr>
              <a:t>批量LLM：将为缓存的单元格拼接进prompt，让LLM一次调用返回json，根据index返回位置；</a:t>
            </a:r>
            <a:endParaRPr sz="1400">
              <a:solidFill>
                <a:srgbClr val="262626"/>
              </a:solidFill>
              <a:latin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>
                <a:solidFill>
                  <a:srgbClr val="262626"/>
                </a:solidFill>
                <a:latin typeface="微软雅黑" panose="020B0503020204020204" pitchFamily="34" charset="-122"/>
                <a:sym typeface="+mn-ea"/>
              </a:rPr>
              <a:t>回退并行：在批量操作失败的情况下用线程池并发逐格调用。</a:t>
            </a:r>
            <a:endParaRPr sz="1400">
              <a:solidFill>
                <a:srgbClr val="262626"/>
              </a:solidFill>
              <a:latin typeface="微软雅黑" panose="020B0503020204020204" pitchFamily="34" charset="-122"/>
            </a:endParaRPr>
          </a:p>
          <a:p>
            <a:endParaRPr lang="zh-CN" alt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989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AI 辅助冲突处理</a:t>
            </a:r>
            <a:endParaRPr lang="zh-CN" altLang="en-US"/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470" y="1120140"/>
            <a:ext cx="10902950" cy="19399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470" y="3653155"/>
            <a:ext cx="11376660" cy="123761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1920" y="1299845"/>
            <a:ext cx="6867525" cy="42576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graphicFrame>
        <p:nvGraphicFramePr>
          <p:cNvPr id="59" name="表格 2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514350" y="2068830"/>
          <a:ext cx="10299065" cy="395224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553585"/>
                <a:gridCol w="5745480"/>
              </a:tblGrid>
              <a:tr h="52387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优化</a:t>
                      </a:r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受益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calamine Rust 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读引擎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222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次打开表格时长</a:t>
                      </a:r>
                      <a:r>
                        <a:rPr lang="zh-CN" altLang="en-US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</a:t>
                      </a:r>
                      <a:r>
                        <a:rPr lang="en-US" altLang="zh-CN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17.5s</a:t>
                      </a:r>
                      <a:r>
                        <a:rPr lang="zh-CN" altLang="en-US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优化到</a:t>
                      </a:r>
                      <a:r>
                        <a:rPr lang="en-US" altLang="zh-CN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0.8s</a:t>
                      </a:r>
                      <a:endParaRPr lang="en-US" altLang="zh-CN" sz="1200" b="1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64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svn info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批量预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填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192s-&gt;0.2s</a:t>
                      </a:r>
                      <a:endParaRPr lang="en-US" altLang="zh-CN" sz="1200" b="1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8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ProcessPool/ThreadPool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并行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对于</a:t>
                      </a: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个表格时长</a:t>
                      </a:r>
                      <a:r>
                        <a:rPr lang="zh-CN" altLang="en-US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</a:t>
                      </a:r>
                      <a:r>
                        <a:rPr lang="en-US" altLang="zh-CN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3.69s</a:t>
                      </a:r>
                      <a:r>
                        <a:rPr lang="zh-CN" altLang="en-US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优化到</a:t>
                      </a:r>
                      <a:r>
                        <a:rPr lang="en-US" altLang="zh-CN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1.84s</a:t>
                      </a:r>
                      <a:endParaRPr lang="en-US" altLang="zh-CN" sz="1200" b="1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1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fast_apply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快路径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25MB的</a:t>
                      </a: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sheet XML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序列化从</a:t>
                      </a:r>
                      <a:r>
                        <a:rPr lang="en-US" altLang="zh-CN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3.4s</a:t>
                      </a:r>
                      <a:r>
                        <a:rPr lang="zh-CN" altLang="en-US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优化到</a:t>
                      </a:r>
                      <a:r>
                        <a:rPr lang="en-US" altLang="zh-CN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0.98s</a:t>
                      </a:r>
                      <a:endParaRPr lang="en-US" altLang="zh-CN" sz="1200" b="1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165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未变更表跳过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可以跳过占大多数的表格体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0" name="Rectangle 59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85216" y="137160"/>
            <a:ext cx="10607040" cy="38989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rPr lang="zh-CN"/>
              <a:t>大表格比对</a:t>
            </a:r>
            <a:r>
              <a:rPr lang="zh-CN"/>
              <a:t>性能</a:t>
            </a:r>
            <a:endParaRPr lang="zh-CN"/>
          </a:p>
        </p:txBody>
      </p:sp>
      <p:sp>
        <p:nvSpPr>
          <p:cNvPr id="63" name="Rectangle 62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86384" y="1051687"/>
            <a:ext cx="10058400" cy="108775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400"/>
              <a:t>Compare 和写回阶段按文件</a:t>
            </a:r>
            <a:r>
              <a:rPr lang="zh-CN" sz="1400"/>
              <a:t>、</a:t>
            </a:r>
            <a:r>
              <a:rPr sz="1400"/>
              <a:t>Sheet 粒度并行。</a:t>
            </a:r>
            <a:endParaRPr sz="14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400"/>
              <a:t>CPU 密集比较使用 ProcessPool，I/O 和解析任务使用 ThreadPool。</a:t>
            </a:r>
            <a:endParaRPr sz="14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400"/>
              <a:t>worker上限跟 CPU、文件数和内存占用绑定，避免并行越多越慢。</a:t>
            </a:r>
            <a:endParaRPr sz="14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400"/>
              <a:t>fast_apply让无冲突、低风险文件快速落盘。</a:t>
            </a:r>
            <a:endParaRPr sz="1400"/>
          </a:p>
        </p:txBody>
      </p:sp>
      <p:graphicFrame>
        <p:nvGraphicFramePr>
          <p:cNvPr id="2" name="表格 2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641350" y="2195830"/>
          <a:ext cx="10299065" cy="395224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553585"/>
                <a:gridCol w="5745480"/>
              </a:tblGrid>
              <a:tr h="52387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优化</a:t>
                      </a:r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受益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calamine Rust 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读引擎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222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次）打开表格时长</a:t>
                      </a:r>
                      <a:r>
                        <a:rPr lang="zh-CN" altLang="en-US" sz="12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17.5s</a:t>
                      </a:r>
                      <a:r>
                        <a:rPr lang="zh-CN" altLang="en-US" sz="12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优化到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0.8s</a:t>
                      </a:r>
                      <a:endParaRPr lang="en-US" altLang="zh-CN" sz="12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64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svn info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批量预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填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191s-&gt;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0.2s</a:t>
                      </a:r>
                      <a:endParaRPr lang="en-US" altLang="zh-CN" sz="12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8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ProcessPool/ThreadPool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并行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对于</a:t>
                      </a: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个表格时长</a:t>
                      </a:r>
                      <a:r>
                        <a:rPr lang="zh-CN" altLang="en-US" sz="12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3.69s</a:t>
                      </a:r>
                      <a:r>
                        <a:rPr lang="zh-CN" altLang="en-US" sz="12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优化到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1.84s</a:t>
                      </a:r>
                      <a:endParaRPr lang="en-US" altLang="zh-CN" sz="12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1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fast_apply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快路径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25MB的</a:t>
                      </a: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sheet XML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序列化从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3.4s</a:t>
                      </a:r>
                      <a:r>
                        <a:rPr lang="zh-CN" altLang="en-US" sz="12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优化到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0.98s</a:t>
                      </a:r>
                      <a:endParaRPr lang="en-US" altLang="zh-CN" sz="12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165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未变更表跳过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可以跳过占大多数的表格体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0D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0" y="2680382"/>
            <a:ext cx="12191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</a:t>
            </a:r>
            <a:endParaRPr kumimoji="1" lang="zh-CN" altLang="en-US" sz="6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形 1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97313" y="3723592"/>
            <a:ext cx="1197375" cy="20097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5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6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7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8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9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10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11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12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13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14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15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16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17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18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19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20.xml><?xml version="1.0" encoding="utf-8"?>
<p:tagLst xmlns:p="http://schemas.openxmlformats.org/presentationml/2006/main">
  <p:tag name="KSO_WM_DIAGRAM_VIRTUALLY_FRAME" val="{&quot;height&quot;:97.2,&quot;left&quot;:54,&quot;top&quot;:118.8,&quot;width&quot;:846}"/>
</p:tagLst>
</file>

<file path=ppt/tags/tag21.xml><?xml version="1.0" encoding="utf-8"?>
<p:tagLst xmlns:p="http://schemas.openxmlformats.org/presentationml/2006/main">
  <p:tag name="KSO_WM_DIAGRAM_VIRTUALLY_FRAME" val="{&quot;height&quot;:97.2,&quot;left&quot;:54,&quot;top&quot;:118.8,&quot;width&quot;:846}"/>
</p:tagLst>
</file>

<file path=ppt/tags/tag22.xml><?xml version="1.0" encoding="utf-8"?>
<p:tagLst xmlns:p="http://schemas.openxmlformats.org/presentationml/2006/main">
  <p:tag name="KSO_WM_DIAGRAM_VIRTUALLY_FRAME" val="{&quot;height&quot;:97.2,&quot;left&quot;:54,&quot;top&quot;:118.8,&quot;width&quot;:846}"/>
</p:tagLst>
</file>

<file path=ppt/tags/tag23.xml><?xml version="1.0" encoding="utf-8"?>
<p:tagLst xmlns:p="http://schemas.openxmlformats.org/presentationml/2006/main">
  <p:tag name="KSO_WM_DIAGRAM_VIRTUALLY_FRAME" val="{&quot;height&quot;:97.2,&quot;left&quot;:54,&quot;top&quot;:118.8,&quot;width&quot;:846}"/>
</p:tagLst>
</file>

<file path=ppt/tags/tag24.xml><?xml version="1.0" encoding="utf-8"?>
<p:tagLst xmlns:p="http://schemas.openxmlformats.org/presentationml/2006/main">
  <p:tag name="KSO_WM_DIAGRAM_VIRTUALLY_FRAME" val="{&quot;height&quot;:97.2,&quot;left&quot;:54,&quot;top&quot;:118.8,&quot;width&quot;:846}"/>
</p:tagLst>
</file>

<file path=ppt/tags/tag25.xml><?xml version="1.0" encoding="utf-8"?>
<p:tagLst xmlns:p="http://schemas.openxmlformats.org/presentationml/2006/main">
  <p:tag name="KSO_WM_DIAGRAM_VIRTUALLY_FRAME" val="{&quot;height&quot;:97.2,&quot;left&quot;:54,&quot;top&quot;:118.8,&quot;width&quot;:846}"/>
</p:tagLst>
</file>

<file path=ppt/tags/tag26.xml><?xml version="1.0" encoding="utf-8"?>
<p:tagLst xmlns:p="http://schemas.openxmlformats.org/presentationml/2006/main">
  <p:tag name="KSO_WM_DIAGRAM_VIRTUALLY_FRAME" val="{&quot;height&quot;:97.2,&quot;left&quot;:54,&quot;top&quot;:118.8,&quot;width&quot;:846}"/>
</p:tagLst>
</file>

<file path=ppt/tags/tag27.xml><?xml version="1.0" encoding="utf-8"?>
<p:tagLst xmlns:p="http://schemas.openxmlformats.org/presentationml/2006/main">
  <p:tag name="KSO_WM_DIAGRAM_VIRTUALLY_FRAME" val="{&quot;height&quot;:97.2,&quot;left&quot;:54,&quot;top&quot;:118.8,&quot;width&quot;:846}"/>
</p:tagLst>
</file>

<file path=ppt/tags/tag28.xml><?xml version="1.0" encoding="utf-8"?>
<p:tagLst xmlns:p="http://schemas.openxmlformats.org/presentationml/2006/main">
  <p:tag name="KSO_WM_DIAGRAM_VIRTUALLY_FRAME" val="{&quot;height&quot;:97.2,&quot;left&quot;:54,&quot;top&quot;:118.8,&quot;width&quot;:846}"/>
</p:tagLst>
</file>

<file path=ppt/tags/tag29.xml><?xml version="1.0" encoding="utf-8"?>
<p:tagLst xmlns:p="http://schemas.openxmlformats.org/presentationml/2006/main">
  <p:tag name="KSO_WM_DIAGRAM_VIRTUALLY_FRAME" val="{&quot;height&quot;:97.2,&quot;left&quot;:54,&quot;top&quot;:118.8,&quot;width&quot;:846}"/>
</p:tagLst>
</file>

<file path=ppt/tags/tag30.xml><?xml version="1.0" encoding="utf-8"?>
<p:tagLst xmlns:p="http://schemas.openxmlformats.org/presentationml/2006/main">
  <p:tag name="KSO_WM_DIAGRAM_VIRTUALLY_FRAME" val="{&quot;height&quot;:97.2,&quot;left&quot;:54,&quot;top&quot;:118.8,&quot;width&quot;:846}"/>
</p:tagLst>
</file>

<file path=ppt/tags/tag31.xml><?xml version="1.0" encoding="utf-8"?>
<p:tagLst xmlns:p="http://schemas.openxmlformats.org/presentationml/2006/main">
  <p:tag name="KSO_WM_DIAGRAM_VIRTUALLY_FRAME" val="{&quot;height&quot;:97.2,&quot;left&quot;:54,&quot;top&quot;:118.8,&quot;width&quot;:846}"/>
</p:tagLst>
</file>

<file path=ppt/tags/tag32.xml><?xml version="1.0" encoding="utf-8"?>
<p:tagLst xmlns:p="http://schemas.openxmlformats.org/presentationml/2006/main">
  <p:tag name="TABLE_ENDDRAG_ORIGIN_RECT" val="706*343"/>
  <p:tag name="TABLE_ENDDRAG_RECT" val="55*106*706*343"/>
</p:tagLst>
</file>

<file path=ppt/tags/tag33.xml><?xml version="1.0" encoding="utf-8"?>
<p:tagLst xmlns:p="http://schemas.openxmlformats.org/presentationml/2006/main">
  <p:tag name="TABLE_ENDDRAG_ORIGIN_RECT" val="713*233"/>
  <p:tag name="TABLE_ENDDRAG_RECT" val="65*82*713*233"/>
</p:tagLst>
</file>

<file path=ppt/tags/tag34.xml><?xml version="1.0" encoding="utf-8"?>
<p:tagLst xmlns:p="http://schemas.openxmlformats.org/presentationml/2006/main">
  <p:tag name="TABLE_ENDDRAG_ORIGIN_RECT" val="869*320"/>
  <p:tag name="TABLE_ENDDRAG_RECT" val="34*172*869*320"/>
</p:tagLst>
</file>

<file path=ppt/tags/tag35.xml><?xml version="1.0" encoding="utf-8"?>
<p:tagLst xmlns:p="http://schemas.openxmlformats.org/presentationml/2006/main">
  <p:tag name="TABLE_ENDDRAG_ORIGIN_RECT" val="441*231"/>
  <p:tag name="TABLE_ENDDRAG_RECT" val="455*172*441*231"/>
</p:tagLst>
</file>

<file path=ppt/tags/tag36.xml><?xml version="1.0" encoding="utf-8"?>
<p:tagLst xmlns:p="http://schemas.openxmlformats.org/presentationml/2006/main">
  <p:tag name="TABLE_ENDDRAG_ORIGIN_RECT" val="542*175"/>
  <p:tag name="TABLE_ENDDRAG_RECT" val="417*190*542*175"/>
</p:tagLst>
</file>

<file path=ppt/tags/tag37.xml><?xml version="1.0" encoding="utf-8"?>
<p:tagLst xmlns:p="http://schemas.openxmlformats.org/presentationml/2006/main">
  <p:tag name="TABLE_ENDDRAG_ORIGIN_RECT" val="515*141"/>
  <p:tag name="TABLE_ENDDRAG_RECT" val="405*356*515*141"/>
</p:tagLst>
</file>

<file path=ppt/tags/tag38.xml><?xml version="1.0" encoding="utf-8"?>
<p:tagLst xmlns:p="http://schemas.openxmlformats.org/presentationml/2006/main">
  <p:tag name="TABLE_ENDDRAG_ORIGIN_RECT" val="694*300"/>
  <p:tag name="TABLE_ENDDRAG_RECT" val="61*128*694*300"/>
</p:tagLst>
</file>

<file path=ppt/tags/tag39.xml><?xml version="1.0" encoding="utf-8"?>
<p:tagLst xmlns:p="http://schemas.openxmlformats.org/presentationml/2006/main">
  <p:tag name="TABLE_ENDDRAG_ORIGIN_RECT" val="694*300"/>
  <p:tag name="TABLE_ENDDRAG_RECT" val="61*128*694*300"/>
</p:tagLst>
</file>

<file path=ppt/tags/tag40.xml><?xml version="1.0" encoding="utf-8"?>
<p:tagLst xmlns:p="http://schemas.openxmlformats.org/presentationml/2006/main">
  <p:tag name="TABLE_ENDDRAG_ORIGIN_RECT" val="694*300"/>
  <p:tag name="TABLE_ENDDRAG_RECT" val="61*128*694*300"/>
</p:tagLst>
</file>

<file path=ppt/tags/tag41.xml><?xml version="1.0" encoding="utf-8"?>
<p:tagLst xmlns:p="http://schemas.openxmlformats.org/presentationml/2006/main">
  <p:tag name="TABLE_ENDDRAG_ORIGIN_RECT" val="701*145"/>
  <p:tag name="TABLE_ENDDRAG_RECT" val="55*126*701*145"/>
</p:tagLst>
</file>

<file path=ppt/tags/tag42.xml><?xml version="1.0" encoding="utf-8"?>
<p:tagLst xmlns:p="http://schemas.openxmlformats.org/presentationml/2006/main">
  <p:tag name="TABLE_ENDDRAG_ORIGIN_RECT" val="337*124"/>
  <p:tag name="TABLE_ENDDRAG_RECT" val="60*340*337*124"/>
</p:tagLst>
</file>

<file path=ppt/tags/tag43.xml><?xml version="1.0" encoding="utf-8"?>
<p:tagLst xmlns:p="http://schemas.openxmlformats.org/presentationml/2006/main">
  <p:tag name="TABLE_ENDDRAG_ORIGIN_RECT" val="697*217"/>
  <p:tag name="TABLE_ENDDRAG_RECT" val="73*111*697*217"/>
</p:tagLst>
</file>

<file path=ppt/tags/tag44.xml><?xml version="1.0" encoding="utf-8"?>
<p:tagLst xmlns:p="http://schemas.openxmlformats.org/presentationml/2006/main">
  <p:tag name="TABLE_ENDDRAG_ORIGIN_RECT" val="507*116"/>
  <p:tag name="TABLE_ENDDRAG_RECT" val="48*116*507*116"/>
</p:tagLst>
</file>

<file path=ppt/tags/tag45.xml><?xml version="1.0" encoding="utf-8"?>
<p:tagLst xmlns:p="http://schemas.openxmlformats.org/presentationml/2006/main">
  <p:tag name="TABLE_ENDDRAG_ORIGIN_RECT" val="596*201"/>
  <p:tag name="TABLE_ENDDRAG_RECT" val="163*145*596*201"/>
</p:tagLst>
</file>

<file path=ppt/tags/tag46.xml><?xml version="1.0" encoding="utf-8"?>
<p:tagLst xmlns:p="http://schemas.openxmlformats.org/presentationml/2006/main">
  <p:tag name="TABLE_ENDDRAG_ORIGIN_RECT" val="761*106"/>
  <p:tag name="TABLE_ENDDRAG_RECT" val="51*153*761*106"/>
</p:tagLst>
</file>

<file path=ppt/tags/tag47.xml><?xml version="1.0" encoding="utf-8"?>
<p:tagLst xmlns:p="http://schemas.openxmlformats.org/presentationml/2006/main">
  <p:tag name="TABLE_ENDDRAG_ORIGIN_RECT" val="875*222"/>
  <p:tag name="TABLE_ENDDRAG_RECT" val="46*145*875*222"/>
</p:tagLst>
</file>

<file path=ppt/tags/tag48.xml><?xml version="1.0" encoding="utf-8"?>
<p:tagLst xmlns:p="http://schemas.openxmlformats.org/presentationml/2006/main">
  <p:tag name="TABLE_ENDDRAG_ORIGIN_RECT" val="823*228"/>
  <p:tag name="TABLE_ENDDRAG_RECT" val="46*136*823*228"/>
</p:tagLst>
</file>

<file path=ppt/tags/tag49.xml><?xml version="1.0" encoding="utf-8"?>
<p:tagLst xmlns:p="http://schemas.openxmlformats.org/presentationml/2006/main">
  <p:tag name="KSO_WM_DIAGRAM_VIRTUALLY_FRAME" val="{&quot;height&quot;:202.5882677165354,&quot;left&quot;:98.25,&quot;top&quot;:170.63811023622048,&quot;width&quot;:761.4297637795277}"/>
</p:tagLst>
</file>

<file path=ppt/tags/tag50.xml><?xml version="1.0" encoding="utf-8"?>
<p:tagLst xmlns:p="http://schemas.openxmlformats.org/presentationml/2006/main">
  <p:tag name="KSO_WM_DIAGRAM_VIRTUALLY_FRAME" val="{&quot;height&quot;:202.5882677165354,&quot;left&quot;:98.25,&quot;top&quot;:170.63811023622048,&quot;width&quot;:761.4297637795277}"/>
</p:tagLst>
</file>

<file path=ppt/tags/tag51.xml><?xml version="1.0" encoding="utf-8"?>
<p:tagLst xmlns:p="http://schemas.openxmlformats.org/presentationml/2006/main">
  <p:tag name="KSO_WM_DIAGRAM_VIRTUALLY_FRAME" val="{&quot;height&quot;:202.5882677165354,&quot;left&quot;:98.25,&quot;top&quot;:170.63811023622048,&quot;width&quot;:761.4297637795277}"/>
</p:tagLst>
</file>

<file path=ppt/tags/tag52.xml><?xml version="1.0" encoding="utf-8"?>
<p:tagLst xmlns:p="http://schemas.openxmlformats.org/presentationml/2006/main">
  <p:tag name="KSO_WM_DIAGRAM_VIRTUALLY_FRAME" val="{&quot;height&quot;:202.5882677165354,&quot;left&quot;:98.25,&quot;top&quot;:170.63811023622048,&quot;width&quot;:761.4297637795277}"/>
</p:tagLst>
</file>

<file path=ppt/tags/tag53.xml><?xml version="1.0" encoding="utf-8"?>
<p:tagLst xmlns:p="http://schemas.openxmlformats.org/presentationml/2006/main">
  <p:tag name="TABLE_ENDDRAG_ORIGIN_RECT" val="352*121"/>
  <p:tag name="TABLE_ENDDRAG_RECT" val="46*247*352*121"/>
</p:tagLst>
</file>

<file path=ppt/tags/tag54.xml><?xml version="1.0" encoding="utf-8"?>
<p:tagLst xmlns:p="http://schemas.openxmlformats.org/presentationml/2006/main">
  <p:tag name="TABLE_ENDDRAG_ORIGIN_RECT" val="746*90"/>
  <p:tag name="TABLE_ENDDRAG_RECT" val="61*387*746*90"/>
</p:tagLst>
</file>

<file path=ppt/tags/tag55.xml><?xml version="1.0" encoding="utf-8"?>
<p:tagLst xmlns:p="http://schemas.openxmlformats.org/presentationml/2006/main">
  <p:tag name="TABLE_ENDDRAG_ORIGIN_RECT" val="454*213"/>
  <p:tag name="TABLE_ENDDRAG_RECT" val="69*270*454*213"/>
</p:tagLst>
</file>

<file path=ppt/tags/tag56.xml><?xml version="1.0" encoding="utf-8"?>
<p:tagLst xmlns:p="http://schemas.openxmlformats.org/presentationml/2006/main">
  <p:tag name="KSO_WM_DIAGRAM_VIRTUALLY_FRAME" val="{&quot;height&quot;:202.5882677165354,&quot;left&quot;:98.25,&quot;top&quot;:170.63811023622048,&quot;width&quot;:761.4297637795277}"/>
</p:tagLst>
</file>

<file path=ppt/tags/tag57.xml><?xml version="1.0" encoding="utf-8"?>
<p:tagLst xmlns:p="http://schemas.openxmlformats.org/presentationml/2006/main">
  <p:tag name="KSO_WM_DIAGRAM_VIRTUALLY_FRAME" val="{&quot;height&quot;:202.5882677165354,&quot;left&quot;:98.25,&quot;top&quot;:170.63811023622048,&quot;width&quot;:761.4297637795277}"/>
</p:tagLst>
</file>

<file path=ppt/tags/tag58.xml><?xml version="1.0" encoding="utf-8"?>
<p:tagLst xmlns:p="http://schemas.openxmlformats.org/presentationml/2006/main">
  <p:tag name="TABLE_ENDDRAG_ORIGIN_RECT" val="504*181"/>
  <p:tag name="TABLE_ENDDRAG_RECT" val="69*264*504*181"/>
</p:tagLst>
</file>

<file path=ppt/tags/tag59.xml><?xml version="1.0" encoding="utf-8"?>
<p:tagLst xmlns:p="http://schemas.openxmlformats.org/presentationml/2006/main">
  <p:tag name="TABLE_ENDDRAG_ORIGIN_RECT" val="810*354"/>
  <p:tag name="TABLE_ENDDRAG_RECT" val="40*162*810*354"/>
</p:tagLst>
</file>

<file path=ppt/tags/tag60.xml><?xml version="1.0" encoding="utf-8"?>
<p:tagLst xmlns:p="http://schemas.openxmlformats.org/presentationml/2006/main">
  <p:tag name="TABLE_ENDDRAG_ORIGIN_RECT" val="810*354"/>
  <p:tag name="TABLE_ENDDRAG_RECT" val="40*162*810*354"/>
</p:tagLst>
</file>

<file path=ppt/tags/tag61.xml><?xml version="1.0" encoding="utf-8"?>
<p:tagLst xmlns:p="http://schemas.openxmlformats.org/presentationml/2006/main">
  <p:tag name="COMMONDATA" val="eyJoZGlkIjoiMzA3YmEwZTZiZTcwOGUxNGRjZDIwNzAwMzQ1ZGJkNWEifQ=="/>
  <p:tag name="resource_record_key" val="{&quot;10&quot;:[50062481],&quot;70&quot;:[3326225]}"/>
</p:tagLst>
</file>

<file path=ppt/theme/theme1.xml><?xml version="1.0" encoding="utf-8"?>
<a:theme xmlns:a="http://schemas.openxmlformats.org/drawingml/2006/main" name="Office 主题​​">
  <a:themeElements>
    <a:clrScheme name="红色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10087</Words>
  <Application>WPS 演示</Application>
  <PresentationFormat>宽屏</PresentationFormat>
  <Paragraphs>1507</Paragraphs>
  <Slides>50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50</vt:i4>
      </vt:variant>
    </vt:vector>
  </HeadingPairs>
  <TitlesOfParts>
    <vt:vector size="60" baseType="lpstr">
      <vt:lpstr>Arial</vt:lpstr>
      <vt:lpstr>宋体</vt:lpstr>
      <vt:lpstr>Wingdings</vt:lpstr>
      <vt:lpstr>微软雅黑</vt:lpstr>
      <vt:lpstr>Arial Unicode MS</vt:lpstr>
      <vt:lpstr>Arial Black</vt:lpstr>
      <vt:lpstr>黑体</vt:lpstr>
      <vt:lpstr>MiSans Normal</vt:lpstr>
      <vt:lpstr>汉仪铸字超然体W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网易集团PPT模板</dc:title>
  <dc:creator>Netease</dc:creator>
  <cp:lastModifiedBy>吴植贤</cp:lastModifiedBy>
  <cp:revision>329</cp:revision>
  <dcterms:created xsi:type="dcterms:W3CDTF">2020-10-23T08:28:00Z</dcterms:created>
  <dcterms:modified xsi:type="dcterms:W3CDTF">2026-09-03T13:58:26Z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184415B86DA24299A578B062BF420467_13</vt:lpwstr>
  </property>
  <property fmtid="{D5CDD505-2E9C-101B-9397-08002B2CF9AE}" pid="3" name="KSOProductBuildVer">
    <vt:lpwstr>2052-12.1.0.28043</vt:lpwstr>
  </property>
</Properties>
</file>