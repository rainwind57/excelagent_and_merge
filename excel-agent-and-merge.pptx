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468" r:id="rId3"/>
    <p:sldId id="339" r:id="rId5"/>
    <p:sldId id="284" r:id="rId6"/>
    <p:sldId id="426" r:id="rId7"/>
    <p:sldId id="427" r:id="rId8"/>
    <p:sldId id="471" r:id="rId9"/>
    <p:sldId id="434" r:id="rId10"/>
    <p:sldId id="474" r:id="rId11"/>
    <p:sldId id="435" r:id="rId12"/>
    <p:sldId id="464" r:id="rId13"/>
    <p:sldId id="472" r:id="rId14"/>
    <p:sldId id="466" r:id="rId15"/>
    <p:sldId id="465" r:id="rId16"/>
    <p:sldId id="467" r:id="rId17"/>
    <p:sldId id="437" r:id="rId18"/>
    <p:sldId id="439" r:id="rId19"/>
    <p:sldId id="441" r:id="rId20"/>
    <p:sldId id="475" r:id="rId21"/>
    <p:sldId id="484" r:id="rId22"/>
    <p:sldId id="476" r:id="rId23"/>
    <p:sldId id="477" r:id="rId24"/>
    <p:sldId id="483" r:id="rId25"/>
    <p:sldId id="456" r:id="rId26"/>
    <p:sldId id="470" r:id="rId27"/>
    <p:sldId id="453" r:id="rId28"/>
    <p:sldId id="445" r:id="rId29"/>
    <p:sldId id="446" r:id="rId30"/>
    <p:sldId id="459" r:id="rId31"/>
    <p:sldId id="461" r:id="rId32"/>
    <p:sldId id="462" r:id="rId33"/>
    <p:sldId id="451" r:id="rId34"/>
    <p:sldId id="371" r:id="rId35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小欢" initials="徐小欢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D0B"/>
    <a:srgbClr val="C21C1C"/>
    <a:srgbClr val="CB1313"/>
    <a:srgbClr val="DB1F1F"/>
    <a:srgbClr val="E12F2F"/>
    <a:srgbClr val="1A1A1B"/>
    <a:srgbClr val="313134"/>
    <a:srgbClr val="181819"/>
    <a:srgbClr val="A50A09"/>
    <a:srgbClr val="DF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/>
    <p:restoredTop sz="94270" autoAdjust="0"/>
  </p:normalViewPr>
  <p:slideViewPr>
    <p:cSldViewPr snapToGrid="0">
      <p:cViewPr varScale="1">
        <p:scale>
          <a:sx n="108" d="100"/>
          <a:sy n="108" d="100"/>
        </p:scale>
        <p:origin x="102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50.xml"/><Relationship Id="rId4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6E12E-97A2-40B7-A362-065E30B989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3C561-CBA4-45D6-BD55-1C5FFEC034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9CD4FC-624D-AB4E-9533-E6A468B0E056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33" y="0"/>
            <a:ext cx="12204533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热爱"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69819" y="0"/>
            <a:ext cx="12018615" cy="6858000"/>
            <a:chOff x="63375" y="-155701"/>
            <a:chExt cx="12018615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20"/>
            <a:stretch>
              <a:fillRect/>
            </a:stretch>
          </p:blipFill>
          <p:spPr>
            <a:xfrm>
              <a:off x="63375" y="-155701"/>
              <a:ext cx="5800210" cy="601300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736" y="876394"/>
              <a:ext cx="5145254" cy="5825905"/>
            </a:xfrm>
            <a:prstGeom prst="rect">
              <a:avLst/>
            </a:prstGeom>
          </p:spPr>
        </p:pic>
      </p:grp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大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-黑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tiff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15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sv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2.xml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3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4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5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6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8.xml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9.xml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tags" Target="../tags/tag44.xml"/><Relationship Id="rId2" Type="http://schemas.openxmlformats.org/officeDocument/2006/relationships/image" Target="../media/image24.svg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5.xml"/><Relationship Id="rId2" Type="http://schemas.openxmlformats.org/officeDocument/2006/relationships/image" Target="../media/image26.sv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image" Target="../media/image27.svg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配表助手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94155" y="3690620"/>
            <a:ext cx="9309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自然语言驱动配表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三方合并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20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1980" y="4293258"/>
            <a:ext cx="45316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吴植贤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2026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年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9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月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日</a:t>
            </a:r>
            <a:endParaRPr kumimoji="1"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1608060" y="4363295"/>
            <a:ext cx="0" cy="413100"/>
          </a:xfrm>
          <a:prstGeom prst="line">
            <a:avLst/>
          </a:prstGeom>
          <a:ln w="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1582645" y="2194103"/>
            <a:ext cx="1377981" cy="393832"/>
            <a:chOff x="1870051" y="-461450"/>
            <a:chExt cx="1377981" cy="393832"/>
          </a:xfrm>
        </p:grpSpPr>
        <p:sp>
          <p:nvSpPr>
            <p:cNvPr id="15" name="对角圆角矩形 14"/>
            <p:cNvSpPr/>
            <p:nvPr/>
          </p:nvSpPr>
          <p:spPr>
            <a:xfrm>
              <a:off x="1870051" y="-461450"/>
              <a:ext cx="1377981" cy="393832"/>
            </a:xfrm>
            <a:prstGeom prst="round2DiagRect">
              <a:avLst>
                <a:gd name="adj1" fmla="val 4901"/>
                <a:gd name="adj2" fmla="val 42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928491" y="-461450"/>
              <a:ext cx="131954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900" spc="300" dirty="0">
                  <a:solidFill>
                    <a:srgbClr val="A30B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规范模版</a:t>
              </a:r>
              <a:endParaRPr kumimoji="1" lang="zh-CN" altLang="en-US" sz="1900" spc="300" dirty="0">
                <a:solidFill>
                  <a:srgbClr val="A30B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360785" y="6663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>
            <p:custDataLst>
              <p:tags r:id="rId1"/>
            </p:custDataLst>
          </p:nvPr>
        </p:nvGrpSpPr>
        <p:grpSpPr>
          <a:xfrm>
            <a:off x="787620" y="2029437"/>
            <a:ext cx="1957218" cy="2326895"/>
            <a:chOff x="2372291" y="6696934"/>
            <a:chExt cx="1957218" cy="2179449"/>
          </a:xfrm>
        </p:grpSpPr>
        <p:sp>
          <p:nvSpPr>
            <p:cNvPr id="59" name="文本框 58"/>
            <p:cNvSpPr txBox="1"/>
            <p:nvPr>
              <p:custDataLst>
                <p:tags r:id="rId2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业务背景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4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3452372" y="2029437"/>
            <a:ext cx="2399665" cy="2348485"/>
            <a:chOff x="2186871" y="6696934"/>
            <a:chExt cx="2399665" cy="2199671"/>
          </a:xfrm>
        </p:grpSpPr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2186871" y="7942962"/>
              <a:ext cx="2399665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实现方案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8"/>
              </p:custDataLst>
            </p:nvPr>
          </p:nvSpPr>
          <p:spPr>
            <a:xfrm>
              <a:off x="2458016" y="8344379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9"/>
            </p:custDataLst>
          </p:nvPr>
        </p:nvGrpSpPr>
        <p:grpSpPr>
          <a:xfrm>
            <a:off x="6487964" y="2029437"/>
            <a:ext cx="1999615" cy="2774315"/>
            <a:chOff x="2372291" y="6696934"/>
            <a:chExt cx="1999615" cy="2598518"/>
          </a:xfrm>
        </p:grpSpPr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2372291" y="7941772"/>
              <a:ext cx="1999615" cy="1353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成果数据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		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2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3"/>
            </p:custDataLst>
          </p:nvPr>
        </p:nvGrpSpPr>
        <p:grpSpPr>
          <a:xfrm>
            <a:off x="9338136" y="2029437"/>
            <a:ext cx="1957218" cy="2326895"/>
            <a:chOff x="2372291" y="6696934"/>
            <a:chExt cx="1957218" cy="2179449"/>
          </a:xfrm>
        </p:grpSpPr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5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Demo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pic>
        <p:nvPicPr>
          <p:cNvPr id="18" name="图形 1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目录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34440" y="1325880"/>
            <a:ext cx="9418320" cy="2026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25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01 业务背景与任务目标</a:t>
            </a:r>
          </a:p>
          <a:p>
            <a:pPr>
              <a:lnSpc>
                <a:spcPct val="25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02 Excel-Agent：4-Step 多 Agent 配表流水线</a:t>
            </a:r>
          </a:p>
          <a:p>
            <a:pPr>
              <a:lnSpc>
                <a:spcPct val="25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03 Merge：面向 SVN 目录分支的三方合并</a:t>
            </a:r>
          </a:p>
          <a:p>
            <a:pPr>
              <a:lnSpc>
                <a:spcPct val="25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04 </a:t>
            </a:r>
            <a:r>
              <a:rPr lang="zh-CN" altLang="en-US"/>
              <a:t>总结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一、业务背景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复杂 Excel 配表不是单表编辑问题，而是跨表、跨目录、跨版本的一致性工程。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960120" y="2162810"/>
          <a:ext cx="9351645" cy="42405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33475"/>
                <a:gridCol w="4580890"/>
                <a:gridCol w="363728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后果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Merge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过程出现漏行丢数据情况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数据会静默消失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跨分支编号冲突，多分支创作过程新建同一编号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后提交的进行了覆盖导致线上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公式缓存丢失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编表会出现输出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或者空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改表慢、易错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效率低、易漏外键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误写不可逆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写坏数据找不回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890" y="69113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业务背景：真实配表的复杂性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047115" y="3084830"/>
          <a:ext cx="8986520" cy="32404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89025"/>
                <a:gridCol w="4401820"/>
                <a:gridCol w="3495675"/>
              </a:tblGrid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后果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94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Merge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过程出现漏行丢数据情况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数据会静默消失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9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跨分支编号冲突，多分支创作过程新建同一编号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后提交的进行了覆盖导致线上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公式缓存丢失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编表会出现输出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或者空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改表慢、易错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效率低、易漏外键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880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误写不可逆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写坏数据找不回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68580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50392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规模复杂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2104" y="1947672"/>
            <a:ext cx="3081528" cy="5168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表多、字段多、跨表引用密集；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活动、奖励、技能、NPC、刷新点常跨多表。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438912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553712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表达复杂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4535424" y="1947672"/>
            <a:ext cx="3081528" cy="47815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用自然语言描述目标，</a:t>
            </a:r>
            <a:r>
              <a:t>通常不会精确写表名、列名、枚举值和外键链。</a:t>
            </a:r>
          </a:p>
        </p:txBody>
      </p:sp>
      <p:sp>
        <p:nvSpPr>
          <p:cNvPr id="3" name="Rounded Rectangle 15"/>
          <p:cNvSpPr/>
          <p:nvPr>
            <p:custDataLst>
              <p:tags r:id="rId11"/>
            </p:custDataLst>
          </p:nvPr>
        </p:nvSpPr>
        <p:spPr>
          <a:xfrm>
            <a:off x="809244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16"/>
          <p:cNvSpPr/>
          <p:nvPr>
            <p:custDataLst>
              <p:tags r:id="rId12"/>
            </p:custDataLst>
          </p:nvPr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17"/>
          <p:cNvSpPr txBox="1"/>
          <p:nvPr>
            <p:custDataLst>
              <p:tags r:id="rId13"/>
            </p:custDataLst>
          </p:nvPr>
        </p:nvSpPr>
        <p:spPr>
          <a:xfrm>
            <a:off x="8257031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协作复杂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18"/>
          <p:cNvSpPr txBox="1"/>
          <p:nvPr>
            <p:custDataLst>
              <p:tags r:id="rId14"/>
            </p:custDataLst>
          </p:nvPr>
        </p:nvSpPr>
        <p:spPr>
          <a:xfrm>
            <a:off x="823874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SVN 目录分支和外链并存；多人并行改 Excel，人工合并容易漏行、丢公式。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任务目标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047115" y="1543050"/>
          <a:ext cx="10144760" cy="20548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24685"/>
                <a:gridCol w="4371975"/>
                <a:gridCol w="3848100"/>
              </a:tblGrid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关键约束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Excel-Agent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输入自然语言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-&gt;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结构化意图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多表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配表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存在校验、可执行、可跟踪的结构化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意图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目标目录分支模式实现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三方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保护公式、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ID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引用、冲突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可解释性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3908425"/>
            <a:ext cx="4845685" cy="2141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7086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二、</a:t>
            </a:r>
            <a:r>
              <a:rPr lang="en-US"/>
              <a:t>4Step Excel-Agent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4260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89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Excel-Agent 总体定位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135" y="1170305"/>
            <a:ext cx="10553700" cy="8337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Excel-Agent是面向用户提供复杂输入，能够将复杂输入进行解析，正确应用到表格的一个工具，不要求用户先知道表名和字段名。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系统先定位候选表，再让 LLM 在真实 schema 下拆解 JSON，随后由规则层做质量门禁。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最终目标是</a:t>
            </a:r>
            <a:r>
              <a:rPr sz="1400">
                <a:highlight>
                  <a:srgbClr val="FFFF00"/>
                </a:highlight>
              </a:rPr>
              <a:t>让 Step1 的 JSON 足够</a:t>
            </a:r>
            <a:r>
              <a:rPr lang="zh-CN" sz="1400">
                <a:highlight>
                  <a:srgbClr val="FFFF00"/>
                </a:highlight>
              </a:rPr>
              <a:t>准确</a:t>
            </a:r>
            <a:r>
              <a:rPr sz="1400"/>
              <a:t>，因为后续 Step2/Step3/Step4 都依赖它。</a:t>
            </a:r>
            <a:endParaRPr sz="1400"/>
          </a:p>
        </p:txBody>
      </p:sp>
      <p:sp>
        <p:nvSpPr>
          <p:cNvPr id="2" name="TextBox 20"/>
          <p:cNvSpPr txBox="1"/>
          <p:nvPr/>
        </p:nvSpPr>
        <p:spPr>
          <a:xfrm>
            <a:off x="699389" y="2413762"/>
            <a:ext cx="10058400" cy="10509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b="1"/>
              <a:t>架构总览：</a:t>
            </a:r>
            <a:endParaRPr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LangGraph 编排 TableAgent 4-Ste</a:t>
            </a:r>
            <a:r>
              <a:rPr lang="en-US"/>
              <a:t>p,</a:t>
            </a:r>
            <a:r>
              <a:rPr lang="zh-CN" altLang="en-US"/>
              <a:t>具体如下：</a:t>
            </a: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/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699135" y="3176905"/>
          <a:ext cx="7781290" cy="3053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082925"/>
                <a:gridCol w="4698365"/>
              </a:tblGrid>
              <a:tr h="543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Step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、解析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对输入执行：分段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-&gt;schema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注入拆解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语义计划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根据业务规则进行字段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依赖等的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依赖顺序确定性写盘、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分配、引用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变更归纳、错误总结、自学习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反模式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Prompt</a:t>
            </a:r>
            <a:r>
              <a:rPr lang="zh-CN" altLang="en-US"/>
              <a:t>工程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36930" y="1051560"/>
          <a:ext cx="9067165" cy="2961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353945"/>
                <a:gridCol w="4077970"/>
                <a:gridCol w="2635250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组件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设定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设定为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配表拆解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限定任务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表名、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、列名、类型、外键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防止出现幻觉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后续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可执行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反例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约束不输出不存在列，不把叙述碎片当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字段值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污染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给出跨表引用的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例子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提升结构稳定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只注入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使用，防止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015" y="5575300"/>
            <a:ext cx="991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70585" y="4208145"/>
          <a:ext cx="9736455" cy="220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485"/>
                <a:gridCol w="3245485"/>
                <a:gridCol w="3245485"/>
              </a:tblGrid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后</a:t>
                      </a:r>
                      <a:endParaRPr lang="zh-CN" altLang="en-US"/>
                    </a:p>
                  </a:txBody>
                  <a:tcPr/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Prompt</a:t>
                      </a:r>
                      <a:r>
                        <a:rPr lang="zh-CN" altLang="en-US"/>
                        <a:t>上下文</a:t>
                      </a:r>
                      <a:r>
                        <a:rPr lang="zh-CN" altLang="en-US"/>
                        <a:t>缩减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全量表索引</a:t>
                      </a:r>
                      <a:r>
                        <a:rPr lang="en-US" altLang="zh-CN"/>
                        <a:t>76.11</a:t>
                      </a:r>
                      <a:r>
                        <a:rPr lang="en-US" altLang="zh-CN"/>
                        <a:t>MB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单任务聚焦</a:t>
                      </a:r>
                      <a:r>
                        <a:rPr lang="en-US" altLang="zh-CN"/>
                        <a:t>schema510</a:t>
                      </a:r>
                      <a:r>
                        <a:rPr lang="zh-CN" altLang="en-US"/>
                        <a:t>字符，约</a:t>
                      </a:r>
                      <a:r>
                        <a:rPr lang="en-US" altLang="zh-CN"/>
                        <a:t>159</a:t>
                      </a:r>
                      <a:r>
                        <a:rPr lang="en-US" altLang="zh-CN"/>
                        <a:t>token</a:t>
                      </a:r>
                      <a:endParaRPr lang="en-US" altLang="zh-CN"/>
                    </a:p>
                  </a:txBody>
                  <a:tcPr/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输出格式</a:t>
                      </a:r>
                      <a:r>
                        <a:rPr lang="zh-CN" altLang="en-US"/>
                        <a:t>约束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自由文本，解析</a:t>
                      </a:r>
                      <a:r>
                        <a:rPr lang="zh-CN" altLang="en-US"/>
                        <a:t>不稳定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固定</a:t>
                      </a:r>
                      <a:r>
                        <a:rPr lang="en-US" altLang="zh-CN"/>
                        <a:t>JSON</a:t>
                      </a:r>
                      <a:r>
                        <a:rPr lang="zh-CN" altLang="en-US"/>
                        <a:t>，可执行</a:t>
                      </a:r>
                      <a:r>
                        <a:rPr lang="zh-CN" altLang="en-US"/>
                        <a:t>可校验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-54610" y="69113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Step1：全链路的核心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914" y="1051687"/>
            <a:ext cx="10058400" cy="43148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Step1</a:t>
            </a:r>
            <a:r>
              <a:rPr lang="zh-CN" altLang="en-US"/>
              <a:t>：自然语言</a:t>
            </a:r>
            <a:r>
              <a:rPr lang="en-US" altLang="zh-CN"/>
              <a:t>-&gt;</a:t>
            </a:r>
            <a:r>
              <a:rPr lang="zh-CN" altLang="en-US" b="1"/>
              <a:t>可执行计划</a:t>
            </a:r>
            <a:r>
              <a:rPr lang="en-US" altLang="zh-CN" b="1"/>
              <a:t>intent</a:t>
            </a:r>
            <a:endParaRPr lang="en-US" altLang="zh-CN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b="1"/>
              <a:t>技术</a:t>
            </a:r>
            <a:r>
              <a:rPr lang="zh-CN" altLang="en-US" b="1"/>
              <a:t>内容</a:t>
            </a: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08660" y="2193925"/>
          <a:ext cx="4420235" cy="25133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11630"/>
                <a:gridCol w="2808605"/>
              </a:tblGrid>
              <a:tr h="330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3816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分段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分段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候选表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规则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检索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关系扩展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6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注入真实表头、类型和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拆解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DecomposeAgent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输出结构化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intents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推断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主键规则，建立起跨表依赖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015" y="5575300"/>
            <a:ext cx="991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4"/>
            </p:custDataLst>
          </p:nvPr>
        </p:nvGraphicFramePr>
        <p:xfrm>
          <a:off x="5784215" y="2193925"/>
          <a:ext cx="5612765" cy="2940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400"/>
                <a:gridCol w="1182370"/>
                <a:gridCol w="1212215"/>
                <a:gridCol w="2176780"/>
              </a:tblGrid>
              <a:tr h="523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指标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before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after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说明</a:t>
                      </a:r>
                      <a:endParaRPr lang="zh-CN" altLang="en-US" sz="1600"/>
                    </a:p>
                  </a:txBody>
                  <a:tcPr/>
                </a:tc>
              </a:tr>
              <a:tr h="6038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定位</a:t>
                      </a:r>
                      <a:r>
                        <a:rPr lang="zh-CN" altLang="en-US" sz="1600"/>
                        <a:t>功能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0.6667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0.8056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+20.8%</a:t>
                      </a:r>
                      <a:endParaRPr lang="en-US" altLang="zh-CN" sz="1600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覆盖度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0.6111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0.7500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+22.7%</a:t>
                      </a:r>
                      <a:endParaRPr lang="en-US" altLang="zh-CN" sz="1600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平均耗时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82236ms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98637ms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校验使用更多时间</a:t>
                      </a:r>
                      <a:endParaRPr lang="zh-CN" altLang="en-US" sz="1600"/>
                    </a:p>
                  </a:txBody>
                  <a:tcPr/>
                </a:tc>
              </a:tr>
              <a:tr h="604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相应</a:t>
                      </a:r>
                      <a:r>
                        <a:rPr lang="en-US" altLang="zh-CN" sz="1600"/>
                        <a:t>ok</a:t>
                      </a:r>
                      <a:r>
                        <a:rPr lang="zh-CN" altLang="en-US" sz="1600"/>
                        <a:t>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0.8333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0.3333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主动拒错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668645" y="1790065"/>
            <a:ext cx="2019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指标优化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LocatorAgent</a:t>
            </a:r>
            <a:r>
              <a:rPr lang="zh-CN" altLang="en-US"/>
              <a:t>三级定位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625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定位方式：优先规则</a:t>
            </a:r>
            <a:r>
              <a:rPr lang="en-US" altLang="zh-CN" sz="1600"/>
              <a:t>-&gt;</a:t>
            </a:r>
            <a:r>
              <a:rPr lang="zh-CN" altLang="en-US" sz="1600"/>
              <a:t>检索</a:t>
            </a:r>
            <a:r>
              <a:rPr lang="en-US" altLang="zh-CN" sz="1600"/>
              <a:t>-&gt;</a:t>
            </a:r>
            <a:r>
              <a:rPr lang="zh-CN" altLang="en-US" sz="1600"/>
              <a:t>关系扩展，当出现歧义时由模型裁决，旨在</a:t>
            </a:r>
            <a:r>
              <a:rPr lang="zh-CN" altLang="en-US" sz="1600" b="1"/>
              <a:t>表名实现模糊匹配</a:t>
            </a:r>
            <a:endParaRPr lang="zh-CN" altLang="en-US" sz="1600" b="1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786130" y="1630045"/>
          <a:ext cx="9900285" cy="311848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78330"/>
                <a:gridCol w="4265930"/>
                <a:gridCol w="3756025"/>
              </a:tblGrid>
              <a:tr h="3689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L1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表名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中文表头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别名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字段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关键词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直接命中可以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零成本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L2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模糊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rapidfuzz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混合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拼写、命名等变体兜底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231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L3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外键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(FK)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一跳进行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命中主表带上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绑定表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L4 </a:t>
                      </a: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RAG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BM25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召回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规则未命中时补召回语义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近邻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LocatorAgent</a:t>
            </a:r>
            <a:r>
              <a:rPr lang="zh-CN" altLang="en-US"/>
              <a:t>三级定位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文本框 2"/>
          <p:cNvSpPr txBox="1"/>
          <p:nvPr/>
        </p:nvSpPr>
        <p:spPr>
          <a:xfrm>
            <a:off x="590550" y="1175385"/>
            <a:ext cx="10621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rapidfuzz</a:t>
            </a:r>
            <a:r>
              <a:rPr lang="zh-CN" altLang="en-US"/>
              <a:t>混合</a:t>
            </a:r>
            <a:r>
              <a:rPr lang="zh-CN" altLang="en-US"/>
              <a:t>指标：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rapidfuzz_score=WRatio*0.5+token_set_ratio*0.3+partical_ratio*0.2</a:t>
            </a:r>
            <a:endParaRPr lang="en-US" altLang="zh-CN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590550" y="2252980"/>
          <a:ext cx="89014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69659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作用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WRatio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综合编辑距离、长度差、部分匹配，适合通用</a:t>
                      </a:r>
                      <a:r>
                        <a:rPr lang="zh-CN" altLang="en-US"/>
                        <a:t>相似度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token_set_ratio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忽略词序和</a:t>
                      </a:r>
                      <a:r>
                        <a:rPr lang="zh-CN" altLang="en-US"/>
                        <a:t>重复词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partical_ratio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长字段里包含短查询时仍能够</a:t>
                      </a:r>
                      <a:r>
                        <a:rPr lang="zh-CN" altLang="en-US"/>
                        <a:t>命中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604520" y="4062095"/>
          <a:ext cx="9679940" cy="15201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6420"/>
                <a:gridCol w="4171315"/>
                <a:gridCol w="3672205"/>
              </a:tblGrid>
              <a:tr h="2228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</a:t>
                      </a:r>
                      <a:r>
                        <a:rPr lang="en-US" altLang="zh-CN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rapidfuzz C++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编辑距离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2781.54</a:t>
                      </a:r>
                      <a:r>
                        <a:rPr 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ms</a:t>
                      </a:r>
                      <a:endParaRPr 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192.16ms</a:t>
                      </a:r>
                      <a:endParaRPr lang="en-US" altLang="zh-CN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单次匹配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0.0093</a:t>
                      </a:r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endParaRPr 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0.0006ms</a:t>
                      </a:r>
                      <a:endParaRPr lang="en-US" altLang="zh-CN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DecomposeAgent schema</a:t>
            </a:r>
            <a:r>
              <a:rPr lang="zh-CN" altLang="en-US"/>
              <a:t>注入</a:t>
            </a:r>
            <a:r>
              <a:rPr lang="zh-CN" altLang="en-US"/>
              <a:t>拆解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724" y="1051687"/>
            <a:ext cx="10058400" cy="38481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600"/>
              <a:t>输入：候选表真实结构</a:t>
            </a:r>
            <a:r>
              <a:rPr lang="en-US" altLang="zh-CN" sz="1600"/>
              <a:t>+</a:t>
            </a:r>
            <a:r>
              <a:rPr lang="zh-CN" altLang="en-US" sz="1600"/>
              <a:t>多级表头</a:t>
            </a:r>
            <a:r>
              <a:rPr lang="en-US" altLang="zh-CN" sz="1600"/>
              <a:t>+</a:t>
            </a:r>
            <a:r>
              <a:rPr lang="zh-CN" altLang="en-US" sz="1600"/>
              <a:t>字段类型</a:t>
            </a:r>
            <a:r>
              <a:rPr lang="en-US" altLang="zh-CN" sz="1600"/>
              <a:t>+</a:t>
            </a:r>
            <a:r>
              <a:rPr lang="zh-CN" altLang="en-US" sz="1600"/>
              <a:t>外键</a:t>
            </a:r>
            <a:r>
              <a:rPr lang="en-US" altLang="zh-CN" sz="1600"/>
              <a:t>FK+</a:t>
            </a:r>
            <a:r>
              <a:rPr lang="zh-CN" altLang="en-US" sz="1600"/>
              <a:t>填表规则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输出：结构化</a:t>
            </a:r>
            <a:r>
              <a:rPr lang="en-US" altLang="zh-CN" sz="1600"/>
              <a:t>json</a:t>
            </a:r>
            <a:r>
              <a:rPr lang="zh-CN" altLang="en-US" sz="1600"/>
              <a:t>的</a:t>
            </a:r>
            <a:r>
              <a:rPr lang="en-US" altLang="zh-CN" sz="1600"/>
              <a:t>intents</a:t>
            </a: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样例：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输入：</a:t>
            </a:r>
            <a:r>
              <a:rPr lang="en-US" altLang="zh-CN" sz="1600"/>
              <a:t>Ability</a:t>
            </a:r>
            <a:r>
              <a:rPr lang="zh-CN" altLang="en-US" sz="1600"/>
              <a:t>表格</a:t>
            </a:r>
            <a:r>
              <a:rPr lang="en-US" altLang="zh-CN" sz="1600"/>
              <a:t>row1</a:t>
            </a:r>
            <a:r>
              <a:rPr lang="zh-CN" altLang="en-US" sz="1600"/>
              <a:t>列名、</a:t>
            </a:r>
            <a:r>
              <a:rPr lang="en-US" altLang="zh-CN" sz="1600"/>
              <a:t>row2</a:t>
            </a:r>
            <a:r>
              <a:rPr lang="zh-CN" altLang="en-US" sz="1600"/>
              <a:t>类型、字段类型、外键、</a:t>
            </a:r>
            <a:r>
              <a:rPr lang="zh-CN" altLang="en-US" sz="1600"/>
              <a:t>填表规则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输出：</a:t>
            </a:r>
            <a:r>
              <a:rPr lang="en-US" altLang="zh-CN" sz="1600"/>
              <a:t>{action:add,table:Ability,fields:{id:100,name:”TEST”},produces:[&lt;aid&gt;]}</a:t>
            </a: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/>
              <a:t>schema</a:t>
            </a:r>
            <a:r>
              <a:rPr lang="zh-CN" altLang="en-US" sz="1600"/>
              <a:t>注入</a:t>
            </a:r>
            <a:r>
              <a:rPr lang="en-US" altLang="zh-CN" sz="1600"/>
              <a:t>:</a:t>
            </a:r>
            <a:r>
              <a:rPr lang="zh-CN" altLang="en-US" sz="1600"/>
              <a:t>模型只能从真实列名中进行选择，可以从源头解决幻觉列名的</a:t>
            </a:r>
            <a:r>
              <a:rPr lang="zh-CN" altLang="en-US" sz="1600"/>
              <a:t>问题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/>
              <a:t>few-shot</a:t>
            </a:r>
            <a:r>
              <a:rPr lang="zh-CN" altLang="en-US" sz="1600"/>
              <a:t>：提示中附上正确</a:t>
            </a:r>
            <a:r>
              <a:rPr lang="en-US" altLang="zh-CN" sz="1600"/>
              <a:t>ID/</a:t>
            </a:r>
            <a:r>
              <a:rPr lang="zh-CN" altLang="en-US" sz="1600"/>
              <a:t>占位符的示例，禁止伪造占位符如</a:t>
            </a:r>
            <a:r>
              <a:rPr lang="en-US" altLang="zh-CN" sz="1600"/>
              <a:t>&lt;resolved_form_xxx&gt;</a:t>
            </a:r>
            <a:r>
              <a:rPr lang="zh-CN" altLang="en-US" sz="1600"/>
              <a:t>，同时超时降级逐表格</a:t>
            </a:r>
            <a:r>
              <a:rPr lang="zh-CN" altLang="en-US" sz="1600"/>
              <a:t>重拆；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规则安全网：</a:t>
            </a:r>
            <a:r>
              <a:rPr lang="en-US" altLang="zh-CN" sz="1600"/>
              <a:t>LLM</a:t>
            </a:r>
            <a:r>
              <a:rPr lang="zh-CN" altLang="en-US" sz="1600"/>
              <a:t>为主，当</a:t>
            </a:r>
            <a:r>
              <a:rPr lang="en-US" altLang="zh-CN" sz="1600"/>
              <a:t>LLM</a:t>
            </a:r>
            <a:r>
              <a:rPr lang="zh-CN" altLang="en-US" sz="1600"/>
              <a:t>产生</a:t>
            </a:r>
            <a:r>
              <a:rPr lang="en-US" altLang="zh-CN" sz="1600"/>
              <a:t>intent</a:t>
            </a:r>
            <a:r>
              <a:rPr lang="zh-CN" altLang="en-US" sz="1600"/>
              <a:t>小于</a:t>
            </a:r>
            <a:r>
              <a:rPr lang="en-US" altLang="zh-CN" sz="1600"/>
              <a:t>2</a:t>
            </a:r>
            <a:r>
              <a:rPr lang="zh-CN" altLang="en-US" sz="1600"/>
              <a:t>条或者畸形时回退模板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</p:txBody>
      </p:sp>
      <p:graphicFrame>
        <p:nvGraphicFramePr>
          <p:cNvPr id="2" name="表格 1"/>
          <p:cNvGraphicFramePr/>
          <p:nvPr/>
        </p:nvGraphicFramePr>
        <p:xfrm>
          <a:off x="733425" y="4456430"/>
          <a:ext cx="6640830" cy="125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610"/>
                <a:gridCol w="2213610"/>
                <a:gridCol w="2213610"/>
              </a:tblGrid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字段</a:t>
                      </a:r>
                      <a:r>
                        <a:rPr lang="zh-CN" altLang="en-US"/>
                        <a:t>精准率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0.5185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0.6917</a:t>
                      </a:r>
                      <a:endParaRPr lang="en-US" altLang="zh-CN"/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严格通过</a:t>
                      </a:r>
                      <a:r>
                        <a:rPr lang="zh-CN" altLang="en-US"/>
                        <a:t>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0.1667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0.3333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produces/consumes</a:t>
            </a:r>
            <a:r>
              <a:rPr lang="zh-CN" altLang="en-US"/>
              <a:t>依赖契约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文本框 1"/>
          <p:cNvSpPr txBox="1"/>
          <p:nvPr/>
        </p:nvSpPr>
        <p:spPr>
          <a:xfrm>
            <a:off x="551815" y="1087755"/>
            <a:ext cx="11248390" cy="4873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跨表新增的时候，后续表格依赖钱买你新建行的</a:t>
            </a:r>
            <a:r>
              <a:rPr lang="en-US" altLang="zh-CN" sz="1600"/>
              <a:t>ID</a:t>
            </a:r>
            <a:r>
              <a:rPr lang="zh-CN" altLang="en-US" sz="1600"/>
              <a:t>，需要靠依赖契约将其确定下来，而不是靠模型记忆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样例：</a:t>
            </a:r>
            <a:endParaRPr lang="zh-CN" altLang="en-US" sz="1600"/>
          </a:p>
          <a:p>
            <a:r>
              <a:rPr lang="zh-CN" altLang="en-US" sz="1600"/>
              <a:t>新增活动</a:t>
            </a:r>
            <a:r>
              <a:rPr lang="en-US" altLang="zh-CN" sz="1600"/>
              <a:t>activity_id=3001,</a:t>
            </a:r>
            <a:r>
              <a:rPr lang="zh-CN" altLang="en-US" sz="1600"/>
              <a:t>新增奖励</a:t>
            </a:r>
            <a:r>
              <a:rPr lang="en-US" altLang="zh-CN" sz="1600"/>
              <a:t>reward_id=30010,</a:t>
            </a:r>
            <a:r>
              <a:rPr lang="zh-CN" altLang="en-US" sz="1600"/>
              <a:t>绑定</a:t>
            </a:r>
            <a:r>
              <a:rPr lang="en-US" altLang="zh-CN" sz="1600"/>
              <a:t>activity_id=3001,</a:t>
            </a:r>
            <a:r>
              <a:rPr lang="zh-CN" altLang="en-US" sz="1600"/>
              <a:t>新增邮件</a:t>
            </a:r>
            <a:r>
              <a:rPr lang="en-US" altLang="zh-CN" sz="1600"/>
              <a:t>mail_id=5001,</a:t>
            </a:r>
            <a:r>
              <a:rPr lang="zh-CN" altLang="en-US" sz="1600"/>
              <a:t>附件</a:t>
            </a:r>
            <a:r>
              <a:rPr lang="en-US" altLang="zh-CN" sz="1600"/>
              <a:t>reward_id=3001</a:t>
            </a:r>
            <a:endParaRPr lang="zh-CN" altLang="en-US" sz="1600"/>
          </a:p>
          <a:p>
            <a:endParaRPr lang="zh-CN" altLang="en-US" sz="1600" b="1"/>
          </a:p>
          <a:p>
            <a:r>
              <a:rPr lang="zh-CN" altLang="en-US" sz="1600" b="1"/>
              <a:t>根据</a:t>
            </a:r>
            <a:r>
              <a:rPr lang="en-US" altLang="zh-CN" sz="1600" b="1"/>
              <a:t>produces</a:t>
            </a:r>
            <a:r>
              <a:rPr lang="zh-CN" altLang="en-US" sz="1600" b="1"/>
              <a:t>和</a:t>
            </a:r>
            <a:r>
              <a:rPr lang="en-US" altLang="zh-CN" sz="1600" b="1"/>
              <a:t>consumes</a:t>
            </a:r>
            <a:r>
              <a:rPr lang="zh-CN" altLang="en-US" sz="1600" b="1"/>
              <a:t>，后续</a:t>
            </a:r>
            <a:r>
              <a:rPr lang="en-US" altLang="zh-CN" sz="1600" b="1"/>
              <a:t>step3</a:t>
            </a:r>
            <a:r>
              <a:rPr lang="zh-CN" altLang="en-US" sz="1600" b="1"/>
              <a:t>的执行可以得到排序顺序，成功分配</a:t>
            </a:r>
            <a:r>
              <a:rPr lang="en-US" altLang="zh-CN" sz="1600" b="1"/>
              <a:t>ID</a:t>
            </a:r>
            <a:r>
              <a:rPr lang="zh-CN" altLang="en-US" sz="1600" b="1"/>
              <a:t>、回填</a:t>
            </a:r>
            <a:r>
              <a:rPr lang="zh-CN" altLang="en-US" sz="1600" b="1"/>
              <a:t>外键</a:t>
            </a:r>
            <a:endParaRPr lang="zh-CN" altLang="en-US" sz="1600" b="1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08660" y="1605280"/>
          <a:ext cx="8914765" cy="185229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56815"/>
                <a:gridCol w="3627120"/>
                <a:gridCol w="2830830"/>
              </a:tblGrid>
              <a:tr h="4152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术语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787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本意图产生的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记录生成的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9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consumes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本意图消费的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记录使用的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placeholder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写表时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临时标记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执行时替换为真实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708660" y="5020310"/>
          <a:ext cx="7046595" cy="1034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865"/>
                <a:gridCol w="2348865"/>
                <a:gridCol w="2348865"/>
              </a:tblGrid>
              <a:tr h="3448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指标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before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after</a:t>
                      </a:r>
                      <a:endParaRPr lang="en-US" altLang="zh-CN" sz="1600"/>
                    </a:p>
                  </a:txBody>
                  <a:tcPr/>
                </a:tc>
              </a:tr>
              <a:tr h="3448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quest_npc</a:t>
                      </a:r>
                      <a:r>
                        <a:rPr lang="zh-CN" altLang="en-US" sz="1600"/>
                        <a:t>引用</a:t>
                      </a:r>
                      <a:r>
                        <a:rPr lang="zh-CN" altLang="en-US" sz="1600"/>
                        <a:t>一致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0.62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1.0</a:t>
                      </a:r>
                      <a:endParaRPr lang="en-US" altLang="zh-CN" sz="1600"/>
                    </a:p>
                  </a:txBody>
                  <a:tcPr/>
                </a:tc>
              </a:tr>
              <a:tr h="3448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quest_npc</a:t>
                      </a:r>
                      <a:r>
                        <a:rPr lang="zh-CN" altLang="en-US" sz="1600"/>
                        <a:t>耗时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134</a:t>
                      </a:r>
                      <a:r>
                        <a:rPr lang="en-US" altLang="zh-CN" sz="1600"/>
                        <a:t>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107s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7949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Step1 </a:t>
            </a:r>
            <a:r>
              <a:rPr lang="zh-CN" altLang="en-US"/>
              <a:t>质量</a:t>
            </a:r>
            <a:r>
              <a:rPr lang="zh-CN" altLang="en-US"/>
              <a:t>门禁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634" y="1170432"/>
            <a:ext cx="10058400" cy="137731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LLM</a:t>
            </a:r>
            <a:r>
              <a:rPr lang="zh-CN" altLang="en-US"/>
              <a:t>结束产生</a:t>
            </a:r>
            <a:r>
              <a:rPr lang="en-US" altLang="zh-CN"/>
              <a:t>intents</a:t>
            </a:r>
            <a:r>
              <a:rPr lang="zh-CN" altLang="en-US"/>
              <a:t>以后</a:t>
            </a:r>
            <a:r>
              <a:rPr lang="en-US" altLang="zh-CN"/>
              <a:t>ParseAgent</a:t>
            </a:r>
            <a:r>
              <a:rPr lang="zh-CN" altLang="en-US"/>
              <a:t>继续</a:t>
            </a:r>
            <a:r>
              <a:rPr lang="en-US" altLang="zh-CN" b="1"/>
              <a:t>schema-aware</a:t>
            </a:r>
            <a:r>
              <a:rPr lang="zh-CN" altLang="en-US" b="1"/>
              <a:t>编译，进行再一次检验</a:t>
            </a: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</p:txBody>
      </p:sp>
      <p:graphicFrame>
        <p:nvGraphicFramePr>
          <p:cNvPr id="2" name="表格 1"/>
          <p:cNvGraphicFramePr/>
          <p:nvPr/>
        </p:nvGraphicFramePr>
        <p:xfrm>
          <a:off x="841375" y="1814830"/>
          <a:ext cx="7620635" cy="199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430"/>
                <a:gridCol w="3545205"/>
              </a:tblGrid>
              <a:tr h="3543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检查内容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修复</a:t>
                      </a:r>
                      <a:r>
                        <a:rPr lang="zh-CN" altLang="en-US" sz="1600"/>
                        <a:t>方式</a:t>
                      </a:r>
                      <a:endParaRPr lang="zh-CN" altLang="en-US" sz="1600"/>
                    </a:p>
                  </a:txBody>
                  <a:tcPr/>
                </a:tc>
              </a:tr>
              <a:tr h="3549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0">
                          <a:sym typeface="+mn-ea"/>
                        </a:rPr>
                        <a:t>删除孤立</a:t>
                      </a:r>
                      <a:r>
                        <a:rPr lang="en-US" altLang="zh-CN" sz="1600" b="0">
                          <a:sym typeface="+mn-ea"/>
                        </a:rPr>
                        <a:t>add intent</a:t>
                      </a:r>
                      <a:r>
                        <a:rPr lang="zh-CN" altLang="en-US" sz="1600" b="0">
                          <a:sym typeface="+mn-ea"/>
                        </a:rPr>
                        <a:t>、同</a:t>
                      </a:r>
                      <a:r>
                        <a:rPr lang="en-US" altLang="zh-CN" sz="1600" b="0">
                          <a:sym typeface="+mn-ea"/>
                        </a:rPr>
                        <a:t>sheet </a:t>
                      </a:r>
                      <a:r>
                        <a:rPr lang="zh-CN" altLang="en-US" sz="1600" b="0">
                          <a:sym typeface="+mn-ea"/>
                        </a:rPr>
                        <a:t>稀疏影子重复</a:t>
                      </a:r>
                      <a:endParaRPr lang="zh-CN" altLang="en-US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删除</a:t>
                      </a:r>
                      <a:endParaRPr lang="zh-CN" altLang="en-US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0">
                          <a:sym typeface="+mn-ea"/>
                        </a:rPr>
                        <a:t>修字段不在</a:t>
                      </a:r>
                      <a:r>
                        <a:rPr lang="en-US" altLang="zh-CN" sz="1600" b="0">
                          <a:sym typeface="+mn-ea"/>
                        </a:rPr>
                        <a:t>schema</a:t>
                      </a:r>
                      <a:r>
                        <a:rPr lang="zh-CN" altLang="en-US" sz="1600" b="0">
                          <a:sym typeface="+mn-ea"/>
                        </a:rPr>
                        <a:t>、</a:t>
                      </a:r>
                      <a:r>
                        <a:rPr lang="en-US" altLang="zh-CN" sz="1600" b="0">
                          <a:sym typeface="+mn-ea"/>
                        </a:rPr>
                        <a:t>sheet</a:t>
                      </a:r>
                      <a:r>
                        <a:rPr lang="zh-CN" altLang="en-US" sz="1600" b="0">
                          <a:sym typeface="+mn-ea"/>
                        </a:rPr>
                        <a:t>或者</a:t>
                      </a:r>
                      <a:r>
                        <a:rPr lang="en-US" altLang="zh-CN" sz="1600" b="0">
                          <a:sym typeface="+mn-ea"/>
                        </a:rPr>
                        <a:t>name</a:t>
                      </a:r>
                      <a:r>
                        <a:rPr lang="zh-CN" altLang="en-US" sz="1600" b="0">
                          <a:sym typeface="+mn-ea"/>
                        </a:rPr>
                        <a:t>混用、目标表格大小写差异</a:t>
                      </a:r>
                      <a:endParaRPr lang="en-US" altLang="en-US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修正到真实</a:t>
                      </a:r>
                      <a:r>
                        <a:rPr lang="zh-CN" altLang="en-US" sz="1600"/>
                        <a:t>列</a:t>
                      </a:r>
                      <a:endParaRPr lang="zh-CN" altLang="en-US" sz="1600"/>
                    </a:p>
                  </a:txBody>
                  <a:tcPr/>
                </a:tc>
              </a:tr>
              <a:tr h="3549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检查</a:t>
                      </a:r>
                      <a:r>
                        <a:rPr lang="en-US" altLang="zh-CN" sz="1600">
                          <a:sym typeface="+mn-ea"/>
                        </a:rPr>
                        <a:t>produces</a:t>
                      </a:r>
                      <a:r>
                        <a:rPr lang="zh-CN" altLang="en-US" sz="1600">
                          <a:sym typeface="+mn-ea"/>
                        </a:rPr>
                        <a:t>和</a:t>
                      </a:r>
                      <a:r>
                        <a:rPr lang="en-US" altLang="zh-CN" sz="1600">
                          <a:sym typeface="+mn-ea"/>
                        </a:rPr>
                        <a:t>consumes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从已存在资源或新行解析出真实</a:t>
                      </a:r>
                      <a:r>
                        <a:rPr lang="en-US" altLang="zh-CN" sz="1600"/>
                        <a:t>ID</a:t>
                      </a:r>
                      <a:endParaRPr lang="en-US" altLang="zh-CN" sz="1600"/>
                    </a:p>
                  </a:txBody>
                  <a:tcPr/>
                </a:tc>
              </a:tr>
              <a:tr h="3543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自产自销、依赖环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阻断</a:t>
                      </a:r>
                      <a:r>
                        <a:rPr lang="zh-CN" altLang="en-US" sz="1600"/>
                        <a:t>执行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887095" y="4382135"/>
          <a:ext cx="4291965" cy="1595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110"/>
                <a:gridCol w="1219200"/>
                <a:gridCol w="1430655"/>
              </a:tblGrid>
              <a:tr h="5105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优化</a:t>
                      </a:r>
                      <a:r>
                        <a:rPr lang="zh-CN" altLang="en-US" sz="1600"/>
                        <a:t>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before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after</a:t>
                      </a:r>
                      <a:endParaRPr lang="en-US" altLang="zh-CN" sz="1600"/>
                    </a:p>
                  </a:txBody>
                  <a:tcPr/>
                </a:tc>
              </a:tr>
              <a:tr h="5060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type_mismatch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  <a:endParaRPr lang="en-US" altLang="zh-CN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失败</a:t>
                      </a:r>
                      <a:r>
                        <a:rPr lang="en-US" altLang="zh-CN" sz="1600"/>
                        <a:t>trace</a:t>
                      </a:r>
                      <a:r>
                        <a:rPr lang="zh-CN" altLang="en-US" sz="1600"/>
                        <a:t>归纳</a:t>
                      </a:r>
                      <a:r>
                        <a:rPr lang="zh-CN" altLang="en-US" sz="1600"/>
                        <a:t>反模式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 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</a:t>
                      </a:r>
                      <a:r>
                        <a:rPr lang="zh-CN" altLang="en-US" sz="1600"/>
                        <a:t>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</a:t>
            </a:r>
            <a:r>
              <a:rPr lang="en-US" altLang="zh-CN"/>
              <a:t>:Step2 L0/L1/L2</a:t>
            </a:r>
            <a:r>
              <a:rPr lang="zh-CN" altLang="en-US"/>
              <a:t>三层</a:t>
            </a:r>
            <a:r>
              <a:rPr lang="zh-CN" altLang="en-US"/>
              <a:t>校验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619760" y="1484630"/>
          <a:ext cx="6442075" cy="1483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7570"/>
                <a:gridCol w="1478280"/>
                <a:gridCol w="2816225"/>
              </a:tblGrid>
              <a:tr h="3219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层级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方法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处理内容</a:t>
                      </a: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L0 </a:t>
                      </a:r>
                      <a:r>
                        <a:rPr lang="zh-CN" altLang="en-US" sz="1400"/>
                        <a:t>规则闸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纯代码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类型、</a:t>
                      </a:r>
                      <a:r>
                        <a:rPr lang="en-US" altLang="zh-CN" sz="1400"/>
                        <a:t>PK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FK</a:t>
                      </a:r>
                      <a:r>
                        <a:rPr lang="zh-CN" altLang="en-US" sz="1400"/>
                        <a:t>、占位符等</a:t>
                      </a:r>
                      <a:endParaRPr lang="zh-CN" altLang="en-US" sz="1400"/>
                    </a:p>
                  </a:txBody>
                  <a:tcPr/>
                </a:tc>
              </a:tr>
              <a:tr h="3219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L1 AI</a:t>
                      </a:r>
                      <a:r>
                        <a:rPr lang="zh-CN" altLang="en-US" sz="1400"/>
                        <a:t>裁决</a:t>
                      </a:r>
                      <a:r>
                        <a:rPr lang="en-US" altLang="zh-CN" sz="1400"/>
                        <a:t> 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次</a:t>
                      </a:r>
                      <a:r>
                        <a:rPr lang="en-US" altLang="zh-CN" sz="1400"/>
                        <a:t>LLM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NL</a:t>
                      </a:r>
                      <a:r>
                        <a:rPr lang="zh-CN" altLang="en-US" sz="1400"/>
                        <a:t>覆盖度、值合理性</a:t>
                      </a:r>
                      <a:endParaRPr lang="zh-CN" altLang="en-US" sz="1400"/>
                    </a:p>
                  </a:txBody>
                  <a:tcPr/>
                </a:tc>
              </a:tr>
              <a:tr h="3219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L2 </a:t>
                      </a:r>
                      <a:r>
                        <a:rPr lang="zh-CN" altLang="en-US" sz="1400"/>
                        <a:t>人工</a:t>
                      </a:r>
                      <a:r>
                        <a:rPr lang="en-US" altLang="zh-CN" sz="1400"/>
                        <a:t>gate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交互卡片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用户改字段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值后续跑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19760" y="1051560"/>
            <a:ext cx="3536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三层</a:t>
            </a:r>
            <a:r>
              <a:rPr lang="zh-CN" altLang="en-US"/>
              <a:t>校验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5470" y="3152775"/>
            <a:ext cx="10768330" cy="288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Step2 是执行前的硬门禁：</a:t>
            </a:r>
            <a:endParaRPr sz="1400">
              <a:sym typeface="+mn-ea"/>
            </a:endParaRPr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字段是否存在，中文表头是否能映射到真实列</a:t>
            </a:r>
            <a:endParaRPr sz="1400">
              <a:sym typeface="+mn-ea"/>
            </a:endParaRPr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值类型是否可转换，枚举值是否合法</a:t>
            </a:r>
            <a:endParaRPr sz="1400">
              <a:sym typeface="+mn-ea"/>
            </a:endParaRPr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FK 是否指向正确表和正确主键，placeholder 是否有 producer</a:t>
            </a:r>
            <a:endParaRPr sz="1400">
              <a:sym typeface="+mn-ea"/>
            </a:endParaRPr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Step1 质量报告如果有 hard error，阻断写盘并生成可交互修正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400" b="1"/>
              <a:t>交互修正问题：</a:t>
            </a:r>
            <a:endParaRPr lang="zh-CN" altLang="en-US" sz="14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当前已有列名批量修正卡片，下一步应升级为“全字段可编辑表格”。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用户可以改列名、改值、删除字段或删除整条 intent，然后 POST /api/agent/reply 续跑。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后端</a:t>
            </a:r>
            <a:r>
              <a:rPr sz="1400"/>
              <a:t>会把用户</a:t>
            </a:r>
            <a:r>
              <a:rPr sz="1400">
                <a:sym typeface="+mn-ea"/>
              </a:rPr>
              <a:t>编辑回写到原 intent，再重新跑 Step2，而不是只绕过错误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Step3：确定性执行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5902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Step3 不再调用模型，只做可解释写盘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600"/>
              <a:t>执行动作</a:t>
            </a:r>
            <a:r>
              <a:rPr lang="zh-CN" sz="1400"/>
              <a:t>：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752600" y="1846580"/>
          <a:ext cx="7580630" cy="256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830"/>
                <a:gridCol w="5130800"/>
              </a:tblGrid>
              <a:tr h="4127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动作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技术</a:t>
                      </a:r>
                      <a:endParaRPr lang="zh-CN" altLang="en-US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拓扑</a:t>
                      </a:r>
                      <a:r>
                        <a:rPr lang="zh-CN" altLang="en-US" sz="1600"/>
                        <a:t>排序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按</a:t>
                      </a:r>
                      <a:r>
                        <a:rPr lang="en-US" altLang="zh-CN" sz="1600"/>
                        <a:t>produces</a:t>
                      </a:r>
                      <a:r>
                        <a:rPr lang="zh-CN" altLang="en-US" sz="1600"/>
                        <a:t>和</a:t>
                      </a:r>
                      <a:r>
                        <a:rPr lang="en-US" altLang="zh-CN" sz="1600"/>
                        <a:t>consumes</a:t>
                      </a:r>
                      <a:r>
                        <a:rPr lang="zh-CN" altLang="en-US" sz="1600"/>
                        <a:t>依赖执行</a:t>
                      </a:r>
                      <a:r>
                        <a:rPr lang="zh-CN" altLang="en-US" sz="1600"/>
                        <a:t>先后</a:t>
                      </a:r>
                      <a:endParaRPr lang="zh-CN" altLang="en-US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ID</a:t>
                      </a:r>
                      <a:r>
                        <a:rPr lang="zh-CN" altLang="en-US" sz="1600"/>
                        <a:t>分配、占位符</a:t>
                      </a:r>
                      <a:r>
                        <a:rPr lang="zh-CN" altLang="en-US" sz="1600"/>
                        <a:t>替换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新增行分配主键，替换后续</a:t>
                      </a:r>
                      <a:r>
                        <a:rPr lang="en-US" altLang="zh-CN" sz="1600"/>
                        <a:t>placeholder</a:t>
                      </a:r>
                      <a:endParaRPr lang="en-US" altLang="zh-CN" sz="1600"/>
                    </a:p>
                  </a:txBody>
                  <a:tcPr/>
                </a:tc>
              </a:tr>
              <a:tr h="4127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失败结构化归</a:t>
                      </a:r>
                      <a:r>
                        <a:rPr lang="zh-CN" altLang="en-US" sz="1600"/>
                        <a:t>因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缺字段、</a:t>
                      </a:r>
                      <a:r>
                        <a:rPr lang="en-US" altLang="zh-CN" sz="1600"/>
                        <a:t>PK</a:t>
                      </a:r>
                      <a:r>
                        <a:rPr lang="zh-CN" altLang="en-US" sz="1600"/>
                        <a:t>冲突、类型错误</a:t>
                      </a:r>
                      <a:r>
                        <a:rPr lang="zh-CN" altLang="en-US" sz="1600"/>
                        <a:t>等</a:t>
                      </a:r>
                      <a:endParaRPr lang="zh-CN" altLang="en-US" sz="1600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可恢复边界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失败停于可恢复点，避免半写入</a:t>
                      </a:r>
                      <a:r>
                        <a:rPr lang="zh-CN" altLang="en-US" sz="1600"/>
                        <a:t>污染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84225" y="4791710"/>
            <a:ext cx="8988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通过拓扑排序等并行运行，可以将复杂样例的运行时间从</a:t>
            </a:r>
            <a:r>
              <a:rPr lang="en-US" altLang="zh-CN" sz="1600"/>
              <a:t>204s</a:t>
            </a:r>
            <a:r>
              <a:rPr lang="zh-CN" altLang="en-US" sz="1600"/>
              <a:t>提升到</a:t>
            </a:r>
            <a:r>
              <a:rPr lang="en-US" altLang="zh-CN" sz="1600"/>
              <a:t>112s</a:t>
            </a:r>
            <a:endParaRPr lang="en-US" altLang="zh-CN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 altLang="en-US"/>
              <a:t>增强</a:t>
            </a:r>
            <a:r>
              <a:rPr lang="en-US" altLang="zh-CN"/>
              <a:t>:Step4</a:t>
            </a:r>
            <a:r>
              <a:rPr lang="zh-CN" altLang="en-US"/>
              <a:t>结果汇总</a:t>
            </a:r>
            <a:r>
              <a:rPr lang="zh-CN" altLang="en-US"/>
              <a:t>与自学习</a:t>
            </a:r>
            <a:r>
              <a:rPr lang="zh-CN" altLang="en-US"/>
              <a:t>闭环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0509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Step4</a:t>
            </a:r>
            <a:r>
              <a:rPr lang="zh-CN"/>
              <a:t>汇总最终成功或失败情况，同时还将失败的情况进行</a:t>
            </a:r>
            <a:r>
              <a:rPr lang="zh-CN"/>
              <a:t>沉淀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</p:txBody>
      </p:sp>
      <p:graphicFrame>
        <p:nvGraphicFramePr>
          <p:cNvPr id="3" name="表格 2"/>
          <p:cNvGraphicFramePr/>
          <p:nvPr/>
        </p:nvGraphicFramePr>
        <p:xfrm>
          <a:off x="2073910" y="184658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汇总</a:t>
                      </a:r>
                      <a:r>
                        <a:rPr lang="zh-CN" altLang="en-US"/>
                        <a:t>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成功数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失败数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写入行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预览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失败归</a:t>
                      </a:r>
                      <a:r>
                        <a:rPr lang="zh-CN" altLang="en-US"/>
                        <a:t>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定位失败发生在哪个</a:t>
                      </a:r>
                      <a:r>
                        <a:rPr lang="zh-CN" altLang="en-US"/>
                        <a:t>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anti_patterns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从失败</a:t>
                      </a:r>
                      <a:r>
                        <a:rPr lang="en-US" altLang="zh-CN"/>
                        <a:t>trace</a:t>
                      </a:r>
                      <a:r>
                        <a:rPr lang="zh-CN" altLang="en-US"/>
                        <a:t>归纳</a:t>
                      </a:r>
                      <a:r>
                        <a:rPr lang="zh-CN" altLang="en-US"/>
                        <a:t>反模式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mini_regression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失败样例进入小回归</a:t>
                      </a:r>
                      <a:r>
                        <a:rPr lang="zh-CN" altLang="en-US"/>
                        <a:t>集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13130" y="4112260"/>
            <a:ext cx="795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Step4</a:t>
            </a:r>
            <a:r>
              <a:rPr lang="zh-CN" altLang="en-US"/>
              <a:t>产出的反模式将应用在</a:t>
            </a:r>
            <a:r>
              <a:rPr lang="en-US" altLang="zh-CN"/>
              <a:t>Skill</a:t>
            </a:r>
            <a:r>
              <a:rPr lang="zh-CN" altLang="en-US"/>
              <a:t>系统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业务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规则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470" y="1170305"/>
            <a:ext cx="10259060" cy="26384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r>
              <a:t>将列名、如何定位</a:t>
            </a:r>
            <a:r>
              <a:t>行、哪些操作历史出错沉淀成可查询规则，Agent 与 Merge 共用同一份知识源。</a:t>
            </a:r>
          </a:p>
          <a:p/>
          <a:p/>
          <a:p/>
          <a:p/>
          <a:p/>
          <a:p/>
          <a:p/>
          <a:p>
            <a:r>
              <a:rPr lang="zh-CN"/>
              <a:t>在目录下按照按照每个表格一个</a:t>
            </a:r>
            <a:r>
              <a:rPr lang="en-US" altLang="zh-CN"/>
              <a:t>md</a:t>
            </a:r>
            <a:r>
              <a:rPr lang="zh-CN" altLang="en-US"/>
              <a:t>文档，来对该表格的操作进行约束。</a:t>
            </a:r>
          </a:p>
          <a:p/>
          <a:p/>
          <a:p/>
          <a:p/>
          <a:p/>
          <a:p/>
          <a:p/>
          <a:p>
            <a:r>
              <a:rPr lang="en-US" altLang="zh-CN"/>
              <a:t>    </a:t>
            </a:r>
            <a:endParaRPr lang="en-US" altLang="zh-CN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59130" y="1793875"/>
          <a:ext cx="9676130" cy="135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105"/>
                <a:gridCol w="3291205"/>
                <a:gridCol w="3512820"/>
              </a:tblGrid>
              <a:tr h="365760">
                <a:tc>
                  <a:txBody>
                    <a:bodyPr/>
                    <a:lstStyle/>
                    <a:p>
                      <a:r>
                        <a:rPr lang="zh-CN"/>
                        <a:t>目录</a:t>
                      </a:r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内容</a:t>
                      </a:r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消费</a:t>
                      </a:r>
                      <a:r>
                        <a:rPr lang="zh-CN"/>
                        <a:t>阶段</a:t>
                      </a:r>
                      <a:endParaRPr lang="zh-CN"/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lang="en-US"/>
                        <a:t>rules/fill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业务规定的填表阶段的</a:t>
                      </a:r>
                      <a:r>
                        <a:rPr lang="zh-CN" altLang="en-US"/>
                        <a:t>经验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注入</a:t>
                      </a:r>
                      <a:r>
                        <a:rPr lang="en-US" altLang="zh-CN"/>
                        <a:t>Step1</a:t>
                      </a:r>
                      <a:r>
                        <a:rPr lang="zh-CN" altLang="en-US"/>
                        <a:t>解析</a:t>
                      </a:r>
                      <a:r>
                        <a:rPr lang="en-US" altLang="zh-CN"/>
                        <a:t>prompt</a:t>
                      </a:r>
                      <a:endParaRPr lang="en-US" altLang="zh-CN"/>
                    </a:p>
                  </a:txBody>
                  <a:tcPr/>
                </a:tc>
              </a:tr>
              <a:tr h="561340">
                <a:tc>
                  <a:txBody>
                    <a:bodyPr/>
                    <a:lstStyle/>
                    <a:p>
                      <a:r>
                        <a:rPr lang="en-US"/>
                        <a:t>rules/validate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业务规定的</a:t>
                      </a:r>
                      <a:r>
                        <a:rPr lang="zh-CN" altLang="en-US"/>
                        <a:t>校验规则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合并进</a:t>
                      </a:r>
                      <a:r>
                        <a:rPr lang="en-US" altLang="zh-CN"/>
                        <a:t>Step2</a:t>
                      </a:r>
                      <a:r>
                        <a:rPr lang="zh-CN" altLang="en-US"/>
                        <a:t>校验</a:t>
                      </a:r>
                      <a:r>
                        <a:rPr lang="zh-CN" altLang="en-US"/>
                        <a:t>管线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Skill 系统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将列名、如何定位</a:t>
            </a:r>
            <a:r>
              <a:t>行、哪些操作历史出错沉淀成可查询规则，Agent 与 Merge 共用同一份知识源。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85470" y="1626235"/>
          <a:ext cx="11117580" cy="2773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1355"/>
                <a:gridCol w="2090420"/>
                <a:gridCol w="4296410"/>
                <a:gridCol w="2779395"/>
              </a:tblGrid>
              <a:tr h="426720">
                <a:tc>
                  <a:txBody>
                    <a:bodyPr/>
                    <a:lstStyle/>
                    <a:p>
                      <a:r>
                        <a:t>层级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生成方式</a:t>
                      </a:r>
                    </a:p>
                  </a:txBody>
                  <a:tcPr/>
                </a:tc>
              </a:tr>
              <a:tr h="426085">
                <a:tc>
                  <a:txBody>
                    <a:bodyPr/>
                    <a:lstStyle/>
                    <a:p>
                      <a:r>
                        <a:t>L0 人工/根目录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skills/*.yaml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sheet别名、引导动词、列短形式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人工+自动混合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L1 自动派生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L1_derived/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列别名、行定位规则、多sheet消歧、类型约束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扫描resources/*.xlsx自动生成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L2 运行时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L2_runtime/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运行时学到的列别名(</a:t>
                      </a:r>
                      <a:r>
                        <a:rPr lang="zh-CN"/>
                        <a:t>有命中和置信度</a:t>
                      </a:r>
                      <a:r>
                        <a:t>)、跨表关系权重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从evidence promote写入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L3 反模式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L3_anti_patterns/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失败模式规则：歧义列/类型约束/失败操作/语义模式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规则频次升级+AI归纳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50495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Skill 系统：生成与审核机制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035"/>
                <a:gridCol w="7914005"/>
              </a:tblGrid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 b="0">
                          <a:solidFill>
                            <a:schemeClr val="dk1"/>
                          </a:solidFill>
                        </a:rPr>
                        <a:t>判定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 b="0">
                          <a:solidFill>
                            <a:schemeClr val="dk1"/>
                          </a:solidFill>
                        </a:rPr>
                        <a:t>阈值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列别名候选转正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>
                          <a:sym typeface="+mn-ea"/>
                        </a:rPr>
                        <a:t>七天内命中够 3 次、且系统对这次猜测的把握在 30%~75% 之间</a:t>
                      </a:r>
                      <a:endParaRPr sz="1600" b="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反模式升级active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某列易认错，7天内出现≥3次 → 系统自动改成只许精确匹配，不许模糊猜</a:t>
                      </a:r>
                      <a:endParaRPr sz="160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反模式升级pending_review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操作失败在30天内出现≥2次 → 先标记"待人工审核"，下次遇到同类操作会弹窗要用户确认，但还不是最终生效规则</a:t>
                      </a:r>
                      <a:endParaRPr sz="160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AI归纳反模式转正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AI 总结的易出错情形，由于无人工标注的标准答案兜底，需多命中 3 次才能真正生效</a:t>
                      </a:r>
                      <a:endParaRPr sz="160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冲突消解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同一个用户说法，被两种不同的"标准列名"抢着对应，系统无法决定，交给人工来判断</a:t>
                      </a:r>
                      <a:endParaRPr sz="1600"/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衰减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600"/>
                        <a:t>一条规则 60 天都没再被用到则自动移除、若规则的可信程度低于30%，将其休眠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5470" y="4369435"/>
            <a:ext cx="10607040" cy="6413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r>
              <a:t>AI归纳的反模式先进pending_review，跑过mini回归(30样本,lift≥0.05)确认没把已有能力改坏才转正active，不通过则回滚+隔离区(quarantine)。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Skill 系统：效果数据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3680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565"/>
                <a:gridCol w="2660650"/>
                <a:gridCol w="1984375"/>
                <a:gridCol w="3092450"/>
              </a:tblGrid>
              <a:tr h="400000">
                <a:tc>
                  <a:txBody>
                    <a:bodyPr/>
                    <a:lstStyle/>
                    <a:p>
                      <a:r>
                        <a:rPr sz="1600"/>
                        <a:t>数据点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指标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before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after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skill简版30样例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定位成功率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0.933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skill简版30样例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精确命中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skill简版30样例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严格综合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0.704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0.959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skill简版30样例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平均耗时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533ms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321ms</a:t>
                      </a:r>
                      <a:endParaRPr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lstStyle/>
                    <a:p>
                      <a:r>
                        <a:rPr sz="1600"/>
                        <a:t>skill真写盘8样例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定位/覆盖/精准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0.472/0.417/0.497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0.639/0.583/0.590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Step4反模式沉淀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同类失败预警覆盖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0/8(0%)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8/8(100%)</a:t>
                      </a:r>
                      <a:endParaRPr sz="1600"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sz="1600"/>
                        <a:t>Step4反模式归纳(真实e2e)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8条失败trace→4类反模式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命中PK冲突/seed缺失/conv_id定位/类型转换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492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优化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585470" y="1739265"/>
          <a:ext cx="10460990" cy="2896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735"/>
                <a:gridCol w="3729990"/>
                <a:gridCol w="2628265"/>
              </a:tblGrid>
              <a:tr h="585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问题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方案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数据</a:t>
                      </a:r>
                      <a:endParaRPr lang="zh-CN" altLang="en-US" sz="1600"/>
                    </a:p>
                  </a:txBody>
                  <a:tcPr/>
                </a:tc>
              </a:tr>
              <a:tr h="777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命名写法不一致</a:t>
                      </a:r>
                      <a:r>
                        <a:rPr lang="en-US" altLang="zh-CN" sz="1600"/>
                        <a:t>(newConvId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&lt;new_conv_id&gt;)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_norm_name</a:t>
                      </a:r>
                      <a:r>
                        <a:rPr lang="zh-CN" altLang="en-US" sz="1600"/>
                        <a:t>归一化后再比较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误报率从</a:t>
                      </a:r>
                      <a:r>
                        <a:rPr lang="en-US" altLang="zh-CN" sz="1600"/>
                        <a:t>5/6</a:t>
                      </a:r>
                      <a:r>
                        <a:rPr lang="zh-CN" altLang="en-US" sz="1600"/>
                        <a:t>降至</a:t>
                      </a:r>
                      <a:r>
                        <a:rPr lang="en-US" altLang="zh-CN" sz="1600"/>
                        <a:t>2/6</a:t>
                      </a:r>
                      <a:endParaRPr lang="en-US" altLang="zh-CN" sz="1600"/>
                    </a:p>
                  </a:txBody>
                  <a:tcPr/>
                </a:tc>
              </a:tr>
              <a:tr h="51181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占位符</a:t>
                      </a:r>
                      <a:r>
                        <a:rPr lang="zh-CN" altLang="en-US" sz="1600"/>
                        <a:t>在嵌套结构里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递归扫描</a:t>
                      </a:r>
                      <a:r>
                        <a:rPr lang="en-US" altLang="zh-CN" sz="1600"/>
                        <a:t>dict/list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漏检数</a:t>
                      </a:r>
                      <a:r>
                        <a:rPr lang="en-US" altLang="zh-CN" sz="1600"/>
                        <a:t>:7-&gt;0</a:t>
                      </a:r>
                      <a:endParaRPr lang="zh-CN" altLang="en-US" sz="1600"/>
                    </a:p>
                  </a:txBody>
                  <a:tcPr/>
                </a:tc>
              </a:tr>
              <a:tr h="5111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执行顺序错乱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一轮执行完再执行一次补齐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可执行节点</a:t>
                      </a:r>
                      <a:r>
                        <a:rPr lang="en-US" altLang="zh-CN" sz="1600"/>
                        <a:t>:1/5-&gt;5/5</a:t>
                      </a:r>
                      <a:endParaRPr lang="en-US" altLang="zh-CN" sz="1600"/>
                    </a:p>
                  </a:txBody>
                  <a:tcPr/>
                </a:tc>
              </a:tr>
              <a:tr h="5111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合法</a:t>
                      </a:r>
                      <a:r>
                        <a:rPr lang="en-US" altLang="zh-CN" sz="1600"/>
                        <a:t>dict</a:t>
                      </a:r>
                      <a:r>
                        <a:rPr lang="zh-CN" altLang="en-US" sz="1600"/>
                        <a:t>列被视为幻觉字段</a:t>
                      </a:r>
                      <a:r>
                        <a:rPr lang="zh-CN" altLang="en-US" sz="1600"/>
                        <a:t>清空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增强函数对于合法和幻觉</a:t>
                      </a:r>
                      <a:r>
                        <a:rPr lang="en-US" altLang="zh-CN" sz="1600"/>
                        <a:t>dict</a:t>
                      </a:r>
                      <a:r>
                        <a:rPr lang="zh-CN" altLang="en-US" sz="1600"/>
                        <a:t>的</a:t>
                      </a:r>
                      <a:r>
                        <a:rPr lang="zh-CN" altLang="en-US" sz="1600"/>
                        <a:t>识别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误清空率</a:t>
                      </a:r>
                      <a:r>
                        <a:rPr lang="en-US" altLang="zh-CN" sz="1600"/>
                        <a:t>:100%-&gt;0%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00710" y="1202055"/>
            <a:ext cx="4250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对于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agent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过程中的一些优化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内容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00278" y="255270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三、Merge 合并方案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986900" y="1591365"/>
            <a:ext cx="2722227" cy="398780"/>
            <a:chOff x="3462868" y="3718731"/>
            <a:chExt cx="2722227" cy="398780"/>
          </a:xfrm>
        </p:grpSpPr>
        <p:sp>
          <p:nvSpPr>
            <p:cNvPr id="26" name="文本框 25"/>
            <p:cNvSpPr txBox="1"/>
            <p:nvPr/>
          </p:nvSpPr>
          <p:spPr>
            <a:xfrm>
              <a:off x="3462868" y="3718731"/>
              <a:ext cx="272222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三方合并</a:t>
              </a: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endPara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线连接符 101"/>
            <p:cNvCxnSpPr/>
            <p:nvPr/>
          </p:nvCxnSpPr>
          <p:spPr>
            <a:xfrm>
              <a:off x="3555678" y="41113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062608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>
            <p:custDataLst>
              <p:tags r:id="rId2"/>
            </p:custDataLst>
          </p:nvPr>
        </p:nvSpPr>
        <p:spPr>
          <a:xfrm>
            <a:off x="2569210" y="251079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Merge-base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矩形: 圆角 12"/>
          <p:cNvSpPr/>
          <p:nvPr>
            <p:custDataLst>
              <p:tags r:id="rId3"/>
            </p:custDataLst>
          </p:nvPr>
        </p:nvSpPr>
        <p:spPr>
          <a:xfrm>
            <a:off x="1622425" y="3259455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From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4"/>
            </p:custDataLst>
          </p:nvPr>
        </p:nvSpPr>
        <p:spPr>
          <a:xfrm>
            <a:off x="3483610" y="324993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To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矩形: 圆角 12"/>
          <p:cNvSpPr/>
          <p:nvPr>
            <p:custDataLst>
              <p:tags r:id="rId5"/>
            </p:custDataLst>
          </p:nvPr>
        </p:nvSpPr>
        <p:spPr>
          <a:xfrm>
            <a:off x="2397760" y="3916045"/>
            <a:ext cx="1996440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合并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结果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5774690" y="1990090"/>
          <a:ext cx="5764530" cy="28016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46530"/>
                <a:gridCol w="2192020"/>
                <a:gridCol w="2125980"/>
              </a:tblGrid>
              <a:tr h="60896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73660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跨分支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From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分支比对合并到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7710">
                <a:tc vMerge="1"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分支合回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，内容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8345">
                <a:tc gridSpan="2"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目录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将子目录的生产内容合并回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直接箭头连接符 15"/>
          <p:cNvCxnSpPr>
            <a:stCxn id="13" idx="2"/>
            <a:endCxn id="3" idx="0"/>
          </p:cNvCxnSpPr>
          <p:nvPr/>
        </p:nvCxnSpPr>
        <p:spPr>
          <a:xfrm flipH="1">
            <a:off x="2412365" y="2903220"/>
            <a:ext cx="946785" cy="356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2"/>
            <a:endCxn id="4" idx="0"/>
          </p:cNvCxnSpPr>
          <p:nvPr/>
        </p:nvCxnSpPr>
        <p:spPr>
          <a:xfrm>
            <a:off x="3359150" y="2903220"/>
            <a:ext cx="914400" cy="346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3" idx="2"/>
            <a:endCxn id="7" idx="0"/>
          </p:cNvCxnSpPr>
          <p:nvPr/>
        </p:nvCxnSpPr>
        <p:spPr>
          <a:xfrm>
            <a:off x="2412365" y="3651885"/>
            <a:ext cx="983615" cy="26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4" idx="2"/>
            <a:endCxn id="7" idx="0"/>
          </p:cNvCxnSpPr>
          <p:nvPr/>
        </p:nvCxnSpPr>
        <p:spPr>
          <a:xfrm flipH="1">
            <a:off x="3395980" y="3642360"/>
            <a:ext cx="877570" cy="2736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Merge 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21412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1. 选择From/To</a:t>
            </a:r>
            <a:r>
              <a:rPr lang="zh-CN" sz="1600"/>
              <a:t>两</a:t>
            </a:r>
            <a:r>
              <a:rPr sz="1600"/>
              <a:t>个目录。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2. 通过SVN copyfrom定位 merge-base。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3. 提取 Excel 数据、表头、公式、样式和文件元信息。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4. 比较变更并识别冲突。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5. ID 重映射与引用更新。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6. AI 辅助冲突建议。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7. LibreOffice 重算、公式保护、安全写回</a:t>
            </a:r>
            <a: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6130" y="4415155"/>
            <a:ext cx="6817360" cy="88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两套</a:t>
            </a:r>
            <a:r>
              <a:rPr lang="en-US" altLang="zh-CN"/>
              <a:t>Merge</a:t>
            </a:r>
            <a:r>
              <a:rPr lang="zh-CN" altLang="en-US"/>
              <a:t>模式除了分支、</a:t>
            </a:r>
            <a:r>
              <a:rPr lang="en-US" altLang="zh-CN"/>
              <a:t>base</a:t>
            </a:r>
            <a:r>
              <a:rPr lang="zh-CN" altLang="en-US"/>
              <a:t>确定上有差异，核心</a:t>
            </a:r>
            <a:r>
              <a:rPr lang="en-US" altLang="zh-CN"/>
              <a:t>diff</a:t>
            </a:r>
            <a:r>
              <a:rPr lang="zh-CN" altLang="en-US"/>
              <a:t>逻辑</a:t>
            </a:r>
            <a:r>
              <a:rPr lang="zh-CN" altLang="en-US"/>
              <a:t>一致。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124575" y="1334135"/>
            <a:ext cx="4985385" cy="197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为了模拟实际生产的</a:t>
            </a:r>
            <a:r>
              <a:rPr lang="en-US" altLang="zh-CN" sz="1600"/>
              <a:t>SVN</a:t>
            </a:r>
            <a:r>
              <a:rPr lang="zh-CN" altLang="en-US" sz="1600"/>
              <a:t>环境，在文件夹搭建了</a:t>
            </a:r>
            <a:r>
              <a:rPr lang="en-US" altLang="zh-CN" sz="1600"/>
              <a:t>demo_svn</a:t>
            </a:r>
            <a:r>
              <a:rPr lang="zh-CN" altLang="en-US" sz="1600"/>
              <a:t>目录架构</a:t>
            </a:r>
            <a:r>
              <a:rPr lang="en-US" altLang="zh-CN" sz="1600"/>
              <a:t>: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merge/svn/demo_svn/</a:t>
            </a:r>
            <a:endParaRPr lang="en-US" altLang="zh-CN" sz="1600"/>
          </a:p>
          <a:p>
            <a:r>
              <a:rPr lang="en-US" altLang="zh-CN" sz="1600"/>
              <a:t>├── repo/  (svnadmin</a:t>
            </a:r>
            <a:r>
              <a:rPr lang="zh-CN" altLang="en-US" sz="1600"/>
              <a:t>仓库)</a:t>
            </a:r>
            <a:endParaRPr lang="zh-CN" altLang="en-US" sz="1600"/>
          </a:p>
          <a:p>
            <a:r>
              <a:rPr lang="en-US" altLang="zh-CN" sz="1600"/>
              <a:t>└── wc/</a:t>
            </a:r>
            <a:endParaRPr lang="en-US" altLang="zh-CN" sz="1600"/>
          </a:p>
          <a:p>
            <a:r>
              <a:rPr lang="en-US" altLang="zh-CN" sz="1600"/>
              <a:t>    ├── trunk/ (74</a:t>
            </a:r>
            <a:r>
              <a:rPr lang="zh-CN" altLang="en-US" sz="1600"/>
              <a:t>张+</a:t>
            </a:r>
            <a:r>
              <a:rPr lang="en-US" altLang="zh-CN" sz="1600"/>
              <a:t>subdev_1/2/3)</a:t>
            </a:r>
            <a:endParaRPr lang="en-US" altLang="zh-CN" sz="1600"/>
          </a:p>
          <a:p>
            <a:r>
              <a:rPr lang="en-US" altLang="zh-CN" sz="1600"/>
              <a:t>    └── branches/ (dev1-4)</a:t>
            </a:r>
            <a:endParaRPr lang="en-US" altLang="zh-CN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514350" y="2126615"/>
          <a:ext cx="10118090" cy="38201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01140"/>
                <a:gridCol w="3488690"/>
                <a:gridCol w="2045970"/>
                <a:gridCol w="3082290"/>
              </a:tblGrid>
              <a:tr h="5213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性能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三重循环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10w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根据哈希建立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row_idx_maps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O(n)线性扫描卡死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定位实现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O(n)-&gt;O(1)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稀疏化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全表建立哈希内存过大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级别降至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逐单元格p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thon函数调用需要单一化，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消耗高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纯数据大表提升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10-50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公式、批注在sheet回退逐单元格循环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解决公式、批注向量化出错的问题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保证性能同时保证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正确性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889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SVN merge-base定位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170432"/>
            <a:ext cx="10058400" cy="422719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在选择分支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目录后，找到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分支与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版本的核心方法：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反查</a:t>
            </a:r>
            <a:endParaRPr kumimoji="1" lang="zh-CN" alt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From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分支和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To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分支各自寻找自身的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；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、沿着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链上溯，寻找完整的祖先链；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、两条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链交叉寻找最近公共祖先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(LCA)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</a:p>
          <a:p>
            <a:pPr algn="l"/>
          </a:p>
          <a:p>
            <a:pPr algn="l"/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2280920"/>
          <a:ext cx="4479290" cy="1553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14095"/>
                <a:gridCol w="1859280"/>
                <a:gridCol w="1605915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copyfrom-</a:t>
                      </a:r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切分支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trunk@r1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inferred=false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新建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inferred=true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05" y="2280920"/>
            <a:ext cx="6392545" cy="1847850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786130" y="4925695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SVN rev</a:t>
                      </a:r>
                      <a:r>
                        <a:rPr lang="zh-CN" altLang="en-US"/>
                        <a:t>查询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每张表单独查一次版本，总计</a:t>
                      </a:r>
                      <a:r>
                        <a:rPr lang="en-US" altLang="zh-CN"/>
                        <a:t>191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一次递归查询全目录，缩减为</a:t>
                      </a:r>
                      <a:r>
                        <a:rPr lang="en-US" altLang="zh-CN"/>
                        <a:t>0.2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Compare 全流程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224915"/>
            <a:ext cx="9069705" cy="15005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比较过程分为四层：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文件层：新增、删除、重命名、移动。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Sheet 层：新增 sheet、删除 sheet、表头变化。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行列层：主键匹配、行新增删除、字段变更。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语义层：公式、外键引用、ID 冲突和可合并性判断</a:t>
            </a:r>
            <a:endParaRPr sz="1600"/>
          </a:p>
        </p:txBody>
      </p:sp>
      <p:sp>
        <p:nvSpPr>
          <p:cNvPr id="2" name="文本框 1"/>
          <p:cNvSpPr txBox="1"/>
          <p:nvPr/>
        </p:nvSpPr>
        <p:spPr>
          <a:xfrm>
            <a:off x="786130" y="2868930"/>
            <a:ext cx="247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技术</a:t>
            </a:r>
            <a:r>
              <a:rPr lang="en-US" altLang="zh-CN"/>
              <a:t>:</a:t>
            </a:r>
            <a:endParaRPr lang="en-US" altLang="zh-CN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3322320"/>
          <a:ext cx="5768340" cy="27070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9080"/>
                <a:gridCol w="2520315"/>
                <a:gridCol w="1718945"/>
              </a:tblGrid>
              <a:tr h="455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效果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哈希索引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list.index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线性扫复杂度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行定位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O(1)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 diff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全表物化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只保留变化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261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解决逐格归一化的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进行比较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回退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向量化无法理解公式、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批注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保证了正确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132320" y="2871470"/>
            <a:ext cx="143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优化：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7239000" y="3322320"/>
          <a:ext cx="477202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75"/>
                <a:gridCol w="1590675"/>
                <a:gridCol w="159067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大表</a:t>
                      </a:r>
                      <a:r>
                        <a:rPr lang="en-US" altLang="zh-CN"/>
                        <a:t>compare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平均</a:t>
                      </a:r>
                      <a:r>
                        <a:rPr lang="en-US" altLang="zh-CN"/>
                        <a:t>48s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平均</a:t>
                      </a:r>
                      <a:r>
                        <a:rPr lang="en-US" altLang="zh-CN"/>
                        <a:t>6.4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r>
                        <a:rPr lang="zh-CN" altLang="en-US"/>
                        <a:t>万行</a:t>
                      </a:r>
                      <a:r>
                        <a:rPr lang="zh-CN" altLang="en-US"/>
                        <a:t>全链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卡死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10.4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提交数据</a:t>
                      </a:r>
                      <a:r>
                        <a:rPr lang="zh-CN" altLang="en-US"/>
                        <a:t>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46.4</a:t>
                      </a:r>
                      <a:r>
                        <a:rPr lang="en-US" altLang="zh-CN"/>
                        <a:t>MB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0.1MB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Merge</a:t>
            </a: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9185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b="1"/>
              <a:t>ID</a:t>
            </a:r>
            <a:r>
              <a:rPr lang="zh-CN" altLang="en-US" b="1"/>
              <a:t>重映射与引用完整性</a:t>
            </a:r>
            <a:r>
              <a:rPr lang="en-US" altLang="zh-CN" b="1"/>
              <a:t>:</a:t>
            </a:r>
            <a:endParaRPr sz="1600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同主键多分支新增时，会出现主键冲突，对于后来者分配新的ID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随后同步更新引用列，避免只改主表 ID 却留下悬空外键，保证</a:t>
            </a:r>
            <a:r>
              <a:rPr sz="1400" b="1"/>
              <a:t>引用一致性</a:t>
            </a:r>
            <a:r>
              <a:rPr sz="1400"/>
              <a:t>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这一层和 Excel-Agent思路一致：先建立依赖契约，再执行替换</a:t>
            </a:r>
            <a:r>
              <a:rPr lang="zh-CN" sz="1400"/>
              <a:t>，否则会出现引用链断裂。</a:t>
            </a:r>
            <a:endParaRPr lang="zh-CN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400"/>
              <a:t>公式缓存保护</a:t>
            </a:r>
            <a:r>
              <a:rPr lang="en-US" altLang="zh-CN" sz="1400"/>
              <a:t>:</a:t>
            </a:r>
            <a:r>
              <a:rPr sz="1400">
                <a:sym typeface="+mn-ea"/>
              </a:rPr>
              <a:t>Excel 文件内部公式和缓存值分离，直接写盘容易造成缓存丢失或公式失效。</a:t>
            </a:r>
            <a:endParaRPr sz="14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>
              <a:sym typeface="+mn-ea"/>
            </a:endParaR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</p:txBody>
      </p:sp>
      <p:sp>
        <p:nvSpPr>
          <p:cNvPr id="13" name="矩形: 圆角 12"/>
          <p:cNvSpPr/>
          <p:nvPr>
            <p:custDataLst>
              <p:tags r:id="rId1"/>
            </p:custDataLst>
          </p:nvPr>
        </p:nvSpPr>
        <p:spPr>
          <a:xfrm>
            <a:off x="2147570" y="3411855"/>
            <a:ext cx="1885315" cy="59944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&lt;f&gt;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formula&lt;/f&gt;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&lt;v&gt;value&lt;/v&gt;        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2"/>
            </p:custDataLst>
          </p:nvPr>
        </p:nvSpPr>
        <p:spPr>
          <a:xfrm>
            <a:off x="4940935" y="3402965"/>
            <a:ext cx="1718945" cy="600075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&lt;f&gt;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formula&lt;/f&gt;           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cxnSp>
        <p:nvCxnSpPr>
          <p:cNvPr id="2" name="直接箭头连接符 1"/>
          <p:cNvCxnSpPr>
            <a:stCxn id="13" idx="3"/>
            <a:endCxn id="4" idx="1"/>
          </p:cNvCxnSpPr>
          <p:nvPr/>
        </p:nvCxnSpPr>
        <p:spPr>
          <a:xfrm flipV="1">
            <a:off x="4032885" y="3703320"/>
            <a:ext cx="908050" cy="8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39470" y="4158615"/>
            <a:ext cx="5636895" cy="186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、表中无公式则走最快速路径；</a:t>
            </a:r>
            <a:r>
              <a:rPr lang="en-US" altLang="zh-CN" sz="1400">
                <a:sym typeface="+mn-ea"/>
              </a:rPr>
              <a:t>(</a:t>
            </a:r>
            <a:r>
              <a:rPr lang="zh-CN" altLang="en-US" sz="1400">
                <a:sym typeface="+mn-ea"/>
              </a:rPr>
              <a:t>通过使用</a:t>
            </a:r>
            <a:r>
              <a:rPr lang="en-US" altLang="zh-CN" sz="1400" b="1">
                <a:sym typeface="+mn-ea"/>
              </a:rPr>
              <a:t>zip</a:t>
            </a:r>
            <a:r>
              <a:rPr lang="zh-CN" altLang="en-US" sz="1400" b="1">
                <a:sym typeface="+mn-ea"/>
              </a:rPr>
              <a:t>扫描</a:t>
            </a:r>
            <a:r>
              <a:rPr lang="en-US" altLang="zh-CN" sz="1400" b="1">
                <a:sym typeface="+mn-ea"/>
              </a:rPr>
              <a:t>excel</a:t>
            </a:r>
            <a:r>
              <a:rPr lang="zh-CN" altLang="en-US" sz="1400" b="1">
                <a:sym typeface="+mn-ea"/>
              </a:rPr>
              <a:t>文件底层的</a:t>
            </a:r>
            <a:r>
              <a:rPr lang="en-US" altLang="zh-CN" sz="1400" b="1">
                <a:sym typeface="+mn-ea"/>
              </a:rPr>
              <a:t>XML</a:t>
            </a:r>
            <a:r>
              <a:rPr lang="zh-CN" altLang="en-US" sz="1400" b="1">
                <a:sym typeface="+mn-ea"/>
              </a:rPr>
              <a:t>字节流，查找</a:t>
            </a:r>
            <a:r>
              <a:rPr lang="en-US" altLang="zh-CN" sz="1400" b="1">
                <a:sym typeface="+mn-ea"/>
              </a:rPr>
              <a:t>&lt;f&gt;</a:t>
            </a:r>
            <a:r>
              <a:rPr lang="zh-CN" altLang="en-US" sz="1400" b="1">
                <a:sym typeface="+mn-ea"/>
              </a:rPr>
              <a:t>公式标签</a:t>
            </a:r>
            <a:r>
              <a:rPr lang="zh-CN" altLang="en-US" sz="1400">
                <a:sym typeface="+mn-ea"/>
              </a:rPr>
              <a:t>判断表格中是否存在公式</a:t>
            </a:r>
            <a:r>
              <a:rPr lang="en-US" altLang="zh-CN" sz="1400">
                <a:sym typeface="+mn-ea"/>
              </a:rPr>
              <a:t>)</a:t>
            </a: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、将保存后文件读回，并与保存前快照做比较，若保存前后出现缓存值消失，则为缓存丢失，标记为</a:t>
            </a:r>
            <a:r>
              <a:rPr lang="en-US" altLang="zh-CN" sz="1400">
                <a:sym typeface="+mn-ea"/>
              </a:rPr>
              <a:t>lost</a:t>
            </a:r>
            <a:r>
              <a:rPr lang="zh-CN" altLang="en-US" sz="1400">
                <a:sym typeface="+mn-ea"/>
              </a:rPr>
              <a:t>；若前后值不一致，则属于正常的缓存更新，标记为</a:t>
            </a:r>
            <a:r>
              <a:rPr lang="en-US" altLang="zh-CN" sz="1400">
                <a:sym typeface="+mn-ea"/>
              </a:rPr>
              <a:t>changed</a:t>
            </a:r>
            <a:r>
              <a:rPr lang="zh-CN" altLang="en-US" sz="1400">
                <a:sym typeface="+mn-ea"/>
              </a:rPr>
              <a:t>；</a:t>
            </a: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400">
                <a:sym typeface="+mn-ea"/>
              </a:rPr>
              <a:t>3</a:t>
            </a:r>
            <a:r>
              <a:rPr lang="zh-CN" altLang="en-US" sz="1400">
                <a:sym typeface="+mn-ea"/>
              </a:rPr>
              <a:t>、对于</a:t>
            </a:r>
            <a:r>
              <a:rPr lang="en-US" altLang="zh-CN" sz="1400">
                <a:sym typeface="+mn-ea"/>
              </a:rPr>
              <a:t>changed</a:t>
            </a:r>
            <a:r>
              <a:rPr lang="zh-CN" altLang="en-US" sz="1400">
                <a:sym typeface="+mn-ea"/>
              </a:rPr>
              <a:t>情况，无需修复；</a:t>
            </a:r>
            <a:endParaRPr lang="zh-CN" altLang="en-US"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400">
                <a:sym typeface="+mn-ea"/>
              </a:rPr>
              <a:t>4</a:t>
            </a:r>
            <a:r>
              <a:rPr lang="zh-CN" altLang="en-US" sz="1400">
                <a:sym typeface="+mn-ea"/>
              </a:rPr>
              <a:t>、对于</a:t>
            </a:r>
            <a:r>
              <a:rPr lang="en-US" altLang="zh-CN" sz="1400">
                <a:sym typeface="+mn-ea"/>
              </a:rPr>
              <a:t>lost</a:t>
            </a:r>
            <a:r>
              <a:rPr lang="zh-CN" altLang="en-US" sz="1400">
                <a:sym typeface="+mn-ea"/>
              </a:rPr>
              <a:t>情况，调用</a:t>
            </a:r>
            <a:r>
              <a:rPr lang="en-US" altLang="zh-CN" sz="1400">
                <a:sym typeface="+mn-ea"/>
              </a:rPr>
              <a:t>LibreOffice</a:t>
            </a:r>
            <a:r>
              <a:rPr lang="zh-CN" altLang="en-US" sz="1400">
                <a:sym typeface="+mn-ea"/>
              </a:rPr>
              <a:t>对文件进行重算，进行再度校验</a:t>
            </a:r>
            <a:endParaRPr lang="en-US" altLang="zh-CN" sz="1400"/>
          </a:p>
        </p:txBody>
      </p:sp>
      <p:sp>
        <p:nvSpPr>
          <p:cNvPr id="5" name="文本框 4"/>
          <p:cNvSpPr txBox="1"/>
          <p:nvPr/>
        </p:nvSpPr>
        <p:spPr>
          <a:xfrm>
            <a:off x="6834505" y="4158615"/>
            <a:ext cx="35896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设置保护</a:t>
            </a:r>
            <a:r>
              <a:rPr kumimoji="1" lang="en-US" altLang="zh-CN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: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60s</a:t>
            </a:r>
            <a:r>
              <a:rPr kumimoji="1" lang="zh-CN" altLang="en-US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超时上限，避免单文件卡死全流程；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文件添加互斥锁，保护文件不被损坏；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重算结果先输出到临时目录，再替换掉源文件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2112645" y="2660015"/>
          <a:ext cx="477901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25"/>
                <a:gridCol w="23437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因子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作用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SVN rev/SVN date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版本越新倾向于采纳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列名语义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判断值是否合理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单元格值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判断值是否异常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基准值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提供</a:t>
                      </a:r>
                      <a:r>
                        <a:rPr lang="en-US" altLang="zh-CN" sz="1400"/>
                        <a:t>base</a:t>
                      </a:r>
                      <a:r>
                        <a:rPr lang="zh-CN" altLang="en-US" sz="1400"/>
                        <a:t>值供参考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/>
              <a:t>       </a:t>
            </a:r>
            <a:r>
              <a:rPr lang="en-US" altLang="zh-CN" b="1"/>
              <a:t> </a:t>
            </a:r>
            <a:r>
              <a:rPr lang="zh-CN" b="1"/>
              <a:t>公式缓存与</a:t>
            </a:r>
            <a:r>
              <a:rPr lang="en-US" altLang="zh-CN" b="1"/>
              <a:t>fast-apply</a:t>
            </a:r>
            <a:endParaRPr lang="en-US" altLang="zh-CN" b="1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1027410" cy="381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公式单元格冲突解决：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对于公式单元格，系统会将其识别为公式列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(diff_type=formula)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公式写法一致但缓存值不一致，视为不冲突，如果公式引用的输入值发生变化，会有标记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formula_changed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，调用内置求值器预览重算结果进行展示；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公式写法不一致则视为公式冲突，这时在冲突显示界面会显示单元格原有的公式，供用户比对选择。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选择写回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用户选择公式版本以后，系统回打上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formula_resolved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标记，在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apply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写回阶段根据标记将用户选择的公式文本写回单元格。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对于大数据量表格，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fast_apply</a:t>
            </a: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快路径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+zip+XML</a:t>
            </a: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的形式直接修改目标单元格，不触碰公式单元格，不会破坏公式缓存。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Merge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进行到最后是合并结果写回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xlsx,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ope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npyxl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消耗时间太长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xlsx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本质是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包，用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zipfile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打开源文件，只读需要修改的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sheet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XML,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lxml/ElementTree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定位到具体单元格，最后将改完的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XML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放回新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786130" y="487299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apply</a:t>
                      </a:r>
                      <a:r>
                        <a:rPr lang="zh-CN" altLang="en-US"/>
                        <a:t>处理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19.6s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4.3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序列化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4.9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AI 辅助冲突处理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0407015" cy="43516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AI 只提供冲突建议，其完整的建议链路为：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点击AI建议前端发送请求-&gt;调用线程池进行运行-&gt;根据LLM输入拼成prompt发送给模型-&gt;LLM返回Json输出-&gt;防幻觉校验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/>
              <a:t>AI</a:t>
            </a:r>
            <a:r>
              <a:rPr lang="zh-CN" altLang="en-US"/>
              <a:t>建议</a:t>
            </a:r>
            <a:r>
              <a:rPr lang="en-US" altLang="zh-CN"/>
              <a:t> </a:t>
            </a:r>
            <a:r>
              <a:rPr lang="zh-CN" altLang="en-US"/>
              <a:t>相关的因子</a:t>
            </a:r>
            <a:r>
              <a:rPr lang="en-US" altLang="zh-CN"/>
              <a:t>: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输出</a:t>
            </a:r>
            <a:r>
              <a:rPr lang="en-US" sz="1400"/>
              <a:t>json</a:t>
            </a:r>
            <a:r>
              <a:rPr lang="zh-CN" altLang="en-US" sz="1400"/>
              <a:t>：</a:t>
            </a:r>
            <a:r>
              <a:rPr sz="1400"/>
              <a:t>建议保留来源、理由和置信度，最终由用户确认。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</p:txBody>
      </p:sp>
      <p:graphicFrame>
        <p:nvGraphicFramePr>
          <p:cNvPr id="2" name="表格 1"/>
          <p:cNvGraphicFramePr/>
          <p:nvPr/>
        </p:nvGraphicFramePr>
        <p:xfrm>
          <a:off x="843915" y="2816860"/>
          <a:ext cx="477901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25"/>
                <a:gridCol w="23437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因子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作用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SVN rev/SVN date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版本越新倾向于采纳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列名语义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判断值是否合理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单元格值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判断值是否异常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基准值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提供</a:t>
                      </a:r>
                      <a:r>
                        <a:rPr lang="en-US" altLang="zh-CN" sz="1400"/>
                        <a:t>base</a:t>
                      </a:r>
                      <a:r>
                        <a:rPr lang="zh-CN" altLang="en-US" sz="1400"/>
                        <a:t>值供参考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085840" y="2018665"/>
            <a:ext cx="5681980" cy="376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置信度结合规则一致性、字段风险、冲突复杂度和模型解释质量。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</a:rPr>
              <a:t>置信度相关的因子: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LLM自评因子llm_conf:LLM自行评价得出指标；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修订号领先度因子rev_conf:版本越领先取值越高；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值域合理性因子value_conf:取值越合理分支越高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>
                <a:solidFill>
                  <a:srgbClr val="262626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+mn-ea"/>
              </a:rPr>
              <a:t>final = 0.60·llm_conf + 0.25·rev_conf + 0.15·value_conf</a:t>
            </a:r>
            <a:endParaRPr lang="en-US" altLang="zh-CN" sz="1400">
              <a:solidFill>
                <a:srgbClr val="262626"/>
              </a:solidFill>
              <a:highlight>
                <a:srgbClr val="FFFF00"/>
              </a:highlight>
              <a:latin typeface="微软雅黑" panose="020B0503020204020204" pitchFamily="34" charset="-122"/>
              <a:sym typeface="+mn-ea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</a:rPr>
              <a:t>AI建议并行操作使用的技术：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缓存优先：缓存键由表名、sheet名、列名和版本哈希组成，命中且未过期则返回；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批量LLM：将为缓存的单元格拼接进prompt，让LLM一次调用返回json，根据index返回位置；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回退并行：在批量操作失败的情况下用线程池并发逐格调用。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lang="zh-CN" altLang="en-US" sz="14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14350" y="2068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次打开表格时长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192s-&gt;0.2s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大表格比对</a:t>
            </a:r>
            <a:r>
              <a:rPr lang="zh-CN"/>
              <a:t>性能</a:t>
            </a:r>
            <a:endParaRPr lang="zh-CN"/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170432"/>
            <a:ext cx="10058400" cy="9417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Compare 和写回阶段按文件/Sheet 粒度并行。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CPU 密集比较使用 ProcessPool，I/O 和解析任务使用 ThreadPool。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worker 上限跟 CPU、文件数和内存占用绑定，避免并行越多越慢。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fast_apply 让无冲突、低风险文件快速落盘。</a:t>
            </a:r>
            <a:endParaRPr sz="1200"/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41350" y="2195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次）打开表格时长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191s-&gt;0.2s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7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8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9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0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7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18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19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0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1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2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3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4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5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6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7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8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9.xml><?xml version="1.0" encoding="utf-8"?>
<p:tagLst xmlns:p="http://schemas.openxmlformats.org/presentationml/2006/main">
  <p:tag name="TABLE_ENDDRAG_ORIGIN_RECT" val="713*233"/>
  <p:tag name="TABLE_ENDDRAG_RECT" val="65*82*713*233"/>
</p:tagLst>
</file>

<file path=ppt/tags/tag30.xml><?xml version="1.0" encoding="utf-8"?>
<p:tagLst xmlns:p="http://schemas.openxmlformats.org/presentationml/2006/main">
  <p:tag name="TABLE_ENDDRAG_ORIGIN_RECT" val="348*197"/>
  <p:tag name="TABLE_ENDDRAG_RECT" val="55*172*348*197"/>
</p:tagLst>
</file>

<file path=ppt/tags/tag31.xml><?xml version="1.0" encoding="utf-8"?>
<p:tagLst xmlns:p="http://schemas.openxmlformats.org/presentationml/2006/main">
  <p:tag name="TABLE_ENDDRAG_ORIGIN_RECT" val="441*231"/>
  <p:tag name="TABLE_ENDDRAG_RECT" val="455*172*441*231"/>
</p:tagLst>
</file>

<file path=ppt/tags/tag32.xml><?xml version="1.0" encoding="utf-8"?>
<p:tagLst xmlns:p="http://schemas.openxmlformats.org/presentationml/2006/main">
  <p:tag name="TABLE_ENDDRAG_ORIGIN_RECT" val="700*140"/>
  <p:tag name="TABLE_ENDDRAG_RECT" val="46*177*700*140"/>
</p:tagLst>
</file>

<file path=ppt/tags/tag33.xml><?xml version="1.0" encoding="utf-8"?>
<p:tagLst xmlns:p="http://schemas.openxmlformats.org/presentationml/2006/main">
  <p:tag name="TABLE_ENDDRAG_ORIGIN_RECT" val="701*145"/>
  <p:tag name="TABLE_ENDDRAG_RECT" val="55*126*701*145"/>
</p:tagLst>
</file>

<file path=ppt/tags/tag34.xml><?xml version="1.0" encoding="utf-8"?>
<p:tagLst xmlns:p="http://schemas.openxmlformats.org/presentationml/2006/main">
  <p:tag name="TABLE_ENDDRAG_ORIGIN_RECT" val="337*124"/>
  <p:tag name="TABLE_ENDDRAG_RECT" val="60*340*337*124"/>
</p:tagLst>
</file>

<file path=ppt/tags/tag35.xml><?xml version="1.0" encoding="utf-8"?>
<p:tagLst xmlns:p="http://schemas.openxmlformats.org/presentationml/2006/main">
  <p:tag name="TABLE_ENDDRAG_ORIGIN_RECT" val="507*116"/>
  <p:tag name="TABLE_ENDDRAG_RECT" val="48*116*507*116"/>
</p:tagLst>
</file>

<file path=ppt/tags/tag36.xml><?xml version="1.0" encoding="utf-8"?>
<p:tagLst xmlns:p="http://schemas.openxmlformats.org/presentationml/2006/main">
  <p:tag name="TABLE_ENDDRAG_ORIGIN_RECT" val="596*201"/>
  <p:tag name="TABLE_ENDDRAG_RECT" val="163*145*596*201"/>
</p:tagLst>
</file>

<file path=ppt/tags/tag37.xml><?xml version="1.0" encoding="utf-8"?>
<p:tagLst xmlns:p="http://schemas.openxmlformats.org/presentationml/2006/main">
  <p:tag name="TABLE_ENDDRAG_ORIGIN_RECT" val="761*106"/>
  <p:tag name="TABLE_ENDDRAG_RECT" val="51*153*761*106"/>
</p:tagLst>
</file>

<file path=ppt/tags/tag38.xml><?xml version="1.0" encoding="utf-8"?>
<p:tagLst xmlns:p="http://schemas.openxmlformats.org/presentationml/2006/main">
  <p:tag name="TABLE_ENDDRAG_ORIGIN_RECT" val="875*222"/>
  <p:tag name="TABLE_ENDDRAG_RECT" val="46*145*875*222"/>
</p:tagLst>
</file>

<file path=ppt/tags/tag39.xml><?xml version="1.0" encoding="utf-8"?>
<p:tagLst xmlns:p="http://schemas.openxmlformats.org/presentationml/2006/main">
  <p:tag name="TABLE_ENDDRAG_ORIGIN_RECT" val="823*228"/>
  <p:tag name="TABLE_ENDDRAG_RECT" val="46*136*823*228"/>
</p:tagLst>
</file>

<file path=ppt/tags/tag40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1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2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3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4.xml><?xml version="1.0" encoding="utf-8"?>
<p:tagLst xmlns:p="http://schemas.openxmlformats.org/presentationml/2006/main">
  <p:tag name="TABLE_ENDDRAG_ORIGIN_RECT" val="352*121"/>
  <p:tag name="TABLE_ENDDRAG_RECT" val="46*247*352*121"/>
</p:tagLst>
</file>

<file path=ppt/tags/tag45.xml><?xml version="1.0" encoding="utf-8"?>
<p:tagLst xmlns:p="http://schemas.openxmlformats.org/presentationml/2006/main">
  <p:tag name="TABLE_ENDDRAG_ORIGIN_RECT" val="454*213"/>
  <p:tag name="TABLE_ENDDRAG_RECT" val="69*270*454*213"/>
</p:tagLst>
</file>

<file path=ppt/tags/tag46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7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8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49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50.xml><?xml version="1.0" encoding="utf-8"?>
<p:tagLst xmlns:p="http://schemas.openxmlformats.org/presentationml/2006/main">
  <p:tag name="COMMONDATA" val="eyJoZGlkIjoiMzA3YmEwZTZiZTcwOGUxNGRjZDIwNzAwMzQ1ZGJkNWEifQ=="/>
  <p:tag name="resource_record_key" val="{&quot;10&quot;:[50062481]}"/>
</p:tagLst>
</file>

<file path=ppt/theme/theme1.xml><?xml version="1.0" encoding="utf-8"?>
<a:theme xmlns:a="http://schemas.openxmlformats.org/drawingml/2006/main" name="Office 主题​​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8349</Words>
  <Application>WPS 演示</Application>
  <PresentationFormat>宽屏</PresentationFormat>
  <Paragraphs>1273</Paragraphs>
  <Slides>32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PingFang SC Regular</vt:lpstr>
      <vt:lpstr>PingFang SC Light</vt:lpstr>
      <vt:lpstr>PingFang SC Medium</vt:lpstr>
      <vt:lpstr>等线</vt:lpstr>
      <vt:lpstr>PingFang SC Light</vt:lpstr>
      <vt:lpstr>PingFang SC Medium</vt:lpstr>
      <vt:lpstr>PingFang SC Regular</vt:lpstr>
      <vt:lpstr>Liberation Mono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网易集团PPT模板</dc:title>
  <dc:creator>Netease</dc:creator>
  <cp:lastModifiedBy>吴植贤</cp:lastModifiedBy>
  <cp:revision>308</cp:revision>
  <dcterms:created xsi:type="dcterms:W3CDTF">2020-10-23T08:28:00Z</dcterms:created>
  <dcterms:modified xsi:type="dcterms:W3CDTF">2026-09-01T08:56:43Z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EE62E4B6AEB5419EB11D16349A354D8E_13</vt:lpwstr>
  </property>
  <property fmtid="{D5CDD505-2E9C-101B-9397-08002B2CF9AE}" pid="3" name="KSOProductBuildVer">
    <vt:lpwstr>2052-12.1.0.28043</vt:lpwstr>
  </property>
</Properties>
</file>